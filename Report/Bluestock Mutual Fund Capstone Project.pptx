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6256000" cy="9144000"/>
  <p:notesSz cx="9144000" cy="16256000"/>
  <p:embeddedFontLst>
    <p:embeddedFont>
      <p:font typeface="Liter" charset="-122" pitchFamily="34"/>
      <p:regular r:id="rId19"/>
    </p:embeddedFont>
    <p:embeddedFont>
      <p:font typeface="Quattrocento Sans"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6577"/>
                </a:solidFill>
                <a:latin typeface="Arial"/>
              </a:defRPr>
            </a:pPr>
            <a:r>
              <a:rPr sz="1400" b="0" i="0" u="none" strike="noStrike">
                <a:solidFill>
                  <a:srgbClr val="5A6577"/>
                </a:solidFill>
                <a:latin typeface="Arial"/>
              </a:rPr>
              <a:t>NAV Growth Trend by Fund Category</a:t>
            </a:r>
          </a:p>
        </c:rich>
      </c:tx>
      <c:layout/>
      <c:overlay val="0"/>
    </c:title>
    <c:autoTitleDeleted val="0"/>
    <c:plotArea>
      <c:layout/>
      <c:lineChart>
        <c:varyColors val="0"/>
        <c:ser>
          <c:idx val="0"/>
          <c:order val="0"/>
          <c:tx>
            <c:strRef>
              <c:f>Sheet1!$B$1</c:f>
              <c:strCache>
                <c:ptCount val="1"/>
                <c:pt idx="0">
                  <c:v>Equity</c:v>
                </c:pt>
              </c:strCache>
            </c:strRef>
          </c:tx>
          <c:spPr>
            <a:solidFill>
              <a:srgbClr val="C9A227"/>
            </a:solidFill>
            <a:ln w="254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100</c:v>
                </c:pt>
                <c:pt idx="1">
                  <c:v>85</c:v>
                </c:pt>
                <c:pt idx="2">
                  <c:v>135</c:v>
                </c:pt>
                <c:pt idx="3">
                  <c:v>125</c:v>
                </c:pt>
                <c:pt idx="4">
                  <c:v>155</c:v>
                </c:pt>
                <c:pt idx="5">
                  <c:v>178</c:v>
                </c:pt>
                <c:pt idx="6">
                  <c:v>195</c:v>
                </c:pt>
              </c:numCache>
            </c:numRef>
          </c:val>
          <c:smooth val="1"/>
        </c:ser>
        <c:ser>
          <c:idx val="1"/>
          <c:order val="1"/>
          <c:tx>
            <c:strRef>
              <c:f>Sheet1!$C$1</c:f>
              <c:strCache>
                <c:ptCount val="1"/>
                <c:pt idx="0">
                  <c:v>Debt</c:v>
                </c:pt>
              </c:strCache>
            </c:strRef>
          </c:tx>
          <c:spPr>
            <a:solidFill>
              <a:srgbClr val="0F1B3D"/>
            </a:solidFill>
            <a:ln w="25400" cap="flat">
              <a:solidFill>
                <a:srgbClr val="0F1B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F1B3D"/>
              </a:solidFill>
              <a:ln w="9525" cap="flat">
                <a:solidFill>
                  <a:srgbClr val="0F1B3D"/>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Sheet1!$C$2:$C$8</c:f>
              <c:numCache>
                <c:formatCode>General</c:formatCode>
                <c:ptCount val="7"/>
                <c:pt idx="0">
                  <c:v>100</c:v>
                </c:pt>
                <c:pt idx="1">
                  <c:v>105</c:v>
                </c:pt>
                <c:pt idx="2">
                  <c:v>108</c:v>
                </c:pt>
                <c:pt idx="3">
                  <c:v>112</c:v>
                </c:pt>
                <c:pt idx="4">
                  <c:v>115</c:v>
                </c:pt>
                <c:pt idx="5">
                  <c:v>118</c:v>
                </c:pt>
                <c:pt idx="6">
                  <c:v>121</c:v>
                </c:pt>
              </c:numCache>
            </c:numRef>
          </c:val>
          <c:smooth val="1"/>
        </c:ser>
        <c:ser>
          <c:idx val="2"/>
          <c:order val="2"/>
          <c:tx>
            <c:strRef>
              <c:f>Sheet1!$D$1</c:f>
              <c:strCache>
                <c:ptCount val="1"/>
                <c:pt idx="0">
                  <c:v>Hybrid</c:v>
                </c:pt>
              </c:strCache>
            </c:strRef>
          </c:tx>
          <c:spPr>
            <a:solidFill>
              <a:srgbClr val="5A6577"/>
            </a:solidFill>
            <a:ln w="25400" cap="flat">
              <a:solidFill>
                <a:srgbClr val="5A657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5A6577"/>
              </a:solidFill>
              <a:ln w="9525" cap="flat">
                <a:solidFill>
                  <a:srgbClr val="5A6577"/>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Sheet1!$D$2:$D$8</c:f>
              <c:numCache>
                <c:formatCode>General</c:formatCode>
                <c:ptCount val="7"/>
                <c:pt idx="0">
                  <c:v>100</c:v>
                </c:pt>
                <c:pt idx="1">
                  <c:v>92</c:v>
                </c:pt>
                <c:pt idx="2">
                  <c:v>118</c:v>
                </c:pt>
                <c:pt idx="3">
                  <c:v>115</c:v>
                </c:pt>
                <c:pt idx="4">
                  <c:v>128</c:v>
                </c:pt>
                <c:pt idx="5">
                  <c:v>138</c:v>
                </c:pt>
                <c:pt idx="6">
                  <c:v>145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57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0dd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5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577"/>
                </a:solidFill>
                <a:latin typeface="Arial"/>
              </a:defRPr>
            </a:pPr>
            <a:r>
              <a:rPr sz="1300" b="0" i="0" u="none" strike="noStrike">
                <a:solidFill>
                  <a:srgbClr val="5A6577"/>
                </a:solidFill>
                <a:latin typeface="Arial"/>
              </a:rPr>
              <a:t>Risk vs Return Distribution by Fund Category</a:t>
            </a:r>
          </a:p>
        </c:rich>
      </c:tx>
      <c:layout/>
      <c:overlay val="0"/>
    </c:title>
    <c:autoTitleDeleted val="0"/>
    <c:plotArea>
      <c:layout/>
      <c:scatterChart>
        <c:scatterStyle val="lineMarker"/>
        <c:varyColors val="0"/>
        <c:ser>
          <c:idx val="0"/>
          <c:order val="0"/>
          <c:tx>
            <c:strRef>
              <c:f>Sheet1!$B$1</c:f>
              <c:strCache>
                <c:ptCount val="1"/>
                <c:pt idx="0">
                  <c:v>Return %</c:v>
                </c:pt>
              </c:strCache>
            </c:strRef>
          </c:tx>
          <c:spPr>
            <a:solidFill>
              <a:srgbClr val="C9A227"/>
            </a:solidFill>
            <a:ln>
              <a:noFill/>
            </a:ln>
            <a:effectLst/>
          </c:spPr>
          <c:marker>
            <c:symbol val="circle"/>
            <c:size val="6"/>
            <c:spPr>
              <a:solidFill>
                <a:srgbClr val="C9A227"/>
              </a:solidFill>
              <a:ln w="9525" cap="flat">
                <a:solidFill>
                  <a:srgbClr val="C9A227"/>
                </a:solidFill>
                <a:prstDash val="solid"/>
                <a:round/>
              </a:ln>
              <a:effectLst/>
            </c:spPr>
          </c:marker>
          <c:dLbls>
            <c:dLbl>
              <c:idx val="0"/>
              <c:tx>
                <c:rich>
                  <a:bodyPr>
                    <a:spAutoFit/>
                  </a:bodyPr>
                  <a:lstStyle/>
                  <a:p>
                    <a:pPr>
                      <a:defRPr/>
                    </a:pPr>
                    <a:r>
                      <a:rPr lang="en-US" dirty="0"/>
                      <a:t>12</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df8-1185-a414-6afd8c25f942}"/>
                </c:ext>
              </c:extLst>
            </c:dLbl>
            <c:dLbl>
              <c:idx val="1"/>
              <c:tx>
                <c:rich>
                  <a:bodyPr>
                    <a:spAutoFit/>
                  </a:bodyPr>
                  <a:lstStyle/>
                  <a:p>
                    <a:pPr>
                      <a:defRPr/>
                    </a:pPr>
                    <a:r>
                      <a:rPr lang="en-US" dirty="0"/>
                      <a:t>15</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df8-1185-a414-6afd8c25f942}"/>
                </c:ext>
              </c:extLst>
            </c:dLbl>
            <c:dLbl>
              <c:idx val="2"/>
              <c:tx>
                <c:rich>
                  <a:bodyPr>
                    <a:spAutoFit/>
                  </a:bodyPr>
                  <a:lstStyle/>
                  <a:p>
                    <a:pPr>
                      <a:defRPr/>
                    </a:pPr>
                    <a:r>
                      <a:rPr lang="en-US" dirty="0"/>
                      <a:t>18</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df8-1185-a414-6afd8c25f942}"/>
                </c:ext>
              </c:extLst>
            </c:dLbl>
            <c:dLbl>
              <c:idx val="3"/>
              <c:tx>
                <c:rich>
                  <a:bodyPr>
                    <a:spAutoFit/>
                  </a:bodyPr>
                  <a:lstStyle/>
                  <a:p>
                    <a:pPr>
                      <a:defRPr/>
                    </a:pPr>
                    <a:r>
                      <a:rPr lang="en-US" dirty="0"/>
                      <a:t>16</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fdf8-1185-a414-6afd8c25f942}"/>
                </c:ext>
              </c:extLst>
            </c:dLbl>
            <c:dLbl>
              <c:idx val="4"/>
              <c:tx>
                <c:rich>
                  <a:bodyPr>
                    <a:spAutoFit/>
                  </a:bodyPr>
                  <a:lstStyle/>
                  <a:p>
                    <a:pPr>
                      <a:defRPr/>
                    </a:pPr>
                    <a:r>
                      <a:rPr lang="en-US" dirty="0"/>
                      <a:t>22</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fdf8-1185-a414-6afd8c25f942}"/>
                </c:ext>
              </c:extLst>
            </c:dLbl>
            <c:dLbl>
              <c:idx val="5"/>
              <c:tx>
                <c:rich>
                  <a:bodyPr>
                    <a:spAutoFit/>
                  </a:bodyPr>
                  <a:lstStyle/>
                  <a:p>
                    <a:pPr>
                      <a:defRPr/>
                    </a:pPr>
                    <a:r>
                      <a:rPr lang="en-US" dirty="0"/>
                      <a:t>20</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fdf8-1185-a414-6afd8c25f942}"/>
                </c:ext>
              </c:extLst>
            </c:dLbl>
            <c:dLbl>
              <c:idx val="6"/>
              <c:tx>
                <c:rich>
                  <a:bodyPr>
                    <a:spAutoFit/>
                  </a:bodyPr>
                  <a:lstStyle/>
                  <a:p>
                    <a:pPr>
                      <a:defRPr/>
                    </a:pPr>
                    <a:r>
                      <a:rPr lang="en-US" dirty="0"/>
                      <a:t>7</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fdf8-1185-a414-6afd8c25f942}"/>
                </c:ext>
              </c:extLst>
            </c:dLbl>
            <c:dLbl>
              <c:idx val="7"/>
              <c:tx>
                <c:rich>
                  <a:bodyPr>
                    <a:spAutoFit/>
                  </a:bodyPr>
                  <a:lstStyle/>
                  <a:p>
                    <a:pPr>
                      <a:defRPr/>
                    </a:pPr>
                    <a:r>
                      <a:rPr lang="en-US" dirty="0"/>
                      <a:t>8</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fdf8-1185-a414-6afd8c25f942}"/>
                </c:ext>
              </c:extLst>
            </c:dLbl>
            <c:dLbl>
              <c:idx val="8"/>
              <c:tx>
                <c:rich>
                  <a:bodyPr>
                    <a:spAutoFit/>
                  </a:bodyPr>
                  <a:lstStyle/>
                  <a:p>
                    <a:pPr>
                      <a:defRPr/>
                    </a:pPr>
                    <a:r>
                      <a:rPr lang="en-US" dirty="0"/>
                      <a:t>11</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fdf8-1185-a414-6afd8c25f942}"/>
                </c:ext>
              </c:extLst>
            </c:dLbl>
            <c:dLbl>
              <c:idx val="9"/>
              <c:tx>
                <c:rich>
                  <a:bodyPr>
                    <a:spAutoFit/>
                  </a:bodyPr>
                  <a:lstStyle/>
                  <a:p>
                    <a:pPr>
                      <a:defRPr/>
                    </a:pPr>
                    <a:r>
                      <a:rPr lang="en-US" dirty="0"/>
                      <a:t>12</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10-fdf8-1185-a414-6afd8c25f942}"/>
                </c:ext>
              </c:extLst>
            </c:dLbl>
          </c:dLbls>
          <c:xVal>
            <c:numRef>
              <c:f>Sheet1!$A$2:$A$11</c:f>
              <c:numCache>
                <c:formatCode>General</c:formatCode>
                <c:ptCount val="10"/>
                <c:pt idx="0">
                  <c:v>8</c:v>
                </c:pt>
                <c:pt idx="1">
                  <c:v>12</c:v>
                </c:pt>
                <c:pt idx="2">
                  <c:v>15</c:v>
                </c:pt>
                <c:pt idx="3">
                  <c:v>18</c:v>
                </c:pt>
                <c:pt idx="4">
                  <c:v>22</c:v>
                </c:pt>
                <c:pt idx="5">
                  <c:v>25</c:v>
                </c:pt>
                <c:pt idx="6">
                  <c:v>5</c:v>
                </c:pt>
                <c:pt idx="7">
                  <c:v>6</c:v>
                </c:pt>
                <c:pt idx="8">
                  <c:v>10</c:v>
                </c:pt>
                <c:pt idx="9">
                  <c:v>11</c:v>
                </c:pt>
              </c:numCache>
            </c:numRef>
          </c:xVal>
          <c:yVal>
            <c:numRef>
              <c:f>Sheet1!$B$2:$B$11</c:f>
              <c:numCache>
                <c:formatCode>General</c:formatCode>
                <c:ptCount val="10"/>
                <c:pt idx="0">
                  <c:v>12</c:v>
                </c:pt>
                <c:pt idx="1">
                  <c:v>15</c:v>
                </c:pt>
                <c:pt idx="2">
                  <c:v>18</c:v>
                </c:pt>
                <c:pt idx="3">
                  <c:v>16</c:v>
                </c:pt>
                <c:pt idx="4">
                  <c:v>22</c:v>
                </c:pt>
                <c:pt idx="5">
                  <c:v>20</c:v>
                </c:pt>
                <c:pt idx="6">
                  <c:v>7</c:v>
                </c:pt>
                <c:pt idx="7">
                  <c:v>8</c:v>
                </c:pt>
                <c:pt idx="8">
                  <c:v>11</c:v>
                </c:pt>
                <c:pt idx="9">
                  <c:v>12</c:v>
                </c:pt>
              </c:numCache>
            </c:numRef>
          </c:yVal>
          <c:smooth val="0"/>
        </c:ser>
        <c:dLbls>
          <c:numFmt formatCode="General" sourceLinked="0"/>
          <c:txPr>
            <a:bodyPr/>
            <a:lstStyle/>
            <a:p>
              <a:pPr>
                <a:defRPr b="0" i="0" strike="noStrike" sz="1200" u="none">
                  <a:solidFill>
                    <a:srgbClr val="000000"/>
                  </a:solidFill>
                  <a:latin typeface="Arial"/>
                </a:defRPr>
              </a:pPr>
            </a:p>
          </c:txPr>
          <c:dLblPos val="b"/>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e0ddd6"/>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Risk (Std Dev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A6577"/>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12700" cap="flat">
              <a:solidFill>
                <a:srgbClr val="e0ddd6"/>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Return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A6577"/>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 %</c:v>
                </c:pt>
              </c:strCache>
            </c:strRef>
          </c:tx>
          <c:spPr>
            <a:solidFill>
              <a:srgbClr val="C9A227"/>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Return</c:v>
                  </c:pt>
                  <c:pt idx="1">
                    <c:v>Risk</c:v>
                  </c:pt>
                  <c:pt idx="2">
                    <c:v>Sharpe</c:v>
                  </c:pt>
                  <c:pt idx="3">
                    <c:v>Alpha</c:v>
                  </c:pt>
                  <c:pt idx="4">
                    <c:v>Drawdown</c:v>
                  </c:pt>
                </c:lvl>
              </c:multiLvlStrCache>
            </c:multiLvlStrRef>
          </c:cat>
          <c:val>
            <c:numRef>
              <c:f>Sheet1!$B$2:$B$6</c:f>
              <c:numCache>
                <c:formatCode>General</c:formatCode>
                <c:ptCount val="5"/>
                <c:pt idx="0">
                  <c:v>25</c:v>
                </c:pt>
                <c:pt idx="1">
                  <c:v>20</c:v>
                </c:pt>
                <c:pt idx="2">
                  <c:v>25</c:v>
                </c:pt>
                <c:pt idx="3">
                  <c:v>20</c:v>
                </c:pt>
                <c:pt idx="4">
                  <c:v>10</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56"/>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577"/>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0E6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Funds</c:v>
                </c:pt>
              </c:strCache>
            </c:strRef>
          </c:tx>
          <c:spPr>
            <a:solidFill>
              <a:srgbClr val="C9A227"/>
            </a:solidFill>
            <a:ln>
              <a:noFill/>
            </a:ln>
            <a:effectLst/>
          </c:spPr>
          <c:marker>
            <c:symbol val="circle"/>
            <c:size val="6"/>
            <c:spPr>
              <a:solidFill>
                <a:srgbClr val="C9A227"/>
              </a:solidFill>
              <a:ln w="9525" cap="flat">
                <a:solidFill>
                  <a:srgbClr val="C9A227"/>
                </a:solidFill>
                <a:prstDash val="solid"/>
                <a:round/>
              </a:ln>
              <a:effectLst/>
            </c:spPr>
          </c:marker>
          <c:dLbls>
            <c:dLbl>
              <c:idx val="0"/>
              <c:tx>
                <c:rich>
                  <a:bodyPr>
                    <a:spAutoFit/>
                  </a:bodyPr>
                  <a:lstStyle/>
                  <a:p>
                    <a:pPr>
                      <a:defRPr/>
                    </a:pPr>
                    <a:r>
                      <a:rPr lang="en-US" dirty="0"/>
                      <a:t>6</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9280-4796-6a34-717db53b2ca7}"/>
                </c:ext>
              </c:extLst>
            </c:dLbl>
            <c:dLbl>
              <c:idx val="1"/>
              <c:tx>
                <c:rich>
                  <a:bodyPr>
                    <a:spAutoFit/>
                  </a:bodyPr>
                  <a:lstStyle/>
                  <a:p>
                    <a:pPr>
                      <a:defRPr/>
                    </a:pPr>
                    <a:r>
                      <a:rPr lang="en-US" dirty="0"/>
                      <a:t>10</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9280-4796-6a34-717db53b2ca7}"/>
                </c:ext>
              </c:extLst>
            </c:dLbl>
            <c:dLbl>
              <c:idx val="2"/>
              <c:tx>
                <c:rich>
                  <a:bodyPr>
                    <a:spAutoFit/>
                  </a:bodyPr>
                  <a:lstStyle/>
                  <a:p>
                    <a:pPr>
                      <a:defRPr/>
                    </a:pPr>
                    <a:r>
                      <a:rPr lang="en-US" dirty="0"/>
                      <a:t>14</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9280-4796-6a34-717db53b2ca7}"/>
                </c:ext>
              </c:extLst>
            </c:dLbl>
            <c:dLbl>
              <c:idx val="3"/>
              <c:tx>
                <c:rich>
                  <a:bodyPr>
                    <a:spAutoFit/>
                  </a:bodyPr>
                  <a:lstStyle/>
                  <a:p>
                    <a:pPr>
                      <a:defRPr/>
                    </a:pPr>
                    <a:r>
                      <a:rPr lang="en-US" dirty="0"/>
                      <a:t>13</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9280-4796-6a34-717db53b2ca7}"/>
                </c:ext>
              </c:extLst>
            </c:dLbl>
            <c:dLbl>
              <c:idx val="4"/>
              <c:tx>
                <c:rich>
                  <a:bodyPr>
                    <a:spAutoFit/>
                  </a:bodyPr>
                  <a:lstStyle/>
                  <a:p>
                    <a:pPr>
                      <a:defRPr/>
                    </a:pPr>
                    <a:r>
                      <a:rPr lang="en-US" dirty="0"/>
                      <a:t>19</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9280-4796-6a34-717db53b2ca7}"/>
                </c:ext>
              </c:extLst>
            </c:dLbl>
            <c:dLbl>
              <c:idx val="5"/>
              <c:tx>
                <c:rich>
                  <a:bodyPr>
                    <a:spAutoFit/>
                  </a:bodyPr>
                  <a:lstStyle/>
                  <a:p>
                    <a:pPr>
                      <a:defRPr/>
                    </a:pPr>
                    <a:r>
                      <a:rPr lang="en-US" dirty="0"/>
                      <a:t>21</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9280-4796-6a34-717db53b2ca7}"/>
                </c:ext>
              </c:extLst>
            </c:dLbl>
            <c:dLbl>
              <c:idx val="6"/>
              <c:tx>
                <c:rich>
                  <a:bodyPr>
                    <a:spAutoFit/>
                  </a:bodyPr>
                  <a:lstStyle/>
                  <a:p>
                    <a:pPr>
                      <a:defRPr/>
                    </a:pPr>
                    <a:r>
                      <a:rPr lang="en-US" dirty="0"/>
                      <a:t>18</a:t>
                    </a:r>
                  </a:p>
                </c:rich>
              </c:tx>
              <c:spPr>
                <a:noFill/>
                <a:ln>
                  <a:noFill/>
                </a:ln>
                <a:effectLst/>
              </c:spPr>
              <c:dLblPos val="b"/>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9280-4796-6a34-717db53b2ca7}"/>
                </c:ext>
              </c:extLst>
            </c:dLbl>
          </c:dLbls>
          <c:xVal>
            <c:numRef>
              <c:f>Sheet1!$A$2:$A$8</c:f>
              <c:numCache>
                <c:formatCode>General</c:formatCode>
                <c:ptCount val="7"/>
                <c:pt idx="0">
                  <c:v>5</c:v>
                </c:pt>
                <c:pt idx="1">
                  <c:v>8</c:v>
                </c:pt>
                <c:pt idx="2">
                  <c:v>12</c:v>
                </c:pt>
                <c:pt idx="3">
                  <c:v>15</c:v>
                </c:pt>
                <c:pt idx="4">
                  <c:v>18</c:v>
                </c:pt>
                <c:pt idx="5">
                  <c:v>22</c:v>
                </c:pt>
                <c:pt idx="6">
                  <c:v>25</c:v>
                </c:pt>
              </c:numCache>
            </c:numRef>
          </c:xVal>
          <c:yVal>
            <c:numRef>
              <c:f>Sheet1!$B$2:$B$8</c:f>
              <c:numCache>
                <c:formatCode>General</c:formatCode>
                <c:ptCount val="7"/>
                <c:pt idx="0">
                  <c:v>6</c:v>
                </c:pt>
                <c:pt idx="1">
                  <c:v>10</c:v>
                </c:pt>
                <c:pt idx="2">
                  <c:v>14</c:v>
                </c:pt>
                <c:pt idx="3">
                  <c:v>13</c:v>
                </c:pt>
                <c:pt idx="4">
                  <c:v>19</c:v>
                </c:pt>
                <c:pt idx="5">
                  <c:v>21</c:v>
                </c:pt>
                <c:pt idx="6">
                  <c:v>18</c:v>
                </c:pt>
              </c:numCache>
            </c:numRef>
          </c:yVal>
          <c:smooth val="0"/>
        </c:ser>
        <c:dLbls>
          <c:numFmt formatCode="General" sourceLinked="0"/>
          <c:txPr>
            <a:bodyPr/>
            <a:lstStyle/>
            <a:p>
              <a:pPr>
                <a:defRPr b="0" i="0" strike="noStrike" sz="1200" u="none">
                  <a:solidFill>
                    <a:srgbClr val="000000"/>
                  </a:solidFill>
                  <a:latin typeface="Arial"/>
                </a:defRPr>
              </a:pPr>
            </a:p>
          </c:txPr>
          <c:dLblPos val="b"/>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e8e6e1"/>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Risk</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A6577"/>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12700" cap="flat">
              <a:solidFill>
                <a:srgbClr val="e8e6e1"/>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Return</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A6577"/>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vqx7h6c4cpjcu/mnt/agents/output/bluestock_mf/images/6_Abstract_glowing_financial_chart.png">    </p:cNvPr>
          <p:cNvPicPr>
            <a:picLocks noChangeAspect="1"/>
          </p:cNvPicPr>
          <p:nvPr/>
        </p:nvPicPr>
        <p:blipFill>
          <a:blip r:embed="rId1"/>
          <a:srcRect l="0" r="0" t="7779" b="7779"/>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A1128">
                  <a:alpha val="60000"/>
                </a:srgbClr>
              </a:gs>
              <a:gs pos="50000">
                <a:srgbClr val="0A1128">
                  <a:alpha val="80000"/>
                </a:srgbClr>
              </a:gs>
              <a:gs pos="100000">
                <a:srgbClr val="0A1128">
                  <a:alpha val="93000"/>
                </a:srgbClr>
              </a:gs>
            </a:gsLst>
            <a:lin ang="5400000" scaled="1"/>
          </a:gradFill>
          <a:ln w="12700">
            <a:solidFill>
              <a:srgbClr val="FFFFFF">
                <a:alpha val="0"/>
              </a:srgbClr>
            </a:solidFill>
            <a:prstDash val="solid"/>
          </a:ln>
        </p:spPr>
      </p:sp>
      <p:sp>
        <p:nvSpPr>
          <p:cNvPr id="4" name="Shape 1"/>
          <p:cNvSpPr/>
          <p:nvPr/>
        </p:nvSpPr>
        <p:spPr>
          <a:xfrm>
            <a:off x="6858000" y="2921000"/>
            <a:ext cx="2540000" cy="38100"/>
          </a:xfrm>
          <a:prstGeom prst="rect">
            <a:avLst/>
          </a:prstGeom>
          <a:solidFill>
            <a:srgbClr val="C9A227"/>
          </a:solidFill>
          <a:ln/>
        </p:spPr>
      </p:sp>
      <p:sp>
        <p:nvSpPr>
          <p:cNvPr id="5" name="Text 2"/>
          <p:cNvSpPr/>
          <p:nvPr/>
        </p:nvSpPr>
        <p:spPr>
          <a:xfrm>
            <a:off x="1778000" y="3175000"/>
            <a:ext cx="12700000" cy="1651000"/>
          </a:xfrm>
          <a:prstGeom prst="rect">
            <a:avLst/>
          </a:prstGeom>
          <a:noFill/>
          <a:ln/>
        </p:spPr>
        <p:txBody>
          <a:bodyPr wrap="square" lIns="0" tIns="0" rIns="0" bIns="0" rtlCol="0" anchor="ctr"/>
          <a:lstStyle/>
          <a:p>
            <a:pPr algn="ctr">
              <a:lnSpc>
                <a:spcPct val="130000"/>
              </a:lnSpc>
            </a:pPr>
            <a:r>
              <a:rPr lang="en-US" sz="4800" spc="300" kern="0" dirty="0">
                <a:solidFill>
                  <a:srgbClr val="FFFFFF"/>
                </a:solidFill>
                <a:latin typeface="Liter" pitchFamily="34" charset="0"/>
                <a:ea typeface="Liter" pitchFamily="34" charset="-122"/>
                <a:cs typeface="Liter" pitchFamily="34" charset="-120"/>
              </a:rPr>
              <a:t>BLUESTOCK MUTUAL FUND</a:t>
            </a:r>
            <a:endParaRPr lang="en-US" sz="4800" dirty="0"/>
          </a:p>
          <a:p>
            <a:pPr algn="ctr">
              <a:lnSpc>
                <a:spcPct val="130000"/>
              </a:lnSpc>
            </a:pPr>
            <a:r>
              <a:rPr lang="en-US" sz="4800" spc="300" kern="0" dirty="0">
                <a:solidFill>
                  <a:srgbClr val="FFFFFF"/>
                </a:solidFill>
                <a:latin typeface="Liter" pitchFamily="34" charset="0"/>
                <a:ea typeface="Liter" pitchFamily="34" charset="-122"/>
                <a:cs typeface="Liter" pitchFamily="34" charset="-120"/>
              </a:rPr>
              <a:t>CAPSTONE PROJECT</a:t>
            </a:r>
            <a:endParaRPr lang="en-US" sz="4800" dirty="0"/>
          </a:p>
        </p:txBody>
      </p:sp>
      <p:sp>
        <p:nvSpPr>
          <p:cNvPr id="6" name="Shape 3"/>
          <p:cNvSpPr/>
          <p:nvPr/>
        </p:nvSpPr>
        <p:spPr>
          <a:xfrm>
            <a:off x="6858000" y="5016500"/>
            <a:ext cx="2540000" cy="38100"/>
          </a:xfrm>
          <a:prstGeom prst="rect">
            <a:avLst/>
          </a:prstGeom>
          <a:solidFill>
            <a:srgbClr val="C9A227"/>
          </a:solidFill>
          <a:ln/>
        </p:spPr>
      </p:sp>
      <p:sp>
        <p:nvSpPr>
          <p:cNvPr id="7" name="Text 4"/>
          <p:cNvSpPr/>
          <p:nvPr/>
        </p:nvSpPr>
        <p:spPr>
          <a:xfrm>
            <a:off x="3048000" y="5270500"/>
            <a:ext cx="10160000" cy="381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Quattrocento Sans" pitchFamily="34" charset="0"/>
                <a:ea typeface="Quattrocento Sans" pitchFamily="34" charset="-122"/>
                <a:cs typeface="Quattrocento Sans" pitchFamily="34" charset="-120"/>
              </a:rPr>
              <a:t>End-to-End Mutual Fund Analytics Platform</a:t>
            </a:r>
            <a:endParaRPr lang="en-US" sz="2000" dirty="0"/>
          </a:p>
        </p:txBody>
      </p:sp>
      <p:sp>
        <p:nvSpPr>
          <p:cNvPr id="8" name="Text 5"/>
          <p:cNvSpPr/>
          <p:nvPr/>
        </p:nvSpPr>
        <p:spPr>
          <a:xfrm>
            <a:off x="4318000" y="5969000"/>
            <a:ext cx="7620000" cy="889000"/>
          </a:xfrm>
          <a:prstGeom prst="rect">
            <a:avLst/>
          </a:prstGeom>
          <a:noFill/>
          <a:ln/>
        </p:spPr>
        <p:txBody>
          <a:bodyPr wrap="square" lIns="0" tIns="0" rIns="0" bIns="0" rtlCol="0" anchor="ctr"/>
          <a:lstStyle/>
          <a:p>
            <a:pPr algn="ct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Presented by </a:t>
            </a:r>
            <a:pPr algn="ctr">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Shivji Yadav</a:t>
            </a:r>
            <a:endParaRPr lang="en-US" sz="1600" dirty="0"/>
          </a:p>
          <a:p>
            <a:pPr algn="ct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Data Analyst Intern  |  June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PROBLEM STATEMENT</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841500"/>
            <a:ext cx="7048500" cy="3238500"/>
          </a:xfrm>
          <a:prstGeom prst="rect">
            <a:avLst/>
          </a:prstGeom>
          <a:solidFill>
            <a:srgbClr val="FFFFFF"/>
          </a:solidFill>
          <a:ln w="12700">
            <a:solidFill>
              <a:srgbClr val="E0DDD6"/>
            </a:solidFill>
            <a:prstDash val="solid"/>
          </a:ln>
        </p:spPr>
      </p:sp>
      <p:sp>
        <p:nvSpPr>
          <p:cNvPr id="6" name="Shape 4"/>
          <p:cNvSpPr/>
          <p:nvPr/>
        </p:nvSpPr>
        <p:spPr>
          <a:xfrm>
            <a:off x="1143000" y="2159000"/>
            <a:ext cx="457200" cy="457200"/>
          </a:xfrm>
          <a:custGeom>
            <a:avLst/>
            <a:gdLst/>
            <a:ahLst/>
            <a:cxnLst/>
            <a:rect l="l" t="t" r="r" b="b"/>
            <a:pathLst>
              <a:path w="457200" h="457200">
                <a:moveTo>
                  <a:pt x="457200" y="183773"/>
                </a:moveTo>
                <a:cubicBezTo>
                  <a:pt x="442096" y="192524"/>
                  <a:pt x="424747" y="199579"/>
                  <a:pt x="406683" y="205204"/>
                </a:cubicBezTo>
                <a:cubicBezTo>
                  <a:pt x="358718" y="220206"/>
                  <a:pt x="295751" y="228600"/>
                  <a:pt x="228600" y="228600"/>
                </a:cubicBezTo>
                <a:cubicBezTo>
                  <a:pt x="161449" y="228600"/>
                  <a:pt x="98380" y="220117"/>
                  <a:pt x="50517" y="205204"/>
                </a:cubicBezTo>
                <a:cubicBezTo>
                  <a:pt x="32555" y="199579"/>
                  <a:pt x="15104" y="192524"/>
                  <a:pt x="0" y="183773"/>
                </a:cubicBezTo>
                <a:lnTo>
                  <a:pt x="0" y="257175"/>
                </a:lnTo>
                <a:cubicBezTo>
                  <a:pt x="0" y="296644"/>
                  <a:pt x="102360" y="328613"/>
                  <a:pt x="228600" y="328613"/>
                </a:cubicBezTo>
                <a:cubicBezTo>
                  <a:pt x="354840" y="328613"/>
                  <a:pt x="457200" y="296644"/>
                  <a:pt x="457200" y="257175"/>
                </a:cubicBezTo>
                <a:lnTo>
                  <a:pt x="457200" y="183773"/>
                </a:lnTo>
                <a:close/>
                <a:moveTo>
                  <a:pt x="457200" y="114300"/>
                </a:moveTo>
                <a:lnTo>
                  <a:pt x="457200" y="71438"/>
                </a:lnTo>
                <a:cubicBezTo>
                  <a:pt x="457200" y="31968"/>
                  <a:pt x="354840" y="0"/>
                  <a:pt x="228600" y="0"/>
                </a:cubicBezTo>
                <a:cubicBezTo>
                  <a:pt x="102360" y="0"/>
                  <a:pt x="0" y="31968"/>
                  <a:pt x="0" y="71438"/>
                </a:cubicBezTo>
                <a:lnTo>
                  <a:pt x="0" y="114300"/>
                </a:lnTo>
                <a:cubicBezTo>
                  <a:pt x="0" y="153769"/>
                  <a:pt x="102360" y="185738"/>
                  <a:pt x="228600" y="185738"/>
                </a:cubicBezTo>
                <a:cubicBezTo>
                  <a:pt x="354840" y="185738"/>
                  <a:pt x="457200" y="153769"/>
                  <a:pt x="457200" y="114300"/>
                </a:cubicBezTo>
                <a:close/>
                <a:moveTo>
                  <a:pt x="406683" y="348079"/>
                </a:moveTo>
                <a:cubicBezTo>
                  <a:pt x="358820" y="362992"/>
                  <a:pt x="295853" y="371475"/>
                  <a:pt x="228600" y="371475"/>
                </a:cubicBezTo>
                <a:cubicBezTo>
                  <a:pt x="161347" y="371475"/>
                  <a:pt x="98380" y="362992"/>
                  <a:pt x="50517" y="348079"/>
                </a:cubicBezTo>
                <a:cubicBezTo>
                  <a:pt x="32555" y="342454"/>
                  <a:pt x="15104" y="335399"/>
                  <a:pt x="0" y="326648"/>
                </a:cubicBezTo>
                <a:lnTo>
                  <a:pt x="0" y="385763"/>
                </a:lnTo>
                <a:cubicBezTo>
                  <a:pt x="0" y="425232"/>
                  <a:pt x="102360" y="457200"/>
                  <a:pt x="228600" y="457200"/>
                </a:cubicBezTo>
                <a:cubicBezTo>
                  <a:pt x="354840" y="457200"/>
                  <a:pt x="457200" y="425232"/>
                  <a:pt x="457200" y="385763"/>
                </a:cubicBezTo>
                <a:lnTo>
                  <a:pt x="457200" y="326648"/>
                </a:lnTo>
                <a:cubicBezTo>
                  <a:pt x="442096" y="335399"/>
                  <a:pt x="424747" y="342454"/>
                  <a:pt x="406683" y="348079"/>
                </a:cubicBezTo>
                <a:close/>
              </a:path>
            </a:pathLst>
          </a:custGeom>
          <a:solidFill>
            <a:srgbClr val="C9A227"/>
          </a:solidFill>
          <a:ln/>
        </p:spPr>
      </p:sp>
      <p:sp>
        <p:nvSpPr>
          <p:cNvPr id="7" name="Text 5"/>
          <p:cNvSpPr/>
          <p:nvPr/>
        </p:nvSpPr>
        <p:spPr>
          <a:xfrm>
            <a:off x="1778000" y="2159000"/>
            <a:ext cx="5588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Data Complexity</a:t>
            </a:r>
            <a:endParaRPr lang="en-US" sz="2000" dirty="0"/>
          </a:p>
        </p:txBody>
      </p:sp>
      <p:sp>
        <p:nvSpPr>
          <p:cNvPr id="8" name="Text 6"/>
          <p:cNvSpPr/>
          <p:nvPr/>
        </p:nvSpPr>
        <p:spPr>
          <a:xfrm>
            <a:off x="1143000" y="2730500"/>
            <a:ext cx="6286500" cy="21590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Mutual fund data is large and complex, with thousands of schemes across multiple categories. Investors struggle to navigate fragmented information sources and make sense of raw NAV data, returns, and risk metrics.</a:t>
            </a:r>
            <a:endParaRPr lang="en-US" sz="1800" dirty="0"/>
          </a:p>
        </p:txBody>
      </p:sp>
      <p:sp>
        <p:nvSpPr>
          <p:cNvPr id="9" name="Shape 7"/>
          <p:cNvSpPr/>
          <p:nvPr/>
        </p:nvSpPr>
        <p:spPr>
          <a:xfrm>
            <a:off x="8445500" y="1841500"/>
            <a:ext cx="7048500" cy="3238500"/>
          </a:xfrm>
          <a:prstGeom prst="rect">
            <a:avLst/>
          </a:prstGeom>
          <a:solidFill>
            <a:srgbClr val="FFFFFF"/>
          </a:solidFill>
          <a:ln w="12700">
            <a:solidFill>
              <a:srgbClr val="E0DDD6"/>
            </a:solidFill>
            <a:prstDash val="solid"/>
          </a:ln>
        </p:spPr>
      </p:sp>
      <p:sp>
        <p:nvSpPr>
          <p:cNvPr id="10" name="Shape 8"/>
          <p:cNvSpPr/>
          <p:nvPr/>
        </p:nvSpPr>
        <p:spPr>
          <a:xfrm>
            <a:off x="8826500" y="2159000"/>
            <a:ext cx="457200" cy="457200"/>
          </a:xfrm>
          <a:custGeom>
            <a:avLst/>
            <a:gdLst/>
            <a:ahLst/>
            <a:cxnLst/>
            <a:rect l="l" t="t" r="r" b="b"/>
            <a:pathLst>
              <a:path w="457200" h="457200">
                <a:moveTo>
                  <a:pt x="348734" y="342900"/>
                </a:moveTo>
                <a:cubicBezTo>
                  <a:pt x="357426" y="322987"/>
                  <a:pt x="374809" y="304949"/>
                  <a:pt x="394454" y="289411"/>
                </a:cubicBezTo>
                <a:cubicBezTo>
                  <a:pt x="433387" y="258693"/>
                  <a:pt x="457200" y="217170"/>
                  <a:pt x="457200" y="171450"/>
                </a:cubicBezTo>
                <a:cubicBezTo>
                  <a:pt x="457200" y="76795"/>
                  <a:pt x="354806" y="0"/>
                  <a:pt x="228600" y="0"/>
                </a:cubicBezTo>
                <a:cubicBezTo>
                  <a:pt x="102394" y="0"/>
                  <a:pt x="0" y="76795"/>
                  <a:pt x="0" y="171450"/>
                </a:cubicBezTo>
                <a:cubicBezTo>
                  <a:pt x="0" y="217170"/>
                  <a:pt x="23813" y="258693"/>
                  <a:pt x="62746" y="289411"/>
                </a:cubicBezTo>
                <a:cubicBezTo>
                  <a:pt x="82391" y="304949"/>
                  <a:pt x="99893" y="322987"/>
                  <a:pt x="108466" y="342900"/>
                </a:cubicBezTo>
                <a:lnTo>
                  <a:pt x="348615" y="342900"/>
                </a:lnTo>
                <a:close/>
                <a:moveTo>
                  <a:pt x="342900" y="385763"/>
                </a:moveTo>
                <a:lnTo>
                  <a:pt x="114300" y="385763"/>
                </a:lnTo>
                <a:lnTo>
                  <a:pt x="114300" y="400050"/>
                </a:lnTo>
                <a:cubicBezTo>
                  <a:pt x="114300" y="439519"/>
                  <a:pt x="156924" y="471488"/>
                  <a:pt x="209550" y="471488"/>
                </a:cubicBezTo>
                <a:lnTo>
                  <a:pt x="247650" y="471488"/>
                </a:lnTo>
                <a:cubicBezTo>
                  <a:pt x="300276" y="471488"/>
                  <a:pt x="342900" y="439519"/>
                  <a:pt x="342900" y="400050"/>
                </a:cubicBezTo>
                <a:lnTo>
                  <a:pt x="342900" y="385763"/>
                </a:lnTo>
                <a:close/>
                <a:moveTo>
                  <a:pt x="219075" y="100013"/>
                </a:moveTo>
                <a:cubicBezTo>
                  <a:pt x="171688" y="100013"/>
                  <a:pt x="133350" y="128766"/>
                  <a:pt x="133350" y="164306"/>
                </a:cubicBezTo>
                <a:cubicBezTo>
                  <a:pt x="133350" y="176183"/>
                  <a:pt x="120610" y="185738"/>
                  <a:pt x="104775" y="185738"/>
                </a:cubicBezTo>
                <a:cubicBezTo>
                  <a:pt x="88940" y="185738"/>
                  <a:pt x="76200" y="176183"/>
                  <a:pt x="76200" y="164306"/>
                </a:cubicBezTo>
                <a:cubicBezTo>
                  <a:pt x="76200" y="105102"/>
                  <a:pt x="140137" y="57150"/>
                  <a:pt x="219075" y="57150"/>
                </a:cubicBezTo>
                <a:cubicBezTo>
                  <a:pt x="234910" y="57150"/>
                  <a:pt x="247650" y="66705"/>
                  <a:pt x="247650" y="78581"/>
                </a:cubicBezTo>
                <a:cubicBezTo>
                  <a:pt x="247650" y="90458"/>
                  <a:pt x="234910" y="100013"/>
                  <a:pt x="219075" y="100013"/>
                </a:cubicBezTo>
                <a:close/>
              </a:path>
            </a:pathLst>
          </a:custGeom>
          <a:solidFill>
            <a:srgbClr val="C9A227"/>
          </a:solidFill>
          <a:ln/>
        </p:spPr>
      </p:sp>
      <p:sp>
        <p:nvSpPr>
          <p:cNvPr id="11" name="Text 9"/>
          <p:cNvSpPr/>
          <p:nvPr/>
        </p:nvSpPr>
        <p:spPr>
          <a:xfrm>
            <a:off x="9461500" y="2159000"/>
            <a:ext cx="5588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Need for Actionable Insights</a:t>
            </a:r>
            <a:endParaRPr lang="en-US" sz="2000" dirty="0"/>
          </a:p>
        </p:txBody>
      </p:sp>
      <p:sp>
        <p:nvSpPr>
          <p:cNvPr id="12" name="Text 10"/>
          <p:cNvSpPr/>
          <p:nvPr/>
        </p:nvSpPr>
        <p:spPr>
          <a:xfrm>
            <a:off x="8826500" y="2730500"/>
            <a:ext cx="6286500" cy="21590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Investors need actionable insights for informed decision-making. Raw data alone does not reveal which funds outperform, which match risk appetite, or how to build optimal portfolios.</a:t>
            </a:r>
            <a:endParaRPr lang="en-US" sz="1800" dirty="0"/>
          </a:p>
        </p:txBody>
      </p:sp>
      <p:sp>
        <p:nvSpPr>
          <p:cNvPr id="13" name="Shape 11"/>
          <p:cNvSpPr/>
          <p:nvPr/>
        </p:nvSpPr>
        <p:spPr>
          <a:xfrm>
            <a:off x="762000" y="5334000"/>
            <a:ext cx="7048500" cy="3238500"/>
          </a:xfrm>
          <a:prstGeom prst="rect">
            <a:avLst/>
          </a:prstGeom>
          <a:solidFill>
            <a:srgbClr val="FFFFFF"/>
          </a:solidFill>
          <a:ln w="12700">
            <a:solidFill>
              <a:srgbClr val="E0DDD6"/>
            </a:solidFill>
            <a:prstDash val="solid"/>
          </a:ln>
        </p:spPr>
      </p:sp>
      <p:sp>
        <p:nvSpPr>
          <p:cNvPr id="14" name="Shape 12"/>
          <p:cNvSpPr/>
          <p:nvPr/>
        </p:nvSpPr>
        <p:spPr>
          <a:xfrm>
            <a:off x="1143000" y="5651500"/>
            <a:ext cx="457200" cy="457200"/>
          </a:xfrm>
          <a:custGeom>
            <a:avLst/>
            <a:gdLst/>
            <a:ahLst/>
            <a:cxnLst/>
            <a:rect l="l" t="t" r="r" b="b"/>
            <a:pathLst>
              <a:path w="457200" h="457200">
                <a:moveTo>
                  <a:pt x="228600" y="0"/>
                </a:moveTo>
                <a:cubicBezTo>
                  <a:pt x="354768" y="0"/>
                  <a:pt x="457200" y="102432"/>
                  <a:pt x="457200" y="228600"/>
                </a:cubicBezTo>
                <a:cubicBezTo>
                  <a:pt x="457200" y="354768"/>
                  <a:pt x="354768" y="457200"/>
                  <a:pt x="228600" y="457200"/>
                </a:cubicBezTo>
                <a:cubicBezTo>
                  <a:pt x="102432" y="457200"/>
                  <a:pt x="0" y="354768"/>
                  <a:pt x="0" y="228600"/>
                </a:cubicBezTo>
                <a:cubicBezTo>
                  <a:pt x="0" y="102432"/>
                  <a:pt x="102432" y="0"/>
                  <a:pt x="228600" y="0"/>
                </a:cubicBezTo>
                <a:close/>
                <a:moveTo>
                  <a:pt x="207169" y="107156"/>
                </a:moveTo>
                <a:lnTo>
                  <a:pt x="207169" y="228600"/>
                </a:lnTo>
                <a:cubicBezTo>
                  <a:pt x="207169" y="235744"/>
                  <a:pt x="210741" y="242441"/>
                  <a:pt x="216724" y="246459"/>
                </a:cubicBezTo>
                <a:lnTo>
                  <a:pt x="302449" y="303609"/>
                </a:lnTo>
                <a:cubicBezTo>
                  <a:pt x="312271" y="310217"/>
                  <a:pt x="325576" y="307538"/>
                  <a:pt x="332184" y="297626"/>
                </a:cubicBezTo>
                <a:cubicBezTo>
                  <a:pt x="338792" y="287715"/>
                  <a:pt x="336113" y="274499"/>
                  <a:pt x="326201" y="267891"/>
                </a:cubicBezTo>
                <a:lnTo>
                  <a:pt x="250031" y="217170"/>
                </a:lnTo>
                <a:lnTo>
                  <a:pt x="250031" y="107156"/>
                </a:lnTo>
                <a:cubicBezTo>
                  <a:pt x="250031" y="95280"/>
                  <a:pt x="240476" y="85725"/>
                  <a:pt x="228600" y="85725"/>
                </a:cubicBezTo>
                <a:cubicBezTo>
                  <a:pt x="216724" y="85725"/>
                  <a:pt x="207169" y="95280"/>
                  <a:pt x="207169" y="107156"/>
                </a:cubicBezTo>
                <a:close/>
              </a:path>
            </a:pathLst>
          </a:custGeom>
          <a:solidFill>
            <a:srgbClr val="C9A227"/>
          </a:solidFill>
          <a:ln/>
        </p:spPr>
      </p:sp>
      <p:sp>
        <p:nvSpPr>
          <p:cNvPr id="15" name="Text 13"/>
          <p:cNvSpPr/>
          <p:nvPr/>
        </p:nvSpPr>
        <p:spPr>
          <a:xfrm>
            <a:off x="1778000" y="5651500"/>
            <a:ext cx="5588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Time-Consuming Manual Analysis</a:t>
            </a:r>
            <a:endParaRPr lang="en-US" sz="2000" dirty="0"/>
          </a:p>
        </p:txBody>
      </p:sp>
      <p:sp>
        <p:nvSpPr>
          <p:cNvPr id="16" name="Text 14"/>
          <p:cNvSpPr/>
          <p:nvPr/>
        </p:nvSpPr>
        <p:spPr>
          <a:xfrm>
            <a:off x="1143000" y="6223000"/>
            <a:ext cx="6286500" cy="21590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Manual analysis is time-consuming and prone to human error. Comparing hundreds of funds across multiple metrics requires automation to deliver timely and accurate recommendations.</a:t>
            </a:r>
            <a:endParaRPr lang="en-US" sz="1800" dirty="0"/>
          </a:p>
        </p:txBody>
      </p:sp>
      <p:sp>
        <p:nvSpPr>
          <p:cNvPr id="17" name="Shape 15"/>
          <p:cNvSpPr/>
          <p:nvPr/>
        </p:nvSpPr>
        <p:spPr>
          <a:xfrm>
            <a:off x="8445500" y="5334000"/>
            <a:ext cx="7048500" cy="3238500"/>
          </a:xfrm>
          <a:prstGeom prst="rect">
            <a:avLst/>
          </a:prstGeom>
          <a:solidFill>
            <a:srgbClr val="FFFFFF"/>
          </a:solidFill>
          <a:ln w="12700">
            <a:solidFill>
              <a:srgbClr val="E0DDD6"/>
            </a:solidFill>
            <a:prstDash val="solid"/>
          </a:ln>
        </p:spPr>
      </p:sp>
      <p:sp>
        <p:nvSpPr>
          <p:cNvPr id="18" name="Shape 16"/>
          <p:cNvSpPr/>
          <p:nvPr/>
        </p:nvSpPr>
        <p:spPr>
          <a:xfrm>
            <a:off x="8826500" y="5651500"/>
            <a:ext cx="457200" cy="457200"/>
          </a:xfrm>
          <a:custGeom>
            <a:avLst/>
            <a:gdLst/>
            <a:ahLst/>
            <a:cxnLst/>
            <a:rect l="l" t="t" r="r" b="b"/>
            <a:pathLst>
              <a:path w="457200" h="457200">
                <a:moveTo>
                  <a:pt x="200025" y="0"/>
                </a:moveTo>
                <a:cubicBezTo>
                  <a:pt x="231547" y="0"/>
                  <a:pt x="257175" y="19199"/>
                  <a:pt x="257175" y="42863"/>
                </a:cubicBezTo>
                <a:cubicBezTo>
                  <a:pt x="257175" y="52149"/>
                  <a:pt x="253246" y="60722"/>
                  <a:pt x="246459" y="67776"/>
                </a:cubicBezTo>
                <a:cubicBezTo>
                  <a:pt x="240566" y="73938"/>
                  <a:pt x="235744" y="81439"/>
                  <a:pt x="235744" y="90011"/>
                </a:cubicBezTo>
                <a:cubicBezTo>
                  <a:pt x="235744" y="103406"/>
                  <a:pt x="246638" y="114300"/>
                  <a:pt x="260033" y="114300"/>
                </a:cubicBezTo>
                <a:lnTo>
                  <a:pt x="300038" y="114300"/>
                </a:lnTo>
                <a:cubicBezTo>
                  <a:pt x="323701" y="114300"/>
                  <a:pt x="342900" y="133499"/>
                  <a:pt x="342900" y="157163"/>
                </a:cubicBezTo>
                <a:lnTo>
                  <a:pt x="342900" y="197168"/>
                </a:lnTo>
                <a:cubicBezTo>
                  <a:pt x="342900" y="210562"/>
                  <a:pt x="353794" y="221456"/>
                  <a:pt x="367189" y="221456"/>
                </a:cubicBezTo>
                <a:cubicBezTo>
                  <a:pt x="375672" y="221456"/>
                  <a:pt x="383262" y="216634"/>
                  <a:pt x="389424" y="210741"/>
                </a:cubicBezTo>
                <a:cubicBezTo>
                  <a:pt x="396478" y="204043"/>
                  <a:pt x="405051" y="200025"/>
                  <a:pt x="414337" y="200025"/>
                </a:cubicBezTo>
                <a:cubicBezTo>
                  <a:pt x="438001" y="200025"/>
                  <a:pt x="457200" y="225653"/>
                  <a:pt x="457200" y="257175"/>
                </a:cubicBezTo>
                <a:cubicBezTo>
                  <a:pt x="457200" y="288697"/>
                  <a:pt x="438001" y="314325"/>
                  <a:pt x="414337" y="314325"/>
                </a:cubicBezTo>
                <a:cubicBezTo>
                  <a:pt x="405051" y="314325"/>
                  <a:pt x="396389" y="310396"/>
                  <a:pt x="389424" y="303609"/>
                </a:cubicBezTo>
                <a:cubicBezTo>
                  <a:pt x="383262" y="297716"/>
                  <a:pt x="375761" y="292894"/>
                  <a:pt x="367189" y="292894"/>
                </a:cubicBezTo>
                <a:cubicBezTo>
                  <a:pt x="353794" y="292894"/>
                  <a:pt x="342900" y="303788"/>
                  <a:pt x="342900" y="317183"/>
                </a:cubicBezTo>
                <a:lnTo>
                  <a:pt x="342900" y="414338"/>
                </a:lnTo>
                <a:cubicBezTo>
                  <a:pt x="342900" y="438001"/>
                  <a:pt x="323701" y="457200"/>
                  <a:pt x="300038" y="457200"/>
                </a:cubicBezTo>
                <a:lnTo>
                  <a:pt x="249317" y="457200"/>
                </a:lnTo>
                <a:cubicBezTo>
                  <a:pt x="237887" y="457200"/>
                  <a:pt x="228600" y="447913"/>
                  <a:pt x="228600" y="436483"/>
                </a:cubicBezTo>
                <a:cubicBezTo>
                  <a:pt x="228600" y="428268"/>
                  <a:pt x="233779" y="421035"/>
                  <a:pt x="240387" y="416123"/>
                </a:cubicBezTo>
                <a:cubicBezTo>
                  <a:pt x="250746" y="408355"/>
                  <a:pt x="257175" y="397639"/>
                  <a:pt x="257175" y="385763"/>
                </a:cubicBezTo>
                <a:cubicBezTo>
                  <a:pt x="257175" y="362099"/>
                  <a:pt x="231547" y="342900"/>
                  <a:pt x="200025" y="342900"/>
                </a:cubicBezTo>
                <a:cubicBezTo>
                  <a:pt x="168503" y="342900"/>
                  <a:pt x="142875" y="362099"/>
                  <a:pt x="142875" y="385763"/>
                </a:cubicBezTo>
                <a:cubicBezTo>
                  <a:pt x="142875" y="397639"/>
                  <a:pt x="149304" y="408355"/>
                  <a:pt x="159663" y="416123"/>
                </a:cubicBezTo>
                <a:cubicBezTo>
                  <a:pt x="166271" y="421035"/>
                  <a:pt x="171450" y="428179"/>
                  <a:pt x="171450" y="436483"/>
                </a:cubicBezTo>
                <a:cubicBezTo>
                  <a:pt x="171450" y="447913"/>
                  <a:pt x="162163" y="457200"/>
                  <a:pt x="150733" y="457200"/>
                </a:cubicBezTo>
                <a:lnTo>
                  <a:pt x="42863" y="457200"/>
                </a:lnTo>
                <a:cubicBezTo>
                  <a:pt x="19199" y="457200"/>
                  <a:pt x="0" y="438001"/>
                  <a:pt x="0" y="414338"/>
                </a:cubicBezTo>
                <a:lnTo>
                  <a:pt x="0" y="306467"/>
                </a:lnTo>
                <a:cubicBezTo>
                  <a:pt x="0" y="295037"/>
                  <a:pt x="9287" y="285750"/>
                  <a:pt x="20717" y="285750"/>
                </a:cubicBezTo>
                <a:cubicBezTo>
                  <a:pt x="28932" y="285750"/>
                  <a:pt x="36165" y="290929"/>
                  <a:pt x="41077" y="297537"/>
                </a:cubicBezTo>
                <a:cubicBezTo>
                  <a:pt x="48845" y="307896"/>
                  <a:pt x="59561" y="314325"/>
                  <a:pt x="71438" y="314325"/>
                </a:cubicBezTo>
                <a:cubicBezTo>
                  <a:pt x="95101" y="314325"/>
                  <a:pt x="114300" y="288697"/>
                  <a:pt x="114300" y="257175"/>
                </a:cubicBezTo>
                <a:cubicBezTo>
                  <a:pt x="114300" y="225653"/>
                  <a:pt x="95101" y="200025"/>
                  <a:pt x="71438" y="200025"/>
                </a:cubicBezTo>
                <a:cubicBezTo>
                  <a:pt x="59561" y="200025"/>
                  <a:pt x="48845" y="206454"/>
                  <a:pt x="41077" y="216813"/>
                </a:cubicBezTo>
                <a:cubicBezTo>
                  <a:pt x="36165" y="223421"/>
                  <a:pt x="29021" y="228600"/>
                  <a:pt x="20717" y="228600"/>
                </a:cubicBezTo>
                <a:cubicBezTo>
                  <a:pt x="9287" y="228600"/>
                  <a:pt x="0" y="219313"/>
                  <a:pt x="0" y="207883"/>
                </a:cubicBezTo>
                <a:lnTo>
                  <a:pt x="0" y="157163"/>
                </a:lnTo>
                <a:cubicBezTo>
                  <a:pt x="0" y="133499"/>
                  <a:pt x="19199" y="114300"/>
                  <a:pt x="42863" y="114300"/>
                </a:cubicBezTo>
                <a:lnTo>
                  <a:pt x="140018" y="114300"/>
                </a:lnTo>
                <a:cubicBezTo>
                  <a:pt x="153412" y="114300"/>
                  <a:pt x="164306" y="103406"/>
                  <a:pt x="164306" y="90011"/>
                </a:cubicBezTo>
                <a:cubicBezTo>
                  <a:pt x="164306" y="81528"/>
                  <a:pt x="159484" y="73938"/>
                  <a:pt x="153591" y="67776"/>
                </a:cubicBezTo>
                <a:cubicBezTo>
                  <a:pt x="146893" y="60722"/>
                  <a:pt x="142875" y="52149"/>
                  <a:pt x="142875" y="42863"/>
                </a:cubicBezTo>
                <a:cubicBezTo>
                  <a:pt x="142875" y="19199"/>
                  <a:pt x="168503" y="0"/>
                  <a:pt x="200025" y="0"/>
                </a:cubicBezTo>
                <a:close/>
              </a:path>
            </a:pathLst>
          </a:custGeom>
          <a:solidFill>
            <a:srgbClr val="C9A227"/>
          </a:solidFill>
          <a:ln/>
        </p:spPr>
      </p:sp>
      <p:sp>
        <p:nvSpPr>
          <p:cNvPr id="19" name="Text 17"/>
          <p:cNvSpPr/>
          <p:nvPr/>
        </p:nvSpPr>
        <p:spPr>
          <a:xfrm>
            <a:off x="9461500" y="5651500"/>
            <a:ext cx="5588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Fragmented Tools &amp; Platforms</a:t>
            </a:r>
            <a:endParaRPr lang="en-US" sz="2000" dirty="0"/>
          </a:p>
        </p:txBody>
      </p:sp>
      <p:sp>
        <p:nvSpPr>
          <p:cNvPr id="20" name="Text 18"/>
          <p:cNvSpPr/>
          <p:nvPr/>
        </p:nvSpPr>
        <p:spPr>
          <a:xfrm>
            <a:off x="8826500" y="6223000"/>
            <a:ext cx="6286500" cy="2159000"/>
          </a:xfrm>
          <a:prstGeom prst="rect">
            <a:avLst/>
          </a:prstGeom>
          <a:noFill/>
          <a:ln/>
        </p:spPr>
        <p:txBody>
          <a:bodyPr wrap="square" lIns="0" tIns="0" rIns="0" bIns="0" rtlCol="0" anchor="t"/>
          <a:lstStyle/>
          <a:p>
            <a:pPr algn="l">
              <a:lnSpc>
                <a:spcPct val="160000"/>
              </a:lnSpc>
            </a:pPr>
            <a:r>
              <a:rPr lang="en-US" sz="1800" dirty="0">
                <a:solidFill>
                  <a:srgbClr val="1C1C1E"/>
                </a:solidFill>
                <a:latin typeface="Quattrocento Sans" pitchFamily="34" charset="0"/>
                <a:ea typeface="Quattrocento Sans" pitchFamily="34" charset="-122"/>
                <a:cs typeface="Quattrocento Sans" pitchFamily="34" charset="-120"/>
              </a:rPr>
              <a:t>There is a lack of integrated platforms combining ETL, analytics, and visualization. The gap between raw data and investment decisions creates missed opportunities for investors.</a:t>
            </a:r>
            <a:endParaRPr lang="en-US" sz="1800" dirty="0"/>
          </a:p>
        </p:txBody>
      </p:sp>
      <p:sp>
        <p:nvSpPr>
          <p:cNvPr id="21" name="Text 19"/>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02</a:t>
            </a:r>
            <a:endParaRPr lang="en-US" sz="13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PROJECT OBJECTIVES</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Text 3"/>
          <p:cNvSpPr/>
          <p:nvPr/>
        </p:nvSpPr>
        <p:spPr>
          <a:xfrm>
            <a:off x="762000" y="1905000"/>
            <a:ext cx="889000" cy="635000"/>
          </a:xfrm>
          <a:prstGeom prst="rect">
            <a:avLst/>
          </a:prstGeom>
          <a:noFill/>
          <a:ln/>
        </p:spPr>
        <p:txBody>
          <a:bodyPr wrap="none" lIns="0" tIns="0" rIns="0" bIns="0" rtlCol="0" anchor="ctr"/>
          <a:lstStyle/>
          <a:p>
            <a:pPr algn="ctr">
              <a:lnSpc>
                <a:spcPct val="120000"/>
              </a:lnSpc>
            </a:pPr>
            <a:r>
              <a:rPr lang="en-US" sz="3600" dirty="0">
                <a:solidFill>
                  <a:srgbClr val="C9A227"/>
                </a:solidFill>
                <a:latin typeface="Liter" pitchFamily="34" charset="0"/>
                <a:ea typeface="Liter" pitchFamily="34" charset="-122"/>
                <a:cs typeface="Liter" pitchFamily="34" charset="-120"/>
              </a:rPr>
              <a:t>01</a:t>
            </a:r>
            <a:endParaRPr lang="en-US" sz="3600" dirty="0"/>
          </a:p>
        </p:txBody>
      </p:sp>
      <p:sp>
        <p:nvSpPr>
          <p:cNvPr id="6" name="Shape 4"/>
          <p:cNvSpPr/>
          <p:nvPr/>
        </p:nvSpPr>
        <p:spPr>
          <a:xfrm>
            <a:off x="1714500" y="1968500"/>
            <a:ext cx="25400" cy="508000"/>
          </a:xfrm>
          <a:prstGeom prst="rect">
            <a:avLst/>
          </a:prstGeom>
          <a:solidFill>
            <a:srgbClr val="E0DDD6"/>
          </a:solidFill>
          <a:ln/>
        </p:spPr>
      </p:sp>
      <p:sp>
        <p:nvSpPr>
          <p:cNvPr id="7" name="Text 5"/>
          <p:cNvSpPr/>
          <p:nvPr/>
        </p:nvSpPr>
        <p:spPr>
          <a:xfrm>
            <a:off x="1905000" y="1905000"/>
            <a:ext cx="5715000" cy="3556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Build ETL Pipeline</a:t>
            </a:r>
            <a:endParaRPr lang="en-US" sz="2000" dirty="0"/>
          </a:p>
        </p:txBody>
      </p:sp>
      <p:sp>
        <p:nvSpPr>
          <p:cNvPr id="8" name="Text 6"/>
          <p:cNvSpPr/>
          <p:nvPr/>
        </p:nvSpPr>
        <p:spPr>
          <a:xfrm>
            <a:off x="1905000" y="2311400"/>
            <a:ext cx="5715000" cy="8255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Automate data ingestion, cleaning, and storage into SQLite for downstream analytics.</a:t>
            </a:r>
            <a:endParaRPr lang="en-US" sz="1600" dirty="0"/>
          </a:p>
        </p:txBody>
      </p:sp>
      <p:sp>
        <p:nvSpPr>
          <p:cNvPr id="9" name="Text 7"/>
          <p:cNvSpPr/>
          <p:nvPr/>
        </p:nvSpPr>
        <p:spPr>
          <a:xfrm>
            <a:off x="762000" y="3403600"/>
            <a:ext cx="889000" cy="635000"/>
          </a:xfrm>
          <a:prstGeom prst="rect">
            <a:avLst/>
          </a:prstGeom>
          <a:noFill/>
          <a:ln/>
        </p:spPr>
        <p:txBody>
          <a:bodyPr wrap="none" lIns="0" tIns="0" rIns="0" bIns="0" rtlCol="0" anchor="ctr"/>
          <a:lstStyle/>
          <a:p>
            <a:pPr algn="ctr">
              <a:lnSpc>
                <a:spcPct val="120000"/>
              </a:lnSpc>
            </a:pPr>
            <a:r>
              <a:rPr lang="en-US" sz="3600" dirty="0">
                <a:solidFill>
                  <a:srgbClr val="C9A227"/>
                </a:solidFill>
                <a:latin typeface="Liter" pitchFamily="34" charset="0"/>
                <a:ea typeface="Liter" pitchFamily="34" charset="-122"/>
                <a:cs typeface="Liter" pitchFamily="34" charset="-120"/>
              </a:rPr>
              <a:t>02</a:t>
            </a:r>
            <a:endParaRPr lang="en-US" sz="3600" dirty="0"/>
          </a:p>
        </p:txBody>
      </p:sp>
      <p:sp>
        <p:nvSpPr>
          <p:cNvPr id="10" name="Shape 8"/>
          <p:cNvSpPr/>
          <p:nvPr/>
        </p:nvSpPr>
        <p:spPr>
          <a:xfrm>
            <a:off x="1714500" y="3467100"/>
            <a:ext cx="25400" cy="508000"/>
          </a:xfrm>
          <a:prstGeom prst="rect">
            <a:avLst/>
          </a:prstGeom>
          <a:solidFill>
            <a:srgbClr val="E0DDD6"/>
          </a:solidFill>
          <a:ln/>
        </p:spPr>
      </p:sp>
      <p:sp>
        <p:nvSpPr>
          <p:cNvPr id="11" name="Text 9"/>
          <p:cNvSpPr/>
          <p:nvPr/>
        </p:nvSpPr>
        <p:spPr>
          <a:xfrm>
            <a:off x="1905000" y="3403600"/>
            <a:ext cx="5715000" cy="3556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Perform EDA &amp; Analytics</a:t>
            </a:r>
            <a:endParaRPr lang="en-US" sz="2000" dirty="0"/>
          </a:p>
        </p:txBody>
      </p:sp>
      <p:sp>
        <p:nvSpPr>
          <p:cNvPr id="12" name="Text 10"/>
          <p:cNvSpPr/>
          <p:nvPr/>
        </p:nvSpPr>
        <p:spPr>
          <a:xfrm>
            <a:off x="1905000" y="3810000"/>
            <a:ext cx="5715000" cy="8255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Uncover hidden patterns in NAV trends, fund categories, and investor behavior.</a:t>
            </a:r>
            <a:endParaRPr lang="en-US" sz="1600" dirty="0"/>
          </a:p>
        </p:txBody>
      </p:sp>
      <p:sp>
        <p:nvSpPr>
          <p:cNvPr id="13" name="Text 11"/>
          <p:cNvSpPr/>
          <p:nvPr/>
        </p:nvSpPr>
        <p:spPr>
          <a:xfrm>
            <a:off x="762000" y="4902200"/>
            <a:ext cx="889000" cy="635000"/>
          </a:xfrm>
          <a:prstGeom prst="rect">
            <a:avLst/>
          </a:prstGeom>
          <a:noFill/>
          <a:ln/>
        </p:spPr>
        <p:txBody>
          <a:bodyPr wrap="none" lIns="0" tIns="0" rIns="0" bIns="0" rtlCol="0" anchor="ctr"/>
          <a:lstStyle/>
          <a:p>
            <a:pPr algn="ctr">
              <a:lnSpc>
                <a:spcPct val="120000"/>
              </a:lnSpc>
            </a:pPr>
            <a:r>
              <a:rPr lang="en-US" sz="3600" dirty="0">
                <a:solidFill>
                  <a:srgbClr val="C9A227"/>
                </a:solidFill>
                <a:latin typeface="Liter" pitchFamily="34" charset="0"/>
                <a:ea typeface="Liter" pitchFamily="34" charset="-122"/>
                <a:cs typeface="Liter" pitchFamily="34" charset="-120"/>
              </a:rPr>
              <a:t>03</a:t>
            </a:r>
            <a:endParaRPr lang="en-US" sz="3600" dirty="0"/>
          </a:p>
        </p:txBody>
      </p:sp>
      <p:sp>
        <p:nvSpPr>
          <p:cNvPr id="14" name="Shape 12"/>
          <p:cNvSpPr/>
          <p:nvPr/>
        </p:nvSpPr>
        <p:spPr>
          <a:xfrm>
            <a:off x="1714500" y="4965700"/>
            <a:ext cx="25400" cy="508000"/>
          </a:xfrm>
          <a:prstGeom prst="rect">
            <a:avLst/>
          </a:prstGeom>
          <a:solidFill>
            <a:srgbClr val="E0DDD6"/>
          </a:solidFill>
          <a:ln/>
        </p:spPr>
      </p:sp>
      <p:sp>
        <p:nvSpPr>
          <p:cNvPr id="15" name="Text 13"/>
          <p:cNvSpPr/>
          <p:nvPr/>
        </p:nvSpPr>
        <p:spPr>
          <a:xfrm>
            <a:off x="1905000" y="4902200"/>
            <a:ext cx="5715000" cy="3556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Calculate Performance Metrics</a:t>
            </a:r>
            <a:endParaRPr lang="en-US" sz="2000" dirty="0"/>
          </a:p>
        </p:txBody>
      </p:sp>
      <p:sp>
        <p:nvSpPr>
          <p:cNvPr id="16" name="Text 14"/>
          <p:cNvSpPr/>
          <p:nvPr/>
        </p:nvSpPr>
        <p:spPr>
          <a:xfrm>
            <a:off x="1905000" y="5308600"/>
            <a:ext cx="5715000" cy="8255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Compute CAGR, Sharpe Ratio, Alpha, Beta, and Maximum Drawdown for all funds.</a:t>
            </a:r>
            <a:endParaRPr lang="en-US" sz="1600" dirty="0"/>
          </a:p>
        </p:txBody>
      </p:sp>
      <p:sp>
        <p:nvSpPr>
          <p:cNvPr id="17" name="Text 15"/>
          <p:cNvSpPr/>
          <p:nvPr/>
        </p:nvSpPr>
        <p:spPr>
          <a:xfrm>
            <a:off x="762000" y="6400800"/>
            <a:ext cx="889000" cy="635000"/>
          </a:xfrm>
          <a:prstGeom prst="rect">
            <a:avLst/>
          </a:prstGeom>
          <a:noFill/>
          <a:ln/>
        </p:spPr>
        <p:txBody>
          <a:bodyPr wrap="none" lIns="0" tIns="0" rIns="0" bIns="0" rtlCol="0" anchor="ctr"/>
          <a:lstStyle/>
          <a:p>
            <a:pPr algn="ctr">
              <a:lnSpc>
                <a:spcPct val="120000"/>
              </a:lnSpc>
            </a:pPr>
            <a:r>
              <a:rPr lang="en-US" sz="3600" dirty="0">
                <a:solidFill>
                  <a:srgbClr val="C9A227"/>
                </a:solidFill>
                <a:latin typeface="Liter" pitchFamily="34" charset="0"/>
                <a:ea typeface="Liter" pitchFamily="34" charset="-122"/>
                <a:cs typeface="Liter" pitchFamily="34" charset="-120"/>
              </a:rPr>
              <a:t>04</a:t>
            </a:r>
            <a:endParaRPr lang="en-US" sz="3600" dirty="0"/>
          </a:p>
        </p:txBody>
      </p:sp>
      <p:sp>
        <p:nvSpPr>
          <p:cNvPr id="18" name="Shape 16"/>
          <p:cNvSpPr/>
          <p:nvPr/>
        </p:nvSpPr>
        <p:spPr>
          <a:xfrm>
            <a:off x="1714500" y="6464300"/>
            <a:ext cx="25400" cy="508000"/>
          </a:xfrm>
          <a:prstGeom prst="rect">
            <a:avLst/>
          </a:prstGeom>
          <a:solidFill>
            <a:srgbClr val="E0DDD6"/>
          </a:solidFill>
          <a:ln/>
        </p:spPr>
      </p:sp>
      <p:sp>
        <p:nvSpPr>
          <p:cNvPr id="19" name="Text 17"/>
          <p:cNvSpPr/>
          <p:nvPr/>
        </p:nvSpPr>
        <p:spPr>
          <a:xfrm>
            <a:off x="1905000" y="6400800"/>
            <a:ext cx="5715000" cy="3556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Develop Power BI Dashboard</a:t>
            </a:r>
            <a:endParaRPr lang="en-US" sz="2000" dirty="0"/>
          </a:p>
        </p:txBody>
      </p:sp>
      <p:sp>
        <p:nvSpPr>
          <p:cNvPr id="20" name="Text 18"/>
          <p:cNvSpPr/>
          <p:nvPr/>
        </p:nvSpPr>
        <p:spPr>
          <a:xfrm>
            <a:off x="1905000" y="6807200"/>
            <a:ext cx="5715000" cy="8255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Create an interactive dashboard with KPIs, filters, and drill-down capabilities.</a:t>
            </a:r>
            <a:endParaRPr lang="en-US" sz="1600" dirty="0"/>
          </a:p>
        </p:txBody>
      </p:sp>
      <p:sp>
        <p:nvSpPr>
          <p:cNvPr id="21" name="Text 19"/>
          <p:cNvSpPr/>
          <p:nvPr/>
        </p:nvSpPr>
        <p:spPr>
          <a:xfrm>
            <a:off x="762000" y="7899400"/>
            <a:ext cx="889000" cy="635000"/>
          </a:xfrm>
          <a:prstGeom prst="rect">
            <a:avLst/>
          </a:prstGeom>
          <a:noFill/>
          <a:ln/>
        </p:spPr>
        <p:txBody>
          <a:bodyPr wrap="none" lIns="0" tIns="0" rIns="0" bIns="0" rtlCol="0" anchor="ctr"/>
          <a:lstStyle/>
          <a:p>
            <a:pPr algn="ctr">
              <a:lnSpc>
                <a:spcPct val="120000"/>
              </a:lnSpc>
            </a:pPr>
            <a:r>
              <a:rPr lang="en-US" sz="3600" dirty="0">
                <a:solidFill>
                  <a:srgbClr val="C9A227"/>
                </a:solidFill>
                <a:latin typeface="Liter" pitchFamily="34" charset="0"/>
                <a:ea typeface="Liter" pitchFamily="34" charset="-122"/>
                <a:cs typeface="Liter" pitchFamily="34" charset="-120"/>
              </a:rPr>
              <a:t>05</a:t>
            </a:r>
            <a:endParaRPr lang="en-US" sz="3600" dirty="0"/>
          </a:p>
        </p:txBody>
      </p:sp>
      <p:sp>
        <p:nvSpPr>
          <p:cNvPr id="22" name="Shape 20"/>
          <p:cNvSpPr/>
          <p:nvPr/>
        </p:nvSpPr>
        <p:spPr>
          <a:xfrm>
            <a:off x="1714500" y="7962900"/>
            <a:ext cx="25400" cy="508000"/>
          </a:xfrm>
          <a:prstGeom prst="rect">
            <a:avLst/>
          </a:prstGeom>
          <a:solidFill>
            <a:srgbClr val="E0DDD6"/>
          </a:solidFill>
          <a:ln/>
        </p:spPr>
      </p:sp>
      <p:sp>
        <p:nvSpPr>
          <p:cNvPr id="23" name="Text 21"/>
          <p:cNvSpPr/>
          <p:nvPr/>
        </p:nvSpPr>
        <p:spPr>
          <a:xfrm>
            <a:off x="1905000" y="7899400"/>
            <a:ext cx="5715000" cy="3556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Implement Advanced Analytics</a:t>
            </a:r>
            <a:endParaRPr lang="en-US" sz="2000" dirty="0"/>
          </a:p>
        </p:txBody>
      </p:sp>
      <p:sp>
        <p:nvSpPr>
          <p:cNvPr id="24" name="Text 22"/>
          <p:cNvSpPr/>
          <p:nvPr/>
        </p:nvSpPr>
        <p:spPr>
          <a:xfrm>
            <a:off x="1905000" y="8305800"/>
            <a:ext cx="5715000" cy="6350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Deploy VaR calculations and a fund recommendation engine.</a:t>
            </a:r>
            <a:endParaRPr lang="en-US" sz="1600" dirty="0"/>
          </a:p>
        </p:txBody>
      </p:sp>
      <p:sp>
        <p:nvSpPr>
          <p:cNvPr id="25" name="Shape 23"/>
          <p:cNvSpPr/>
          <p:nvPr/>
        </p:nvSpPr>
        <p:spPr>
          <a:xfrm>
            <a:off x="8636000" y="1841500"/>
            <a:ext cx="6858000" cy="6731000"/>
          </a:xfrm>
          <a:prstGeom prst="rect">
            <a:avLst/>
          </a:prstGeom>
          <a:solidFill>
            <a:srgbClr val="0F1B3D"/>
          </a:solidFill>
          <a:ln/>
        </p:spPr>
      </p:sp>
      <p:sp>
        <p:nvSpPr>
          <p:cNvPr id="26" name="Text 24"/>
          <p:cNvSpPr/>
          <p:nvPr/>
        </p:nvSpPr>
        <p:spPr>
          <a:xfrm>
            <a:off x="9017000" y="2159000"/>
            <a:ext cx="6096000" cy="444500"/>
          </a:xfrm>
          <a:prstGeom prst="rect">
            <a:avLst/>
          </a:prstGeom>
          <a:noFill/>
          <a:ln/>
        </p:spPr>
        <p:txBody>
          <a:bodyPr wrap="none" lIns="0" tIns="0" rIns="0" bIns="0" rtlCol="0" anchor="ctr"/>
          <a:lstStyle/>
          <a:p>
            <a:pPr algn="l">
              <a:lnSpc>
                <a:spcPct val="120000"/>
              </a:lnSpc>
            </a:pPr>
            <a:r>
              <a:rPr lang="en-US" sz="2200" b="1" dirty="0">
                <a:solidFill>
                  <a:srgbClr val="FFFFFF"/>
                </a:solidFill>
                <a:latin typeface="Liter" pitchFamily="34" charset="0"/>
                <a:ea typeface="Liter" pitchFamily="34" charset="-122"/>
                <a:cs typeface="Liter" pitchFamily="34" charset="-120"/>
              </a:rPr>
              <a:t>PROJECT SCOPE</a:t>
            </a:r>
            <a:endParaRPr lang="en-US" sz="2200" dirty="0"/>
          </a:p>
        </p:txBody>
      </p:sp>
      <p:sp>
        <p:nvSpPr>
          <p:cNvPr id="27" name="Shape 25"/>
          <p:cNvSpPr/>
          <p:nvPr/>
        </p:nvSpPr>
        <p:spPr>
          <a:xfrm>
            <a:off x="9017000" y="2692400"/>
            <a:ext cx="762000" cy="25400"/>
          </a:xfrm>
          <a:prstGeom prst="rect">
            <a:avLst/>
          </a:prstGeom>
          <a:solidFill>
            <a:srgbClr val="C9A227"/>
          </a:solidFill>
          <a:ln/>
        </p:spPr>
      </p:sp>
      <p:sp>
        <p:nvSpPr>
          <p:cNvPr id="28" name="Shape 26"/>
          <p:cNvSpPr/>
          <p:nvPr/>
        </p:nvSpPr>
        <p:spPr>
          <a:xfrm>
            <a:off x="9017000" y="3048000"/>
            <a:ext cx="355600" cy="355600"/>
          </a:xfrm>
          <a:custGeom>
            <a:avLst/>
            <a:gdLst/>
            <a:ahLst/>
            <a:cxnLst/>
            <a:rect l="l" t="t" r="r" b="b"/>
            <a:pathLst>
              <a:path w="355600" h="355600">
                <a:moveTo>
                  <a:pt x="349071" y="193496"/>
                </a:moveTo>
                <a:cubicBezTo>
                  <a:pt x="357753" y="184815"/>
                  <a:pt x="357753" y="170716"/>
                  <a:pt x="349071" y="162034"/>
                </a:cubicBezTo>
                <a:lnTo>
                  <a:pt x="237946" y="50909"/>
                </a:lnTo>
                <a:cubicBezTo>
                  <a:pt x="229265" y="42228"/>
                  <a:pt x="215166" y="42228"/>
                  <a:pt x="206484" y="50909"/>
                </a:cubicBezTo>
                <a:cubicBezTo>
                  <a:pt x="197803" y="59591"/>
                  <a:pt x="197803" y="73690"/>
                  <a:pt x="206484" y="82371"/>
                </a:cubicBezTo>
                <a:lnTo>
                  <a:pt x="279688" y="155575"/>
                </a:lnTo>
                <a:lnTo>
                  <a:pt x="22225" y="155575"/>
                </a:lnTo>
                <a:cubicBezTo>
                  <a:pt x="9932" y="155575"/>
                  <a:pt x="0" y="165507"/>
                  <a:pt x="0" y="177800"/>
                </a:cubicBezTo>
                <a:cubicBezTo>
                  <a:pt x="0" y="190093"/>
                  <a:pt x="9932" y="200025"/>
                  <a:pt x="22225" y="200025"/>
                </a:cubicBezTo>
                <a:lnTo>
                  <a:pt x="279688" y="200025"/>
                </a:lnTo>
                <a:lnTo>
                  <a:pt x="206484" y="273229"/>
                </a:lnTo>
                <a:cubicBezTo>
                  <a:pt x="197802" y="281910"/>
                  <a:pt x="197802" y="296009"/>
                  <a:pt x="206484" y="304691"/>
                </a:cubicBezTo>
                <a:cubicBezTo>
                  <a:pt x="215166" y="313373"/>
                  <a:pt x="229265" y="313373"/>
                  <a:pt x="237946" y="304691"/>
                </a:cubicBezTo>
                <a:lnTo>
                  <a:pt x="349071" y="193566"/>
                </a:lnTo>
                <a:close/>
              </a:path>
            </a:pathLst>
          </a:custGeom>
          <a:solidFill>
            <a:srgbClr val="C9A227"/>
          </a:solidFill>
          <a:ln/>
        </p:spPr>
      </p:sp>
      <p:sp>
        <p:nvSpPr>
          <p:cNvPr id="29" name="Text 27"/>
          <p:cNvSpPr/>
          <p:nvPr/>
        </p:nvSpPr>
        <p:spPr>
          <a:xfrm>
            <a:off x="9525000" y="3022600"/>
            <a:ext cx="5588000" cy="762000"/>
          </a:xfrm>
          <a:prstGeom prst="rect">
            <a:avLst/>
          </a:prstGeom>
          <a:noFill/>
          <a:ln/>
        </p:spPr>
        <p:txBody>
          <a:bodyPr wrap="square" lIns="0" tIns="0" rIns="0" bIns="0" rtlCol="0" anchor="t"/>
          <a:lstStyle/>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End-to-end data pipeline from raw CSV to processed database</a:t>
            </a:r>
            <a:endParaRPr lang="en-US" sz="1600" dirty="0"/>
          </a:p>
        </p:txBody>
      </p:sp>
      <p:sp>
        <p:nvSpPr>
          <p:cNvPr id="30" name="Shape 28"/>
          <p:cNvSpPr/>
          <p:nvPr/>
        </p:nvSpPr>
        <p:spPr>
          <a:xfrm>
            <a:off x="9017000" y="3937000"/>
            <a:ext cx="355600" cy="355600"/>
          </a:xfrm>
          <a:custGeom>
            <a:avLst/>
            <a:gdLst/>
            <a:ahLst/>
            <a:cxnLst/>
            <a:rect l="l" t="t" r="r" b="b"/>
            <a:pathLst>
              <a:path w="355600" h="355600">
                <a:moveTo>
                  <a:pt x="349071" y="193496"/>
                </a:moveTo>
                <a:cubicBezTo>
                  <a:pt x="357753" y="184815"/>
                  <a:pt x="357753" y="170716"/>
                  <a:pt x="349071" y="162034"/>
                </a:cubicBezTo>
                <a:lnTo>
                  <a:pt x="237946" y="50909"/>
                </a:lnTo>
                <a:cubicBezTo>
                  <a:pt x="229265" y="42228"/>
                  <a:pt x="215166" y="42228"/>
                  <a:pt x="206484" y="50909"/>
                </a:cubicBezTo>
                <a:cubicBezTo>
                  <a:pt x="197803" y="59591"/>
                  <a:pt x="197803" y="73690"/>
                  <a:pt x="206484" y="82371"/>
                </a:cubicBezTo>
                <a:lnTo>
                  <a:pt x="279688" y="155575"/>
                </a:lnTo>
                <a:lnTo>
                  <a:pt x="22225" y="155575"/>
                </a:lnTo>
                <a:cubicBezTo>
                  <a:pt x="9932" y="155575"/>
                  <a:pt x="0" y="165507"/>
                  <a:pt x="0" y="177800"/>
                </a:cubicBezTo>
                <a:cubicBezTo>
                  <a:pt x="0" y="190093"/>
                  <a:pt x="9932" y="200025"/>
                  <a:pt x="22225" y="200025"/>
                </a:cubicBezTo>
                <a:lnTo>
                  <a:pt x="279688" y="200025"/>
                </a:lnTo>
                <a:lnTo>
                  <a:pt x="206484" y="273229"/>
                </a:lnTo>
                <a:cubicBezTo>
                  <a:pt x="197802" y="281910"/>
                  <a:pt x="197802" y="296009"/>
                  <a:pt x="206484" y="304691"/>
                </a:cubicBezTo>
                <a:cubicBezTo>
                  <a:pt x="215166" y="313373"/>
                  <a:pt x="229265" y="313373"/>
                  <a:pt x="237946" y="304691"/>
                </a:cubicBezTo>
                <a:lnTo>
                  <a:pt x="349071" y="193566"/>
                </a:lnTo>
                <a:close/>
              </a:path>
            </a:pathLst>
          </a:custGeom>
          <a:solidFill>
            <a:srgbClr val="C9A227"/>
          </a:solidFill>
          <a:ln/>
        </p:spPr>
      </p:sp>
      <p:sp>
        <p:nvSpPr>
          <p:cNvPr id="31" name="Text 29"/>
          <p:cNvSpPr/>
          <p:nvPr/>
        </p:nvSpPr>
        <p:spPr>
          <a:xfrm>
            <a:off x="9525000" y="3911600"/>
            <a:ext cx="5588000" cy="762000"/>
          </a:xfrm>
          <a:prstGeom prst="rect">
            <a:avLst/>
          </a:prstGeom>
          <a:noFill/>
          <a:ln/>
        </p:spPr>
        <p:txBody>
          <a:bodyPr wrap="square" lIns="0" tIns="0" rIns="0" bIns="0" rtlCol="0" anchor="t"/>
          <a:lstStyle/>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Comprehensive exploratory data analysis with visualizations</a:t>
            </a:r>
            <a:endParaRPr lang="en-US" sz="1600" dirty="0"/>
          </a:p>
        </p:txBody>
      </p:sp>
      <p:sp>
        <p:nvSpPr>
          <p:cNvPr id="32" name="Shape 30"/>
          <p:cNvSpPr/>
          <p:nvPr/>
        </p:nvSpPr>
        <p:spPr>
          <a:xfrm>
            <a:off x="9017000" y="4826000"/>
            <a:ext cx="355600" cy="355600"/>
          </a:xfrm>
          <a:custGeom>
            <a:avLst/>
            <a:gdLst/>
            <a:ahLst/>
            <a:cxnLst/>
            <a:rect l="l" t="t" r="r" b="b"/>
            <a:pathLst>
              <a:path w="355600" h="355600">
                <a:moveTo>
                  <a:pt x="349071" y="193496"/>
                </a:moveTo>
                <a:cubicBezTo>
                  <a:pt x="357753" y="184815"/>
                  <a:pt x="357753" y="170716"/>
                  <a:pt x="349071" y="162034"/>
                </a:cubicBezTo>
                <a:lnTo>
                  <a:pt x="237946" y="50909"/>
                </a:lnTo>
                <a:cubicBezTo>
                  <a:pt x="229265" y="42228"/>
                  <a:pt x="215166" y="42228"/>
                  <a:pt x="206484" y="50909"/>
                </a:cubicBezTo>
                <a:cubicBezTo>
                  <a:pt x="197803" y="59591"/>
                  <a:pt x="197803" y="73690"/>
                  <a:pt x="206484" y="82371"/>
                </a:cubicBezTo>
                <a:lnTo>
                  <a:pt x="279688" y="155575"/>
                </a:lnTo>
                <a:lnTo>
                  <a:pt x="22225" y="155575"/>
                </a:lnTo>
                <a:cubicBezTo>
                  <a:pt x="9932" y="155575"/>
                  <a:pt x="0" y="165507"/>
                  <a:pt x="0" y="177800"/>
                </a:cubicBezTo>
                <a:cubicBezTo>
                  <a:pt x="0" y="190093"/>
                  <a:pt x="9932" y="200025"/>
                  <a:pt x="22225" y="200025"/>
                </a:cubicBezTo>
                <a:lnTo>
                  <a:pt x="279688" y="200025"/>
                </a:lnTo>
                <a:lnTo>
                  <a:pt x="206484" y="273229"/>
                </a:lnTo>
                <a:cubicBezTo>
                  <a:pt x="197802" y="281910"/>
                  <a:pt x="197802" y="296009"/>
                  <a:pt x="206484" y="304691"/>
                </a:cubicBezTo>
                <a:cubicBezTo>
                  <a:pt x="215166" y="313373"/>
                  <a:pt x="229265" y="313373"/>
                  <a:pt x="237946" y="304691"/>
                </a:cubicBezTo>
                <a:lnTo>
                  <a:pt x="349071" y="193566"/>
                </a:lnTo>
                <a:close/>
              </a:path>
            </a:pathLst>
          </a:custGeom>
          <a:solidFill>
            <a:srgbClr val="C9A227"/>
          </a:solidFill>
          <a:ln/>
        </p:spPr>
      </p:sp>
      <p:sp>
        <p:nvSpPr>
          <p:cNvPr id="33" name="Text 31"/>
          <p:cNvSpPr/>
          <p:nvPr/>
        </p:nvSpPr>
        <p:spPr>
          <a:xfrm>
            <a:off x="9525000" y="4800600"/>
            <a:ext cx="5588000" cy="762000"/>
          </a:xfrm>
          <a:prstGeom prst="rect">
            <a:avLst/>
          </a:prstGeom>
          <a:noFill/>
          <a:ln/>
        </p:spPr>
        <p:txBody>
          <a:bodyPr wrap="square" lIns="0" tIns="0" rIns="0" bIns="0" rtlCol="0" anchor="t"/>
          <a:lstStyle/>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Risk-adjusted performance scoring and fund ranking</a:t>
            </a:r>
            <a:endParaRPr lang="en-US" sz="1600" dirty="0"/>
          </a:p>
        </p:txBody>
      </p:sp>
      <p:sp>
        <p:nvSpPr>
          <p:cNvPr id="34" name="Shape 32"/>
          <p:cNvSpPr/>
          <p:nvPr/>
        </p:nvSpPr>
        <p:spPr>
          <a:xfrm>
            <a:off x="9017000" y="5715000"/>
            <a:ext cx="355600" cy="355600"/>
          </a:xfrm>
          <a:custGeom>
            <a:avLst/>
            <a:gdLst/>
            <a:ahLst/>
            <a:cxnLst/>
            <a:rect l="l" t="t" r="r" b="b"/>
            <a:pathLst>
              <a:path w="355600" h="355600">
                <a:moveTo>
                  <a:pt x="349071" y="193496"/>
                </a:moveTo>
                <a:cubicBezTo>
                  <a:pt x="357753" y="184815"/>
                  <a:pt x="357753" y="170716"/>
                  <a:pt x="349071" y="162034"/>
                </a:cubicBezTo>
                <a:lnTo>
                  <a:pt x="237946" y="50909"/>
                </a:lnTo>
                <a:cubicBezTo>
                  <a:pt x="229265" y="42228"/>
                  <a:pt x="215166" y="42228"/>
                  <a:pt x="206484" y="50909"/>
                </a:cubicBezTo>
                <a:cubicBezTo>
                  <a:pt x="197803" y="59591"/>
                  <a:pt x="197803" y="73690"/>
                  <a:pt x="206484" y="82371"/>
                </a:cubicBezTo>
                <a:lnTo>
                  <a:pt x="279688" y="155575"/>
                </a:lnTo>
                <a:lnTo>
                  <a:pt x="22225" y="155575"/>
                </a:lnTo>
                <a:cubicBezTo>
                  <a:pt x="9932" y="155575"/>
                  <a:pt x="0" y="165507"/>
                  <a:pt x="0" y="177800"/>
                </a:cubicBezTo>
                <a:cubicBezTo>
                  <a:pt x="0" y="190093"/>
                  <a:pt x="9932" y="200025"/>
                  <a:pt x="22225" y="200025"/>
                </a:cubicBezTo>
                <a:lnTo>
                  <a:pt x="279688" y="200025"/>
                </a:lnTo>
                <a:lnTo>
                  <a:pt x="206484" y="273229"/>
                </a:lnTo>
                <a:cubicBezTo>
                  <a:pt x="197802" y="281910"/>
                  <a:pt x="197802" y="296009"/>
                  <a:pt x="206484" y="304691"/>
                </a:cubicBezTo>
                <a:cubicBezTo>
                  <a:pt x="215166" y="313373"/>
                  <a:pt x="229265" y="313373"/>
                  <a:pt x="237946" y="304691"/>
                </a:cubicBezTo>
                <a:lnTo>
                  <a:pt x="349071" y="193566"/>
                </a:lnTo>
                <a:close/>
              </a:path>
            </a:pathLst>
          </a:custGeom>
          <a:solidFill>
            <a:srgbClr val="C9A227"/>
          </a:solidFill>
          <a:ln/>
        </p:spPr>
      </p:sp>
      <p:sp>
        <p:nvSpPr>
          <p:cNvPr id="35" name="Text 33"/>
          <p:cNvSpPr/>
          <p:nvPr/>
        </p:nvSpPr>
        <p:spPr>
          <a:xfrm>
            <a:off x="9525000" y="5689600"/>
            <a:ext cx="5588000" cy="762000"/>
          </a:xfrm>
          <a:prstGeom prst="rect">
            <a:avLst/>
          </a:prstGeom>
          <a:noFill/>
          <a:ln/>
        </p:spPr>
        <p:txBody>
          <a:bodyPr wrap="square" lIns="0" tIns="0" rIns="0" bIns="0" rtlCol="0" anchor="t"/>
          <a:lstStyle/>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Interactive multi-page Power BI dashboard</a:t>
            </a:r>
            <a:endParaRPr lang="en-US" sz="1600" dirty="0"/>
          </a:p>
        </p:txBody>
      </p:sp>
      <p:sp>
        <p:nvSpPr>
          <p:cNvPr id="36" name="Shape 34"/>
          <p:cNvSpPr/>
          <p:nvPr/>
        </p:nvSpPr>
        <p:spPr>
          <a:xfrm>
            <a:off x="9017000" y="6604000"/>
            <a:ext cx="355600" cy="355600"/>
          </a:xfrm>
          <a:custGeom>
            <a:avLst/>
            <a:gdLst/>
            <a:ahLst/>
            <a:cxnLst/>
            <a:rect l="l" t="t" r="r" b="b"/>
            <a:pathLst>
              <a:path w="355600" h="355600">
                <a:moveTo>
                  <a:pt x="349071" y="193496"/>
                </a:moveTo>
                <a:cubicBezTo>
                  <a:pt x="357753" y="184815"/>
                  <a:pt x="357753" y="170716"/>
                  <a:pt x="349071" y="162034"/>
                </a:cubicBezTo>
                <a:lnTo>
                  <a:pt x="237946" y="50909"/>
                </a:lnTo>
                <a:cubicBezTo>
                  <a:pt x="229265" y="42228"/>
                  <a:pt x="215166" y="42228"/>
                  <a:pt x="206484" y="50909"/>
                </a:cubicBezTo>
                <a:cubicBezTo>
                  <a:pt x="197803" y="59591"/>
                  <a:pt x="197803" y="73690"/>
                  <a:pt x="206484" y="82371"/>
                </a:cubicBezTo>
                <a:lnTo>
                  <a:pt x="279688" y="155575"/>
                </a:lnTo>
                <a:lnTo>
                  <a:pt x="22225" y="155575"/>
                </a:lnTo>
                <a:cubicBezTo>
                  <a:pt x="9932" y="155575"/>
                  <a:pt x="0" y="165507"/>
                  <a:pt x="0" y="177800"/>
                </a:cubicBezTo>
                <a:cubicBezTo>
                  <a:pt x="0" y="190093"/>
                  <a:pt x="9932" y="200025"/>
                  <a:pt x="22225" y="200025"/>
                </a:cubicBezTo>
                <a:lnTo>
                  <a:pt x="279688" y="200025"/>
                </a:lnTo>
                <a:lnTo>
                  <a:pt x="206484" y="273229"/>
                </a:lnTo>
                <a:cubicBezTo>
                  <a:pt x="197802" y="281910"/>
                  <a:pt x="197802" y="296009"/>
                  <a:pt x="206484" y="304691"/>
                </a:cubicBezTo>
                <a:cubicBezTo>
                  <a:pt x="215166" y="313373"/>
                  <a:pt x="229265" y="313373"/>
                  <a:pt x="237946" y="304691"/>
                </a:cubicBezTo>
                <a:lnTo>
                  <a:pt x="349071" y="193566"/>
                </a:lnTo>
                <a:close/>
              </a:path>
            </a:pathLst>
          </a:custGeom>
          <a:solidFill>
            <a:srgbClr val="C9A227"/>
          </a:solidFill>
          <a:ln/>
        </p:spPr>
      </p:sp>
      <p:sp>
        <p:nvSpPr>
          <p:cNvPr id="37" name="Text 35"/>
          <p:cNvSpPr/>
          <p:nvPr/>
        </p:nvSpPr>
        <p:spPr>
          <a:xfrm>
            <a:off x="9525000" y="6578600"/>
            <a:ext cx="5588000" cy="762000"/>
          </a:xfrm>
          <a:prstGeom prst="rect">
            <a:avLst/>
          </a:prstGeom>
          <a:noFill/>
          <a:ln/>
        </p:spPr>
        <p:txBody>
          <a:bodyPr wrap="square" lIns="0" tIns="0" rIns="0" bIns="0" rtlCol="0" anchor="t"/>
          <a:lstStyle/>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Machine learning-based recommendation engine</a:t>
            </a:r>
            <a:endParaRPr lang="en-US" sz="1600" dirty="0"/>
          </a:p>
        </p:txBody>
      </p:sp>
      <p:sp>
        <p:nvSpPr>
          <p:cNvPr id="38" name="Text 36"/>
          <p:cNvSpPr/>
          <p:nvPr/>
        </p:nvSpPr>
        <p:spPr>
          <a:xfrm>
            <a:off x="9017000" y="7620000"/>
            <a:ext cx="2540000" cy="254000"/>
          </a:xfrm>
          <a:prstGeom prst="rect">
            <a:avLst/>
          </a:prstGeom>
          <a:noFill/>
          <a:ln/>
        </p:spPr>
        <p:txBody>
          <a:bodyPr wrap="none" lIns="0" tIns="0" rIns="0" bIns="0" rtlCol="0" anchor="ctr"/>
          <a:lstStyle/>
          <a:p>
            <a:pPr algn="l">
              <a:lnSpc>
                <a:spcPct val="120000"/>
              </a:lnSpc>
            </a:pPr>
            <a:r>
              <a:rPr lang="en-US" sz="1300" dirty="0">
                <a:solidFill>
                  <a:srgbClr val="C9A227"/>
                </a:solidFill>
                <a:latin typeface="Quattrocento Sans" pitchFamily="34" charset="0"/>
                <a:ea typeface="Quattrocento Sans" pitchFamily="34" charset="-122"/>
                <a:cs typeface="Quattrocento Sans" pitchFamily="34" charset="-120"/>
              </a:rPr>
              <a:t>TECH STACK</a:t>
            </a:r>
            <a:endParaRPr lang="en-US" sz="1300" dirty="0"/>
          </a:p>
        </p:txBody>
      </p:sp>
      <p:sp>
        <p:nvSpPr>
          <p:cNvPr id="39" name="Text 37"/>
          <p:cNvSpPr/>
          <p:nvPr/>
        </p:nvSpPr>
        <p:spPr>
          <a:xfrm>
            <a:off x="9017000" y="7899400"/>
            <a:ext cx="6096000" cy="3810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Python  |  SQLite  |  Power BI  |  Pandas  |  NumPy</a:t>
            </a:r>
            <a:endParaRPr lang="en-US" sz="1600" dirty="0"/>
          </a:p>
        </p:txBody>
      </p:sp>
      <p:sp>
        <p:nvSpPr>
          <p:cNvPr id="40" name="Text 38"/>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03</a:t>
            </a:r>
            <a:endParaRPr lang="en-US" sz="13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DATA SOURCES</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Text 3"/>
          <p:cNvSpPr/>
          <p:nvPr/>
        </p:nvSpPr>
        <p:spPr>
          <a:xfrm>
            <a:off x="762000" y="1651000"/>
            <a:ext cx="3810000" cy="317500"/>
          </a:xfrm>
          <a:prstGeom prst="rect">
            <a:avLst/>
          </a:prstGeom>
          <a:noFill/>
          <a:ln/>
        </p:spPr>
        <p:txBody>
          <a:bodyPr wrap="none" lIns="0" tIns="0" rIns="0" bIns="0" rtlCol="0" anchor="ctr"/>
          <a:lstStyle/>
          <a:p>
            <a:pPr algn="l">
              <a:lnSpc>
                <a:spcPct val="120000"/>
              </a:lnSpc>
            </a:pPr>
            <a:r>
              <a:rPr lang="en-US" sz="1400" spc="200" kern="0" dirty="0">
                <a:solidFill>
                  <a:srgbClr val="5A6577"/>
                </a:solidFill>
                <a:latin typeface="Liter" pitchFamily="34" charset="0"/>
                <a:ea typeface="Liter" pitchFamily="34" charset="-122"/>
                <a:cs typeface="Liter" pitchFamily="34" charset="-120"/>
              </a:rPr>
              <a:t>DATASETS USED</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2057400"/>
          <a:ext cx="8890000" cy="3556000"/>
        </p:xfrm>
        <a:graphic>
          <a:graphicData uri="http://schemas.openxmlformats.org/drawingml/2006/table">
            <a:tbl>
              <a:tblPr/>
              <a:tblGrid>
                <a:gridCol w="3111500"/>
                <a:gridCol w="5778500"/>
              </a:tblGrid>
              <a:tr h="711200">
                <a:tc>
                  <a:txBody>
                    <a:bodyPr/>
                    <a:lstStyle/>
                    <a:p>
                      <a:pPr algn="l"/>
                      <a:r>
                        <a:rPr lang="en-US" sz="1600" b="1" dirty="0">
                          <a:solidFill>
                            <a:srgbClr val="FFFFFF"/>
                          </a:solidFill>
                          <a:latin typeface="Quattrocento Sans" pitchFamily="34" charset="0"/>
                          <a:ea typeface="Quattrocento Sans" pitchFamily="34" charset="-122"/>
                          <a:cs typeface="Quattrocento Sans" pitchFamily="34" charset="-120"/>
                        </a:rPr>
                        <a:t>Dataset</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0F1B3D"/>
                    </a:solidFill>
                  </a:tcPr>
                </a:tc>
                <a:tc>
                  <a:txBody>
                    <a:bodyPr/>
                    <a:lstStyle/>
                    <a:p>
                      <a:pPr algn="l"/>
                      <a:r>
                        <a:rPr lang="en-US" sz="1600" b="1" dirty="0">
                          <a:solidFill>
                            <a:srgbClr val="FFFFFF"/>
                          </a:solidFill>
                          <a:latin typeface="Quattrocento Sans" pitchFamily="34" charset="0"/>
                          <a:ea typeface="Quattrocento Sans" pitchFamily="34" charset="-122"/>
                          <a:cs typeface="Quattrocento Sans" pitchFamily="34" charset="-120"/>
                        </a:rPr>
                        <a:t>Description</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0F1B3D"/>
                    </a:solidFill>
                  </a:tcPr>
                </a:tc>
              </a:tr>
              <a:tr h="711200">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NAV Historical Data</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FFFFF"/>
                    </a:solidFill>
                  </a:tcPr>
                </a:tc>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Daily Net Asset Values for all tracked mutual funds</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FFFFF"/>
                    </a:solidFill>
                  </a:tcPr>
                </a:tc>
              </a:tr>
              <a:tr h="711200">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Fund Performance Data</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8F7F4"/>
                    </a:solidFill>
                  </a:tcPr>
                </a:tc>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Returns across 1Y, 3Y, 5Y, and since-inception periods</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8F7F4"/>
                    </a:solidFill>
                  </a:tcPr>
                </a:tc>
              </a:tr>
              <a:tr h="711200">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Fund Scorecard Data</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FFFFF"/>
                    </a:solidFill>
                  </a:tcPr>
                </a:tc>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Composite risk-return scores for fund ranking</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FFFFF"/>
                    </a:solidFill>
                  </a:tcPr>
                </a:tc>
              </a:tr>
              <a:tr h="711200">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Alpha &amp; Beta Data</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8F7F4"/>
                    </a:solidFill>
                  </a:tcPr>
                </a:tc>
                <a:tc>
                  <a:txBody>
                    <a:bodyPr/>
                    <a:lstStyle/>
                    <a:p>
                      <a:pPr algn="l"/>
                      <a:r>
                        <a:rPr lang="en-US" sz="1600" dirty="0">
                          <a:solidFill>
                            <a:srgbClr val="1C1C1E"/>
                          </a:solidFill>
                          <a:latin typeface="Quattrocento Sans" pitchFamily="34" charset="0"/>
                          <a:ea typeface="Quattrocento Sans" pitchFamily="34" charset="-122"/>
                          <a:cs typeface="Quattrocento Sans" pitchFamily="34" charset="-120"/>
                        </a:rPr>
                        <a:t>Systematic risk measures vs benchmark indices</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DD6"/>
                      </a:solidFill>
                      <a:prstDash val="solid"/>
                      <a:round/>
                      <a:headEnd type="none" w="med" len="med"/>
                      <a:tailEnd type="none" w="med" len="med"/>
                    </a:lnL>
                    <a:lnR w="12700" cap="flat" cmpd="sng" algn="ctr">
                      <a:solidFill>
                        <a:srgbClr val="E0DDD6"/>
                      </a:solidFill>
                      <a:prstDash val="solid"/>
                      <a:round/>
                      <a:headEnd type="none" w="med" len="med"/>
                      <a:tailEnd type="none" w="med" len="med"/>
                    </a:lnR>
                    <a:lnT w="12700" cap="flat" cmpd="sng" algn="ctr">
                      <a:solidFill>
                        <a:srgbClr val="E0DDD6"/>
                      </a:solidFill>
                      <a:prstDash val="solid"/>
                      <a:round/>
                      <a:headEnd type="none" w="med" len="med"/>
                      <a:tailEnd type="none" w="med" len="med"/>
                    </a:lnT>
                    <a:lnB w="12700" cap="flat" cmpd="sng" algn="ctr">
                      <a:solidFill>
                        <a:srgbClr val="E0DDD6"/>
                      </a:solidFill>
                      <a:prstDash val="solid"/>
                      <a:round/>
                      <a:headEnd type="none" w="med" len="med"/>
                      <a:tailEnd type="none" w="med" len="med"/>
                    </a:lnB>
                    <a:solidFill>
                      <a:srgbClr val="F8F7F4"/>
                    </a:solidFill>
                  </a:tcPr>
                </a:tc>
              </a:tr>
            </a:tbl>
          </a:graphicData>
        </a:graphic>
      </p:graphicFrame>
      <p:sp>
        <p:nvSpPr>
          <p:cNvPr id="7" name="Shape 4"/>
          <p:cNvSpPr/>
          <p:nvPr/>
        </p:nvSpPr>
        <p:spPr>
          <a:xfrm>
            <a:off x="762000" y="5867400"/>
            <a:ext cx="8890000" cy="711200"/>
          </a:xfrm>
          <a:prstGeom prst="rect">
            <a:avLst/>
          </a:prstGeom>
          <a:solidFill>
            <a:srgbClr val="FFFFFF"/>
          </a:solidFill>
          <a:ln w="12700">
            <a:solidFill>
              <a:srgbClr val="E0DDD6"/>
            </a:solidFill>
            <a:prstDash val="solid"/>
          </a:ln>
        </p:spPr>
      </p:sp>
      <p:sp>
        <p:nvSpPr>
          <p:cNvPr id="8" name="Text 5"/>
          <p:cNvSpPr/>
          <p:nvPr/>
        </p:nvSpPr>
        <p:spPr>
          <a:xfrm>
            <a:off x="952500" y="5867400"/>
            <a:ext cx="2921000" cy="711200"/>
          </a:xfrm>
          <a:prstGeom prst="rect">
            <a:avLst/>
          </a:prstGeom>
          <a:noFill/>
          <a:ln/>
        </p:spPr>
        <p:txBody>
          <a:bodyPr wrap="none" lIns="0" tIns="0" rIns="0" bIns="0" rtlCol="0" anchor="ctr"/>
          <a:lstStyle/>
          <a:p>
            <a:pPr algn="l">
              <a:lnSpc>
                <a:spcPct val="120000"/>
              </a:lnSpc>
            </a:pPr>
            <a:r>
              <a:rPr lang="en-US" sz="1600" b="1" dirty="0">
                <a:solidFill>
                  <a:srgbClr val="0F1B3D"/>
                </a:solidFill>
                <a:latin typeface="Quattrocento Sans" pitchFamily="34" charset="0"/>
                <a:ea typeface="Quattrocento Sans" pitchFamily="34" charset="-122"/>
                <a:cs typeface="Quattrocento Sans" pitchFamily="34" charset="-120"/>
              </a:rPr>
              <a:t>SIP Trends Data</a:t>
            </a:r>
            <a:endParaRPr lang="en-US" sz="1600" dirty="0"/>
          </a:p>
        </p:txBody>
      </p:sp>
      <p:sp>
        <p:nvSpPr>
          <p:cNvPr id="9" name="Text 6"/>
          <p:cNvSpPr/>
          <p:nvPr/>
        </p:nvSpPr>
        <p:spPr>
          <a:xfrm>
            <a:off x="3937000" y="5969000"/>
            <a:ext cx="5524500" cy="508000"/>
          </a:xfrm>
          <a:prstGeom prst="rect">
            <a:avLst/>
          </a:prstGeom>
          <a:noFill/>
          <a:ln/>
        </p:spPr>
        <p:txBody>
          <a:bodyPr wrap="square" lIns="0" tIns="0" rIns="0" bIns="0" rtlCol="0" anchor="ctr"/>
          <a:lstStyle/>
          <a:p>
            <a:pPr algn="l">
              <a:lnSpc>
                <a:spcPct val="120000"/>
              </a:lnSpc>
            </a:pPr>
            <a:r>
              <a:rPr lang="en-US" sz="1600" dirty="0">
                <a:solidFill>
                  <a:srgbClr val="1C1C1E"/>
                </a:solidFill>
                <a:latin typeface="Quattrocento Sans" pitchFamily="34" charset="0"/>
                <a:ea typeface="Quattrocento Sans" pitchFamily="34" charset="-122"/>
                <a:cs typeface="Quattrocento Sans" pitchFamily="34" charset="-120"/>
              </a:rPr>
              <a:t>Monthly SIP inflows and investor participation trends</a:t>
            </a:r>
            <a:endParaRPr lang="en-US" sz="1600" dirty="0"/>
          </a:p>
        </p:txBody>
      </p:sp>
      <p:sp>
        <p:nvSpPr>
          <p:cNvPr id="10" name="Text 7"/>
          <p:cNvSpPr/>
          <p:nvPr/>
        </p:nvSpPr>
        <p:spPr>
          <a:xfrm>
            <a:off x="762000" y="6921500"/>
            <a:ext cx="3810000" cy="317500"/>
          </a:xfrm>
          <a:prstGeom prst="rect">
            <a:avLst/>
          </a:prstGeom>
          <a:noFill/>
          <a:ln/>
        </p:spPr>
        <p:txBody>
          <a:bodyPr wrap="none" lIns="0" tIns="0" rIns="0" bIns="0" rtlCol="0" anchor="ctr"/>
          <a:lstStyle/>
          <a:p>
            <a:pPr algn="l">
              <a:lnSpc>
                <a:spcPct val="120000"/>
              </a:lnSpc>
            </a:pPr>
            <a:r>
              <a:rPr lang="en-US" sz="1400" spc="200" kern="0" dirty="0">
                <a:solidFill>
                  <a:srgbClr val="5A6577"/>
                </a:solidFill>
                <a:latin typeface="Liter" pitchFamily="34" charset="0"/>
                <a:ea typeface="Liter" pitchFamily="34" charset="-122"/>
                <a:cs typeface="Liter" pitchFamily="34" charset="-120"/>
              </a:rPr>
              <a:t>KEY FIELDS</a:t>
            </a:r>
            <a:endParaRPr lang="en-US" sz="1400" dirty="0"/>
          </a:p>
        </p:txBody>
      </p:sp>
      <p:sp>
        <p:nvSpPr>
          <p:cNvPr id="11" name="Shape 8"/>
          <p:cNvSpPr/>
          <p:nvPr/>
        </p:nvSpPr>
        <p:spPr>
          <a:xfrm>
            <a:off x="762000" y="7366000"/>
            <a:ext cx="1905000" cy="571500"/>
          </a:xfrm>
          <a:prstGeom prst="rect">
            <a:avLst/>
          </a:prstGeom>
          <a:solidFill>
            <a:srgbClr val="0F1B3D"/>
          </a:solidFill>
          <a:ln/>
        </p:spPr>
      </p:sp>
      <p:sp>
        <p:nvSpPr>
          <p:cNvPr id="12" name="Text 9"/>
          <p:cNvSpPr/>
          <p:nvPr/>
        </p:nvSpPr>
        <p:spPr>
          <a:xfrm>
            <a:off x="762000" y="7366000"/>
            <a:ext cx="1905000" cy="571500"/>
          </a:xfrm>
          <a:prstGeom prst="rect">
            <a:avLst/>
          </a:prstGeom>
          <a:noFill/>
          <a:ln/>
        </p:spPr>
        <p:txBody>
          <a:bodyPr wrap="none" lIns="0" tIns="0" rIns="0" bIns="0" rtlCol="0" anchor="ctr"/>
          <a:lstStyle/>
          <a:p>
            <a:pPr algn="ctr">
              <a:lnSpc>
                <a:spcPct val="120000"/>
              </a:lnSpc>
            </a:pPr>
            <a:r>
              <a:rPr lang="en-US" sz="1500" dirty="0">
                <a:solidFill>
                  <a:srgbClr val="FFFFFF"/>
                </a:solidFill>
                <a:latin typeface="Quattrocento Sans" pitchFamily="34" charset="0"/>
                <a:ea typeface="Quattrocento Sans" pitchFamily="34" charset="-122"/>
                <a:cs typeface="Quattrocento Sans" pitchFamily="34" charset="-120"/>
              </a:rPr>
              <a:t>AMFI Code</a:t>
            </a:r>
            <a:endParaRPr lang="en-US" sz="1500" dirty="0"/>
          </a:p>
        </p:txBody>
      </p:sp>
      <p:sp>
        <p:nvSpPr>
          <p:cNvPr id="13" name="Shape 10"/>
          <p:cNvSpPr/>
          <p:nvPr/>
        </p:nvSpPr>
        <p:spPr>
          <a:xfrm>
            <a:off x="2857500" y="7366000"/>
            <a:ext cx="1270000" cy="571500"/>
          </a:xfrm>
          <a:prstGeom prst="rect">
            <a:avLst/>
          </a:prstGeom>
          <a:solidFill>
            <a:srgbClr val="0F1B3D"/>
          </a:solidFill>
          <a:ln/>
        </p:spPr>
      </p:sp>
      <p:sp>
        <p:nvSpPr>
          <p:cNvPr id="14" name="Text 11"/>
          <p:cNvSpPr/>
          <p:nvPr/>
        </p:nvSpPr>
        <p:spPr>
          <a:xfrm>
            <a:off x="2857500" y="7366000"/>
            <a:ext cx="1270000" cy="571500"/>
          </a:xfrm>
          <a:prstGeom prst="rect">
            <a:avLst/>
          </a:prstGeom>
          <a:noFill/>
          <a:ln/>
        </p:spPr>
        <p:txBody>
          <a:bodyPr wrap="none" lIns="0" tIns="0" rIns="0" bIns="0" rtlCol="0" anchor="ctr"/>
          <a:lstStyle/>
          <a:p>
            <a:pPr algn="ctr">
              <a:lnSpc>
                <a:spcPct val="120000"/>
              </a:lnSpc>
            </a:pPr>
            <a:r>
              <a:rPr lang="en-US" sz="1500" dirty="0">
                <a:solidFill>
                  <a:srgbClr val="FFFFFF"/>
                </a:solidFill>
                <a:latin typeface="Quattrocento Sans" pitchFamily="34" charset="0"/>
                <a:ea typeface="Quattrocento Sans" pitchFamily="34" charset="-122"/>
                <a:cs typeface="Quattrocento Sans" pitchFamily="34" charset="-120"/>
              </a:rPr>
              <a:t>NAV</a:t>
            </a:r>
            <a:endParaRPr lang="en-US" sz="1500" dirty="0"/>
          </a:p>
        </p:txBody>
      </p:sp>
      <p:sp>
        <p:nvSpPr>
          <p:cNvPr id="15" name="Shape 12"/>
          <p:cNvSpPr/>
          <p:nvPr/>
        </p:nvSpPr>
        <p:spPr>
          <a:xfrm>
            <a:off x="4318000" y="7366000"/>
            <a:ext cx="1397000" cy="571500"/>
          </a:xfrm>
          <a:prstGeom prst="rect">
            <a:avLst/>
          </a:prstGeom>
          <a:solidFill>
            <a:srgbClr val="0F1B3D"/>
          </a:solidFill>
          <a:ln/>
        </p:spPr>
      </p:sp>
      <p:sp>
        <p:nvSpPr>
          <p:cNvPr id="16" name="Text 13"/>
          <p:cNvSpPr/>
          <p:nvPr/>
        </p:nvSpPr>
        <p:spPr>
          <a:xfrm>
            <a:off x="4318000" y="7366000"/>
            <a:ext cx="1397000" cy="571500"/>
          </a:xfrm>
          <a:prstGeom prst="rect">
            <a:avLst/>
          </a:prstGeom>
          <a:noFill/>
          <a:ln/>
        </p:spPr>
        <p:txBody>
          <a:bodyPr wrap="none" lIns="0" tIns="0" rIns="0" bIns="0" rtlCol="0" anchor="ctr"/>
          <a:lstStyle/>
          <a:p>
            <a:pPr algn="ctr">
              <a:lnSpc>
                <a:spcPct val="120000"/>
              </a:lnSpc>
            </a:pPr>
            <a:r>
              <a:rPr lang="en-US" sz="1500" dirty="0">
                <a:solidFill>
                  <a:srgbClr val="FFFFFF"/>
                </a:solidFill>
                <a:latin typeface="Quattrocento Sans" pitchFamily="34" charset="0"/>
                <a:ea typeface="Quattrocento Sans" pitchFamily="34" charset="-122"/>
                <a:cs typeface="Quattrocento Sans" pitchFamily="34" charset="-120"/>
              </a:rPr>
              <a:t>Returns</a:t>
            </a:r>
            <a:endParaRPr lang="en-US" sz="1500" dirty="0"/>
          </a:p>
        </p:txBody>
      </p:sp>
      <p:sp>
        <p:nvSpPr>
          <p:cNvPr id="17" name="Shape 14"/>
          <p:cNvSpPr/>
          <p:nvPr/>
        </p:nvSpPr>
        <p:spPr>
          <a:xfrm>
            <a:off x="5905500" y="7366000"/>
            <a:ext cx="1651000" cy="571500"/>
          </a:xfrm>
          <a:prstGeom prst="rect">
            <a:avLst/>
          </a:prstGeom>
          <a:solidFill>
            <a:srgbClr val="0F1B3D"/>
          </a:solidFill>
          <a:ln/>
        </p:spPr>
      </p:sp>
      <p:sp>
        <p:nvSpPr>
          <p:cNvPr id="18" name="Text 15"/>
          <p:cNvSpPr/>
          <p:nvPr/>
        </p:nvSpPr>
        <p:spPr>
          <a:xfrm>
            <a:off x="5905500" y="7366000"/>
            <a:ext cx="1651000" cy="571500"/>
          </a:xfrm>
          <a:prstGeom prst="rect">
            <a:avLst/>
          </a:prstGeom>
          <a:noFill/>
          <a:ln/>
        </p:spPr>
        <p:txBody>
          <a:bodyPr wrap="none" lIns="0" tIns="0" rIns="0" bIns="0" rtlCol="0" anchor="ctr"/>
          <a:lstStyle/>
          <a:p>
            <a:pPr algn="ctr">
              <a:lnSpc>
                <a:spcPct val="120000"/>
              </a:lnSpc>
            </a:pPr>
            <a:r>
              <a:rPr lang="en-US" sz="1500" dirty="0">
                <a:solidFill>
                  <a:srgbClr val="FFFFFF"/>
                </a:solidFill>
                <a:latin typeface="Quattrocento Sans" pitchFamily="34" charset="0"/>
                <a:ea typeface="Quattrocento Sans" pitchFamily="34" charset="-122"/>
                <a:cs typeface="Quattrocento Sans" pitchFamily="34" charset="-120"/>
              </a:rPr>
              <a:t>Risk Metrics</a:t>
            </a:r>
            <a:endParaRPr lang="en-US" sz="1500" dirty="0"/>
          </a:p>
        </p:txBody>
      </p:sp>
      <p:sp>
        <p:nvSpPr>
          <p:cNvPr id="19" name="Shape 16"/>
          <p:cNvSpPr/>
          <p:nvPr/>
        </p:nvSpPr>
        <p:spPr>
          <a:xfrm>
            <a:off x="7747000" y="7366000"/>
            <a:ext cx="1270000" cy="571500"/>
          </a:xfrm>
          <a:prstGeom prst="rect">
            <a:avLst/>
          </a:prstGeom>
          <a:solidFill>
            <a:srgbClr val="0F1B3D"/>
          </a:solidFill>
          <a:ln/>
        </p:spPr>
      </p:sp>
      <p:sp>
        <p:nvSpPr>
          <p:cNvPr id="20" name="Text 17"/>
          <p:cNvSpPr/>
          <p:nvPr/>
        </p:nvSpPr>
        <p:spPr>
          <a:xfrm>
            <a:off x="7747000" y="7366000"/>
            <a:ext cx="1270000" cy="571500"/>
          </a:xfrm>
          <a:prstGeom prst="rect">
            <a:avLst/>
          </a:prstGeom>
          <a:noFill/>
          <a:ln/>
        </p:spPr>
        <p:txBody>
          <a:bodyPr wrap="none" lIns="0" tIns="0" rIns="0" bIns="0" rtlCol="0" anchor="ctr"/>
          <a:lstStyle/>
          <a:p>
            <a:pPr algn="ctr">
              <a:lnSpc>
                <a:spcPct val="120000"/>
              </a:lnSpc>
            </a:pPr>
            <a:r>
              <a:rPr lang="en-US" sz="1500" dirty="0">
                <a:solidFill>
                  <a:srgbClr val="FFFFFF"/>
                </a:solidFill>
                <a:latin typeface="Quattrocento Sans" pitchFamily="34" charset="0"/>
                <a:ea typeface="Quattrocento Sans" pitchFamily="34" charset="-122"/>
                <a:cs typeface="Quattrocento Sans" pitchFamily="34" charset="-120"/>
              </a:rPr>
              <a:t>AUM</a:t>
            </a:r>
            <a:endParaRPr lang="en-US" sz="1500" dirty="0"/>
          </a:p>
        </p:txBody>
      </p:sp>
      <p:sp>
        <p:nvSpPr>
          <p:cNvPr id="21" name="Shape 18"/>
          <p:cNvSpPr/>
          <p:nvPr/>
        </p:nvSpPr>
        <p:spPr>
          <a:xfrm>
            <a:off x="9017000" y="7366000"/>
            <a:ext cx="1270000" cy="571500"/>
          </a:xfrm>
          <a:prstGeom prst="rect">
            <a:avLst/>
          </a:prstGeom>
          <a:solidFill>
            <a:srgbClr val="C9A227"/>
          </a:solidFill>
          <a:ln/>
        </p:spPr>
      </p:sp>
      <p:sp>
        <p:nvSpPr>
          <p:cNvPr id="22" name="Text 19"/>
          <p:cNvSpPr/>
          <p:nvPr/>
        </p:nvSpPr>
        <p:spPr>
          <a:xfrm>
            <a:off x="9017000" y="7366000"/>
            <a:ext cx="1270000" cy="571500"/>
          </a:xfrm>
          <a:prstGeom prst="rect">
            <a:avLst/>
          </a:prstGeom>
          <a:noFill/>
          <a:ln/>
        </p:spPr>
        <p:txBody>
          <a:bodyPr wrap="none" lIns="0" tIns="0" rIns="0" bIns="0" rtlCol="0" anchor="ctr"/>
          <a:lstStyle/>
          <a:p>
            <a:pPr algn="ctr">
              <a:lnSpc>
                <a:spcPct val="120000"/>
              </a:lnSpc>
            </a:pPr>
            <a:r>
              <a:rPr lang="en-US" sz="1500" dirty="0">
                <a:solidFill>
                  <a:srgbClr val="FFFFFF"/>
                </a:solidFill>
                <a:latin typeface="Quattrocento Sans" pitchFamily="34" charset="0"/>
                <a:ea typeface="Quattrocento Sans" pitchFamily="34" charset="-122"/>
                <a:cs typeface="Quattrocento Sans" pitchFamily="34" charset="-120"/>
              </a:rPr>
              <a:t>SIP Inflows</a:t>
            </a:r>
            <a:endParaRPr lang="en-US" sz="1500" dirty="0"/>
          </a:p>
        </p:txBody>
      </p:sp>
      <p:sp>
        <p:nvSpPr>
          <p:cNvPr id="23" name="Shape 20"/>
          <p:cNvSpPr/>
          <p:nvPr/>
        </p:nvSpPr>
        <p:spPr>
          <a:xfrm>
            <a:off x="10414000" y="1651000"/>
            <a:ext cx="5080000" cy="5588000"/>
          </a:xfrm>
          <a:prstGeom prst="rect">
            <a:avLst/>
          </a:prstGeom>
          <a:solidFill>
            <a:srgbClr val="0F1B3D"/>
          </a:solidFill>
          <a:ln/>
        </p:spPr>
      </p:sp>
      <p:sp>
        <p:nvSpPr>
          <p:cNvPr id="24" name="Text 21"/>
          <p:cNvSpPr/>
          <p:nvPr/>
        </p:nvSpPr>
        <p:spPr>
          <a:xfrm>
            <a:off x="10795000" y="1968500"/>
            <a:ext cx="4318000" cy="381000"/>
          </a:xfrm>
          <a:prstGeom prst="rect">
            <a:avLst/>
          </a:prstGeom>
          <a:noFill/>
          <a:ln/>
        </p:spPr>
        <p:txBody>
          <a:bodyPr wrap="none" lIns="0" tIns="0" rIns="0" bIns="0" rtlCol="0" anchor="ctr"/>
          <a:lstStyle/>
          <a:p>
            <a:pPr algn="l">
              <a:lnSpc>
                <a:spcPct val="120000"/>
              </a:lnSpc>
            </a:pPr>
            <a:r>
              <a:rPr lang="en-US" sz="1800" spc="200" kern="0" dirty="0">
                <a:solidFill>
                  <a:srgbClr val="C9A227"/>
                </a:solidFill>
                <a:latin typeface="Liter" pitchFamily="34" charset="0"/>
                <a:ea typeface="Liter" pitchFamily="34" charset="-122"/>
                <a:cs typeface="Liter" pitchFamily="34" charset="-120"/>
              </a:rPr>
              <a:t>DATA COVERAGE</a:t>
            </a:r>
            <a:endParaRPr lang="en-US" sz="1800" dirty="0"/>
          </a:p>
        </p:txBody>
      </p:sp>
      <p:sp>
        <p:nvSpPr>
          <p:cNvPr id="25" name="Shape 22"/>
          <p:cNvSpPr/>
          <p:nvPr/>
        </p:nvSpPr>
        <p:spPr>
          <a:xfrm>
            <a:off x="10795000" y="2438400"/>
            <a:ext cx="635000" cy="25400"/>
          </a:xfrm>
          <a:prstGeom prst="rect">
            <a:avLst/>
          </a:prstGeom>
          <a:solidFill>
            <a:srgbClr val="C9A227"/>
          </a:solidFill>
          <a:ln/>
        </p:spPr>
      </p:sp>
      <p:sp>
        <p:nvSpPr>
          <p:cNvPr id="26" name="Shape 23"/>
          <p:cNvSpPr/>
          <p:nvPr/>
        </p:nvSpPr>
        <p:spPr>
          <a:xfrm>
            <a:off x="10795000" y="2794000"/>
            <a:ext cx="406400" cy="406400"/>
          </a:xfrm>
          <a:custGeom>
            <a:avLst/>
            <a:gdLst/>
            <a:ahLst/>
            <a:cxnLst/>
            <a:rect l="l" t="t" r="r" b="b"/>
            <a:pathLst>
              <a:path w="406400" h="406400">
                <a:moveTo>
                  <a:pt x="184547" y="4128"/>
                </a:moveTo>
                <a:cubicBezTo>
                  <a:pt x="196374" y="-1349"/>
                  <a:pt x="210026" y="-1349"/>
                  <a:pt x="221853" y="4128"/>
                </a:cubicBezTo>
                <a:lnTo>
                  <a:pt x="395367" y="84296"/>
                </a:lnTo>
                <a:cubicBezTo>
                  <a:pt x="402114" y="87392"/>
                  <a:pt x="406400" y="94139"/>
                  <a:pt x="406400" y="101600"/>
                </a:cubicBezTo>
                <a:cubicBezTo>
                  <a:pt x="406400" y="109061"/>
                  <a:pt x="402114" y="115808"/>
                  <a:pt x="395367" y="118904"/>
                </a:cubicBezTo>
                <a:lnTo>
                  <a:pt x="221853" y="199073"/>
                </a:lnTo>
                <a:cubicBezTo>
                  <a:pt x="210026" y="204549"/>
                  <a:pt x="196374" y="204549"/>
                  <a:pt x="184547" y="199073"/>
                </a:cubicBezTo>
                <a:lnTo>
                  <a:pt x="11033" y="118904"/>
                </a:lnTo>
                <a:cubicBezTo>
                  <a:pt x="4286" y="115729"/>
                  <a:pt x="0" y="108982"/>
                  <a:pt x="0" y="101600"/>
                </a:cubicBezTo>
                <a:cubicBezTo>
                  <a:pt x="0" y="94218"/>
                  <a:pt x="4286" y="87392"/>
                  <a:pt x="11033" y="84296"/>
                </a:cubicBezTo>
                <a:lnTo>
                  <a:pt x="184547" y="4128"/>
                </a:lnTo>
                <a:close/>
                <a:moveTo>
                  <a:pt x="38179" y="173355"/>
                </a:moveTo>
                <a:lnTo>
                  <a:pt x="168593" y="233601"/>
                </a:lnTo>
                <a:cubicBezTo>
                  <a:pt x="190579" y="243761"/>
                  <a:pt x="215900" y="243761"/>
                  <a:pt x="237887" y="233601"/>
                </a:cubicBezTo>
                <a:lnTo>
                  <a:pt x="368300" y="173355"/>
                </a:lnTo>
                <a:lnTo>
                  <a:pt x="395367" y="185896"/>
                </a:lnTo>
                <a:cubicBezTo>
                  <a:pt x="402114" y="188992"/>
                  <a:pt x="406400" y="195739"/>
                  <a:pt x="406400" y="203200"/>
                </a:cubicBezTo>
                <a:cubicBezTo>
                  <a:pt x="406400" y="210661"/>
                  <a:pt x="402114" y="217408"/>
                  <a:pt x="395367" y="220504"/>
                </a:cubicBezTo>
                <a:lnTo>
                  <a:pt x="221853" y="300673"/>
                </a:lnTo>
                <a:cubicBezTo>
                  <a:pt x="210026" y="306149"/>
                  <a:pt x="196374" y="306149"/>
                  <a:pt x="184547" y="300673"/>
                </a:cubicBezTo>
                <a:lnTo>
                  <a:pt x="11033" y="220504"/>
                </a:lnTo>
                <a:cubicBezTo>
                  <a:pt x="4286" y="217329"/>
                  <a:pt x="0" y="210582"/>
                  <a:pt x="0" y="203200"/>
                </a:cubicBezTo>
                <a:cubicBezTo>
                  <a:pt x="0" y="195818"/>
                  <a:pt x="4286" y="188992"/>
                  <a:pt x="11033" y="185896"/>
                </a:cubicBezTo>
                <a:lnTo>
                  <a:pt x="38100" y="173355"/>
                </a:lnTo>
                <a:close/>
                <a:moveTo>
                  <a:pt x="11033" y="287496"/>
                </a:moveTo>
                <a:lnTo>
                  <a:pt x="38100" y="274955"/>
                </a:lnTo>
                <a:lnTo>
                  <a:pt x="168513" y="335201"/>
                </a:lnTo>
                <a:cubicBezTo>
                  <a:pt x="190500" y="345361"/>
                  <a:pt x="215821" y="345361"/>
                  <a:pt x="237808" y="335201"/>
                </a:cubicBezTo>
                <a:lnTo>
                  <a:pt x="368221" y="274955"/>
                </a:lnTo>
                <a:lnTo>
                  <a:pt x="395288" y="287496"/>
                </a:lnTo>
                <a:cubicBezTo>
                  <a:pt x="402034" y="290592"/>
                  <a:pt x="406321" y="297339"/>
                  <a:pt x="406321" y="304800"/>
                </a:cubicBezTo>
                <a:cubicBezTo>
                  <a:pt x="406321" y="312261"/>
                  <a:pt x="402034" y="319008"/>
                  <a:pt x="395288" y="322104"/>
                </a:cubicBezTo>
                <a:lnTo>
                  <a:pt x="221774" y="402273"/>
                </a:lnTo>
                <a:cubicBezTo>
                  <a:pt x="209947" y="407749"/>
                  <a:pt x="196294" y="407749"/>
                  <a:pt x="184468" y="402273"/>
                </a:cubicBezTo>
                <a:lnTo>
                  <a:pt x="11033" y="322104"/>
                </a:lnTo>
                <a:cubicBezTo>
                  <a:pt x="4286" y="318929"/>
                  <a:pt x="0" y="312182"/>
                  <a:pt x="0" y="304800"/>
                </a:cubicBezTo>
                <a:cubicBezTo>
                  <a:pt x="0" y="297418"/>
                  <a:pt x="4286" y="290592"/>
                  <a:pt x="11033" y="287496"/>
                </a:cubicBezTo>
                <a:close/>
              </a:path>
            </a:pathLst>
          </a:custGeom>
          <a:solidFill>
            <a:srgbClr val="C9A227"/>
          </a:solidFill>
          <a:ln/>
        </p:spPr>
      </p:sp>
      <p:sp>
        <p:nvSpPr>
          <p:cNvPr id="27" name="Text 24"/>
          <p:cNvSpPr/>
          <p:nvPr/>
        </p:nvSpPr>
        <p:spPr>
          <a:xfrm>
            <a:off x="11366500" y="2768600"/>
            <a:ext cx="3810000" cy="7620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Multiple fund categories: Equity, Debt, Hybrid, and more</a:t>
            </a:r>
            <a:endParaRPr lang="en-US" sz="1500" dirty="0"/>
          </a:p>
        </p:txBody>
      </p:sp>
      <p:sp>
        <p:nvSpPr>
          <p:cNvPr id="28" name="Shape 25"/>
          <p:cNvSpPr/>
          <p:nvPr/>
        </p:nvSpPr>
        <p:spPr>
          <a:xfrm>
            <a:off x="10795000" y="36830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C9A227"/>
          </a:solidFill>
          <a:ln/>
        </p:spPr>
      </p:sp>
      <p:sp>
        <p:nvSpPr>
          <p:cNvPr id="29" name="Text 26"/>
          <p:cNvSpPr/>
          <p:nvPr/>
        </p:nvSpPr>
        <p:spPr>
          <a:xfrm>
            <a:off x="11366500" y="3657600"/>
            <a:ext cx="3810000" cy="7620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Historical trends spanning multiple market cycles</a:t>
            </a:r>
            <a:endParaRPr lang="en-US" sz="1500" dirty="0"/>
          </a:p>
        </p:txBody>
      </p:sp>
      <p:sp>
        <p:nvSpPr>
          <p:cNvPr id="30" name="Shape 27"/>
          <p:cNvSpPr/>
          <p:nvPr/>
        </p:nvSpPr>
        <p:spPr>
          <a:xfrm>
            <a:off x="10795000" y="4572000"/>
            <a:ext cx="406400" cy="406400"/>
          </a:xfrm>
          <a:custGeom>
            <a:avLst/>
            <a:gdLst/>
            <a:ahLst/>
            <a:cxnLst/>
            <a:rect l="l" t="t" r="r" b="b"/>
            <a:pathLst>
              <a:path w="406400" h="406400">
                <a:moveTo>
                  <a:pt x="203200" y="12700"/>
                </a:moveTo>
                <a:cubicBezTo>
                  <a:pt x="239648" y="12700"/>
                  <a:pt x="269240" y="49689"/>
                  <a:pt x="269240" y="95250"/>
                </a:cubicBezTo>
                <a:cubicBezTo>
                  <a:pt x="269240" y="140811"/>
                  <a:pt x="239648" y="177800"/>
                  <a:pt x="203200" y="177800"/>
                </a:cubicBezTo>
                <a:cubicBezTo>
                  <a:pt x="166752" y="177800"/>
                  <a:pt x="137160" y="140811"/>
                  <a:pt x="137160" y="95250"/>
                </a:cubicBezTo>
                <a:cubicBezTo>
                  <a:pt x="137160" y="49689"/>
                  <a:pt x="166752" y="12700"/>
                  <a:pt x="203200" y="12700"/>
                </a:cubicBezTo>
                <a:close/>
                <a:moveTo>
                  <a:pt x="60960" y="69850"/>
                </a:moveTo>
                <a:cubicBezTo>
                  <a:pt x="86194" y="69850"/>
                  <a:pt x="106680" y="95458"/>
                  <a:pt x="106680" y="127000"/>
                </a:cubicBezTo>
                <a:cubicBezTo>
                  <a:pt x="106680" y="158542"/>
                  <a:pt x="86194" y="184150"/>
                  <a:pt x="60960" y="184150"/>
                </a:cubicBezTo>
                <a:cubicBezTo>
                  <a:pt x="35726" y="184150"/>
                  <a:pt x="15240" y="158542"/>
                  <a:pt x="15240" y="127000"/>
                </a:cubicBezTo>
                <a:cubicBezTo>
                  <a:pt x="15240" y="95458"/>
                  <a:pt x="35726" y="69850"/>
                  <a:pt x="60960" y="69850"/>
                </a:cubicBezTo>
                <a:close/>
                <a:moveTo>
                  <a:pt x="0" y="330200"/>
                </a:moveTo>
                <a:cubicBezTo>
                  <a:pt x="0" y="274082"/>
                  <a:pt x="36386" y="228600"/>
                  <a:pt x="81280" y="228600"/>
                </a:cubicBezTo>
                <a:cubicBezTo>
                  <a:pt x="89408" y="228600"/>
                  <a:pt x="97282" y="230108"/>
                  <a:pt x="104712" y="232886"/>
                </a:cubicBezTo>
                <a:cubicBezTo>
                  <a:pt x="83820" y="262096"/>
                  <a:pt x="71120" y="300672"/>
                  <a:pt x="71120" y="342900"/>
                </a:cubicBezTo>
                <a:lnTo>
                  <a:pt x="71120" y="355600"/>
                </a:lnTo>
                <a:cubicBezTo>
                  <a:pt x="71120" y="364649"/>
                  <a:pt x="72644" y="373221"/>
                  <a:pt x="75375" y="381000"/>
                </a:cubicBezTo>
                <a:lnTo>
                  <a:pt x="20320" y="381000"/>
                </a:lnTo>
                <a:cubicBezTo>
                  <a:pt x="9081" y="381000"/>
                  <a:pt x="0" y="369649"/>
                  <a:pt x="0" y="355600"/>
                </a:cubicBezTo>
                <a:lnTo>
                  <a:pt x="0" y="330200"/>
                </a:lnTo>
                <a:close/>
                <a:moveTo>
                  <a:pt x="331026" y="381000"/>
                </a:moveTo>
                <a:cubicBezTo>
                  <a:pt x="333756" y="373221"/>
                  <a:pt x="335280" y="364649"/>
                  <a:pt x="335280" y="355600"/>
                </a:cubicBezTo>
                <a:lnTo>
                  <a:pt x="335280" y="342900"/>
                </a:lnTo>
                <a:cubicBezTo>
                  <a:pt x="335280" y="300673"/>
                  <a:pt x="322580" y="262096"/>
                  <a:pt x="301689" y="232886"/>
                </a:cubicBezTo>
                <a:cubicBezTo>
                  <a:pt x="309118" y="230108"/>
                  <a:pt x="316992" y="228600"/>
                  <a:pt x="325120" y="228600"/>
                </a:cubicBezTo>
                <a:cubicBezTo>
                  <a:pt x="370015" y="228600"/>
                  <a:pt x="406400" y="274082"/>
                  <a:pt x="406400" y="330200"/>
                </a:cubicBezTo>
                <a:lnTo>
                  <a:pt x="406400" y="355600"/>
                </a:lnTo>
                <a:cubicBezTo>
                  <a:pt x="406400" y="369649"/>
                  <a:pt x="397320" y="381000"/>
                  <a:pt x="386080" y="381000"/>
                </a:cubicBezTo>
                <a:lnTo>
                  <a:pt x="331026" y="381000"/>
                </a:lnTo>
                <a:close/>
                <a:moveTo>
                  <a:pt x="299720" y="127000"/>
                </a:moveTo>
                <a:cubicBezTo>
                  <a:pt x="299720" y="95458"/>
                  <a:pt x="320206" y="69850"/>
                  <a:pt x="345440" y="69850"/>
                </a:cubicBezTo>
                <a:cubicBezTo>
                  <a:pt x="370674" y="69850"/>
                  <a:pt x="391160" y="95458"/>
                  <a:pt x="391160" y="127000"/>
                </a:cubicBezTo>
                <a:cubicBezTo>
                  <a:pt x="391160" y="158542"/>
                  <a:pt x="370674" y="184150"/>
                  <a:pt x="345440" y="184150"/>
                </a:cubicBezTo>
                <a:cubicBezTo>
                  <a:pt x="320206" y="184150"/>
                  <a:pt x="299720" y="158542"/>
                  <a:pt x="299720" y="127000"/>
                </a:cubicBezTo>
                <a:close/>
                <a:moveTo>
                  <a:pt x="101600" y="342900"/>
                </a:moveTo>
                <a:cubicBezTo>
                  <a:pt x="101600" y="272733"/>
                  <a:pt x="147066" y="215900"/>
                  <a:pt x="203200" y="215900"/>
                </a:cubicBezTo>
                <a:cubicBezTo>
                  <a:pt x="259334" y="215900"/>
                  <a:pt x="304800" y="272733"/>
                  <a:pt x="304800" y="342900"/>
                </a:cubicBezTo>
                <a:lnTo>
                  <a:pt x="304800" y="355600"/>
                </a:lnTo>
                <a:cubicBezTo>
                  <a:pt x="304800" y="369649"/>
                  <a:pt x="295720" y="381000"/>
                  <a:pt x="284480" y="381000"/>
                </a:cubicBezTo>
                <a:lnTo>
                  <a:pt x="121920" y="381000"/>
                </a:lnTo>
                <a:cubicBezTo>
                  <a:pt x="110681" y="381000"/>
                  <a:pt x="101600" y="369649"/>
                  <a:pt x="101600" y="355600"/>
                </a:cubicBezTo>
                <a:lnTo>
                  <a:pt x="101600" y="342900"/>
                </a:lnTo>
                <a:close/>
              </a:path>
            </a:pathLst>
          </a:custGeom>
          <a:solidFill>
            <a:srgbClr val="C9A227"/>
          </a:solidFill>
          <a:ln/>
        </p:spPr>
      </p:sp>
      <p:sp>
        <p:nvSpPr>
          <p:cNvPr id="31" name="Text 28"/>
          <p:cNvSpPr/>
          <p:nvPr/>
        </p:nvSpPr>
        <p:spPr>
          <a:xfrm>
            <a:off x="11366500" y="4546600"/>
            <a:ext cx="3810000" cy="7620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Investor behavior patterns via SIP flow analysis</a:t>
            </a:r>
            <a:endParaRPr lang="en-US" sz="1500" dirty="0"/>
          </a:p>
        </p:txBody>
      </p:sp>
      <p:sp>
        <p:nvSpPr>
          <p:cNvPr id="32" name="Shape 29"/>
          <p:cNvSpPr/>
          <p:nvPr/>
        </p:nvSpPr>
        <p:spPr>
          <a:xfrm>
            <a:off x="10795000" y="5461000"/>
            <a:ext cx="406400" cy="406400"/>
          </a:xfrm>
          <a:custGeom>
            <a:avLst/>
            <a:gdLst/>
            <a:ahLst/>
            <a:cxnLst/>
            <a:rect l="l" t="t" r="r" b="b"/>
            <a:pathLst>
              <a:path w="406400" h="406400">
                <a:moveTo>
                  <a:pt x="67733" y="0"/>
                </a:moveTo>
                <a:cubicBezTo>
                  <a:pt x="30374" y="0"/>
                  <a:pt x="0" y="22781"/>
                  <a:pt x="0" y="50800"/>
                </a:cubicBezTo>
                <a:lnTo>
                  <a:pt x="0" y="355600"/>
                </a:lnTo>
                <a:cubicBezTo>
                  <a:pt x="0" y="383619"/>
                  <a:pt x="30374" y="406400"/>
                  <a:pt x="67733" y="406400"/>
                </a:cubicBezTo>
                <a:lnTo>
                  <a:pt x="338667" y="406400"/>
                </a:lnTo>
                <a:cubicBezTo>
                  <a:pt x="376026" y="406400"/>
                  <a:pt x="406400" y="383619"/>
                  <a:pt x="406400" y="355600"/>
                </a:cubicBezTo>
                <a:lnTo>
                  <a:pt x="406400" y="50800"/>
                </a:lnTo>
                <a:cubicBezTo>
                  <a:pt x="406400" y="22781"/>
                  <a:pt x="376026" y="0"/>
                  <a:pt x="338667" y="0"/>
                </a:cubicBezTo>
                <a:lnTo>
                  <a:pt x="67733" y="0"/>
                </a:lnTo>
                <a:close/>
                <a:moveTo>
                  <a:pt x="186267" y="279400"/>
                </a:moveTo>
                <a:lnTo>
                  <a:pt x="220133" y="279400"/>
                </a:lnTo>
                <a:cubicBezTo>
                  <a:pt x="238866" y="279400"/>
                  <a:pt x="254000" y="290751"/>
                  <a:pt x="254000" y="304800"/>
                </a:cubicBezTo>
                <a:lnTo>
                  <a:pt x="254000" y="368300"/>
                </a:lnTo>
                <a:lnTo>
                  <a:pt x="152400" y="368300"/>
                </a:lnTo>
                <a:lnTo>
                  <a:pt x="152400" y="304800"/>
                </a:lnTo>
                <a:cubicBezTo>
                  <a:pt x="152400" y="290751"/>
                  <a:pt x="167534" y="279400"/>
                  <a:pt x="186267" y="279400"/>
                </a:cubicBezTo>
                <a:close/>
                <a:moveTo>
                  <a:pt x="101600" y="88900"/>
                </a:moveTo>
                <a:cubicBezTo>
                  <a:pt x="101600" y="81915"/>
                  <a:pt x="109220" y="76200"/>
                  <a:pt x="118533" y="76200"/>
                </a:cubicBezTo>
                <a:lnTo>
                  <a:pt x="152400" y="76200"/>
                </a:lnTo>
                <a:cubicBezTo>
                  <a:pt x="161713" y="76200"/>
                  <a:pt x="169333" y="81915"/>
                  <a:pt x="169333" y="88900"/>
                </a:cubicBezTo>
                <a:lnTo>
                  <a:pt x="169333" y="114300"/>
                </a:lnTo>
                <a:cubicBezTo>
                  <a:pt x="169333" y="121285"/>
                  <a:pt x="161713" y="127000"/>
                  <a:pt x="152400" y="127000"/>
                </a:cubicBezTo>
                <a:lnTo>
                  <a:pt x="118533" y="127000"/>
                </a:lnTo>
                <a:cubicBezTo>
                  <a:pt x="109220" y="127000"/>
                  <a:pt x="101600" y="121285"/>
                  <a:pt x="101600" y="114300"/>
                </a:cubicBezTo>
                <a:lnTo>
                  <a:pt x="101600" y="88900"/>
                </a:lnTo>
                <a:close/>
                <a:moveTo>
                  <a:pt x="254000" y="76200"/>
                </a:moveTo>
                <a:lnTo>
                  <a:pt x="287867" y="76200"/>
                </a:lnTo>
                <a:cubicBezTo>
                  <a:pt x="297180" y="76200"/>
                  <a:pt x="304800" y="81915"/>
                  <a:pt x="304800" y="88900"/>
                </a:cubicBezTo>
                <a:lnTo>
                  <a:pt x="304800" y="114300"/>
                </a:lnTo>
                <a:cubicBezTo>
                  <a:pt x="304800" y="121285"/>
                  <a:pt x="297180" y="127000"/>
                  <a:pt x="287867" y="127000"/>
                </a:cubicBezTo>
                <a:lnTo>
                  <a:pt x="254000" y="127000"/>
                </a:lnTo>
                <a:cubicBezTo>
                  <a:pt x="244687" y="127000"/>
                  <a:pt x="237067" y="121285"/>
                  <a:pt x="237067" y="114300"/>
                </a:cubicBezTo>
                <a:lnTo>
                  <a:pt x="237067" y="88900"/>
                </a:lnTo>
                <a:cubicBezTo>
                  <a:pt x="237067" y="81915"/>
                  <a:pt x="244687" y="76200"/>
                  <a:pt x="254000" y="76200"/>
                </a:cubicBezTo>
                <a:close/>
                <a:moveTo>
                  <a:pt x="101600" y="190500"/>
                </a:moveTo>
                <a:cubicBezTo>
                  <a:pt x="101600" y="183515"/>
                  <a:pt x="109220" y="177800"/>
                  <a:pt x="118533" y="177800"/>
                </a:cubicBezTo>
                <a:lnTo>
                  <a:pt x="152400" y="177800"/>
                </a:lnTo>
                <a:cubicBezTo>
                  <a:pt x="161713" y="177800"/>
                  <a:pt x="169333" y="183515"/>
                  <a:pt x="169333" y="190500"/>
                </a:cubicBezTo>
                <a:lnTo>
                  <a:pt x="169333" y="215900"/>
                </a:lnTo>
                <a:cubicBezTo>
                  <a:pt x="169333" y="222885"/>
                  <a:pt x="161713" y="228600"/>
                  <a:pt x="152400" y="228600"/>
                </a:cubicBezTo>
                <a:lnTo>
                  <a:pt x="118533" y="228600"/>
                </a:lnTo>
                <a:cubicBezTo>
                  <a:pt x="109220" y="228600"/>
                  <a:pt x="101600" y="222885"/>
                  <a:pt x="101600" y="215900"/>
                </a:cubicBezTo>
                <a:lnTo>
                  <a:pt x="101600" y="190500"/>
                </a:lnTo>
                <a:close/>
                <a:moveTo>
                  <a:pt x="254000" y="177800"/>
                </a:moveTo>
                <a:lnTo>
                  <a:pt x="287867" y="177800"/>
                </a:lnTo>
                <a:cubicBezTo>
                  <a:pt x="297180" y="177800"/>
                  <a:pt x="304800" y="183515"/>
                  <a:pt x="304800" y="190500"/>
                </a:cubicBezTo>
                <a:lnTo>
                  <a:pt x="304800" y="215900"/>
                </a:lnTo>
                <a:cubicBezTo>
                  <a:pt x="304800" y="222885"/>
                  <a:pt x="297180" y="228600"/>
                  <a:pt x="287867" y="228600"/>
                </a:cubicBezTo>
                <a:lnTo>
                  <a:pt x="254000" y="228600"/>
                </a:lnTo>
                <a:cubicBezTo>
                  <a:pt x="244687" y="228600"/>
                  <a:pt x="237067" y="222885"/>
                  <a:pt x="237067" y="215900"/>
                </a:cubicBezTo>
                <a:lnTo>
                  <a:pt x="237067" y="190500"/>
                </a:lnTo>
                <a:cubicBezTo>
                  <a:pt x="237067" y="183515"/>
                  <a:pt x="244687" y="177800"/>
                  <a:pt x="254000" y="177800"/>
                </a:cubicBezTo>
                <a:close/>
              </a:path>
            </a:pathLst>
          </a:custGeom>
          <a:solidFill>
            <a:srgbClr val="C9A227"/>
          </a:solidFill>
          <a:ln/>
        </p:spPr>
      </p:sp>
      <p:sp>
        <p:nvSpPr>
          <p:cNvPr id="33" name="Text 30"/>
          <p:cNvSpPr/>
          <p:nvPr/>
        </p:nvSpPr>
        <p:spPr>
          <a:xfrm>
            <a:off x="11366500" y="5435600"/>
            <a:ext cx="3810000" cy="7620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AMC-level aggregation for industry concentration views</a:t>
            </a:r>
            <a:endParaRPr lang="en-US" sz="1500" dirty="0"/>
          </a:p>
        </p:txBody>
      </p:sp>
      <p:sp>
        <p:nvSpPr>
          <p:cNvPr id="34" name="Text 31"/>
          <p:cNvSpPr/>
          <p:nvPr/>
        </p:nvSpPr>
        <p:spPr>
          <a:xfrm>
            <a:off x="10795000" y="6350000"/>
            <a:ext cx="4318000" cy="825500"/>
          </a:xfrm>
          <a:prstGeom prst="rect">
            <a:avLst/>
          </a:prstGeom>
          <a:noFill/>
          <a:ln/>
        </p:spPr>
        <p:txBody>
          <a:bodyPr wrap="square" lIns="0" tIns="0" rIns="0" bIns="0" rtlCol="0" anchor="t"/>
          <a:lstStyle/>
          <a:p>
            <a:pPr algn="l">
              <a:lnSpc>
                <a:spcPct val="140000"/>
              </a:lnSpc>
            </a:pPr>
            <a:r>
              <a:rPr lang="en-US" sz="2000" dirty="0">
                <a:solidFill>
                  <a:srgbClr val="C9A227"/>
                </a:solidFill>
                <a:latin typeface="Liter" pitchFamily="34" charset="0"/>
                <a:ea typeface="Liter" pitchFamily="34" charset="-122"/>
                <a:cs typeface="Liter" pitchFamily="34" charset="-120"/>
              </a:rPr>
              <a:t>5</a:t>
            </a:r>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  Core Datasets</a:t>
            </a:r>
            <a:endParaRPr lang="en-US" sz="2000" dirty="0"/>
          </a:p>
          <a:p>
            <a:pPr algn="l">
              <a:lnSpc>
                <a:spcPct val="140000"/>
              </a:lnSpc>
            </a:pPr>
            <a:r>
              <a:rPr lang="en-US" sz="2000" dirty="0">
                <a:solidFill>
                  <a:srgbClr val="C9A227"/>
                </a:solidFill>
                <a:latin typeface="Liter" pitchFamily="34" charset="0"/>
                <a:ea typeface="Liter" pitchFamily="34" charset="-122"/>
                <a:cs typeface="Liter" pitchFamily="34" charset="-120"/>
              </a:rPr>
              <a:t>6</a:t>
            </a:r>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  Key Analytical Fields</a:t>
            </a:r>
            <a:endParaRPr lang="en-US" sz="2000" dirty="0"/>
          </a:p>
        </p:txBody>
      </p:sp>
      <p:sp>
        <p:nvSpPr>
          <p:cNvPr id="35" name="Text 32"/>
          <p:cNvSpPr/>
          <p:nvPr/>
        </p:nvSpPr>
        <p:spPr>
          <a:xfrm>
            <a:off x="14986000" y="8699500"/>
            <a:ext cx="762000" cy="254000"/>
          </a:xfrm>
          <a:prstGeom prst="rect">
            <a:avLst/>
          </a:prstGeom>
          <a:noFill/>
          <a:ln/>
        </p:spPr>
        <p:txBody>
          <a:bodyPr wrap="none" lIns="0" tIns="0" rIns="0" bIns="0" rtlCol="0" anchor="t"/>
          <a:lstStyle/>
          <a:p>
            <a:pPr algn="l">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04</a:t>
            </a:r>
            <a:endParaRPr lang="en-US" sz="13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PROJECT ARCHITECTURE</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778000"/>
            <a:ext cx="14732000" cy="5588000"/>
          </a:xfrm>
          <a:prstGeom prst="rect">
            <a:avLst/>
          </a:prstGeom>
          <a:solidFill>
            <a:srgbClr val="FFFFFF"/>
          </a:solidFill>
          <a:ln w="12700">
            <a:solidFill>
              <a:srgbClr val="E0DDD6"/>
            </a:solidFill>
            <a:prstDash val="solid"/>
          </a:ln>
        </p:spPr>
      </p:sp>
      <p:sp>
        <p:nvSpPr>
          <p:cNvPr id="6" name="Shape 4"/>
          <p:cNvSpPr/>
          <p:nvPr/>
        </p:nvSpPr>
        <p:spPr>
          <a:xfrm>
            <a:off x="1270000" y="3175000"/>
            <a:ext cx="1651000" cy="889000"/>
          </a:xfrm>
          <a:prstGeom prst="rect">
            <a:avLst/>
          </a:prstGeom>
          <a:solidFill>
            <a:srgbClr val="0F1B3D"/>
          </a:solidFill>
          <a:ln/>
        </p:spPr>
      </p:sp>
      <p:sp>
        <p:nvSpPr>
          <p:cNvPr id="7" name="Text 5"/>
          <p:cNvSpPr/>
          <p:nvPr/>
        </p:nvSpPr>
        <p:spPr>
          <a:xfrm>
            <a:off x="1270000" y="3175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Raw CSV</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Files</a:t>
            </a:r>
            <a:endParaRPr lang="en-US" sz="1400" dirty="0"/>
          </a:p>
        </p:txBody>
      </p:sp>
      <p:sp>
        <p:nvSpPr>
          <p:cNvPr id="8" name="Shape 6"/>
          <p:cNvSpPr/>
          <p:nvPr/>
        </p:nvSpPr>
        <p:spPr>
          <a:xfrm>
            <a:off x="3048000" y="3492500"/>
            <a:ext cx="635000" cy="0"/>
          </a:xfrm>
          <a:prstGeom prst="straightConnector1">
            <a:avLst/>
          </a:prstGeom>
          <a:noFill/>
          <a:ln w="25400">
            <a:solidFill>
              <a:srgbClr val="C9A227"/>
            </a:solidFill>
            <a:prstDash val="solid"/>
            <a:headEnd type="none"/>
            <a:tailEnd type="arrow"/>
          </a:ln>
        </p:spPr>
      </p:sp>
      <p:sp>
        <p:nvSpPr>
          <p:cNvPr id="9" name="Shape 7"/>
          <p:cNvSpPr/>
          <p:nvPr/>
        </p:nvSpPr>
        <p:spPr>
          <a:xfrm>
            <a:off x="3810000" y="3175000"/>
            <a:ext cx="1651000" cy="889000"/>
          </a:xfrm>
          <a:prstGeom prst="rect">
            <a:avLst/>
          </a:prstGeom>
          <a:solidFill>
            <a:srgbClr val="0F1B3D"/>
          </a:solidFill>
          <a:ln/>
        </p:spPr>
      </p:sp>
      <p:sp>
        <p:nvSpPr>
          <p:cNvPr id="10" name="Text 8"/>
          <p:cNvSpPr/>
          <p:nvPr/>
        </p:nvSpPr>
        <p:spPr>
          <a:xfrm>
            <a:off x="3810000" y="3175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Data</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Cleaning</a:t>
            </a:r>
            <a:endParaRPr lang="en-US" sz="1400" dirty="0"/>
          </a:p>
        </p:txBody>
      </p:sp>
      <p:sp>
        <p:nvSpPr>
          <p:cNvPr id="11" name="Shape 9"/>
          <p:cNvSpPr/>
          <p:nvPr/>
        </p:nvSpPr>
        <p:spPr>
          <a:xfrm>
            <a:off x="5588000" y="3492500"/>
            <a:ext cx="635000" cy="0"/>
          </a:xfrm>
          <a:prstGeom prst="straightConnector1">
            <a:avLst/>
          </a:prstGeom>
          <a:noFill/>
          <a:ln w="25400">
            <a:solidFill>
              <a:srgbClr val="C9A227"/>
            </a:solidFill>
            <a:prstDash val="solid"/>
            <a:headEnd type="none"/>
            <a:tailEnd type="arrow"/>
          </a:ln>
        </p:spPr>
      </p:sp>
      <p:sp>
        <p:nvSpPr>
          <p:cNvPr id="12" name="Shape 10"/>
          <p:cNvSpPr/>
          <p:nvPr/>
        </p:nvSpPr>
        <p:spPr>
          <a:xfrm>
            <a:off x="6350000" y="3175000"/>
            <a:ext cx="1651000" cy="889000"/>
          </a:xfrm>
          <a:prstGeom prst="rect">
            <a:avLst/>
          </a:prstGeom>
          <a:solidFill>
            <a:srgbClr val="C9A227"/>
          </a:solidFill>
          <a:ln/>
        </p:spPr>
      </p:sp>
      <p:sp>
        <p:nvSpPr>
          <p:cNvPr id="13" name="Text 11"/>
          <p:cNvSpPr/>
          <p:nvPr/>
        </p:nvSpPr>
        <p:spPr>
          <a:xfrm>
            <a:off x="6350000" y="3175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SQLite</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Database</a:t>
            </a:r>
            <a:endParaRPr lang="en-US" sz="1400" dirty="0"/>
          </a:p>
        </p:txBody>
      </p:sp>
      <p:sp>
        <p:nvSpPr>
          <p:cNvPr id="14" name="Shape 12"/>
          <p:cNvSpPr/>
          <p:nvPr/>
        </p:nvSpPr>
        <p:spPr>
          <a:xfrm>
            <a:off x="8128000" y="3492500"/>
            <a:ext cx="635000" cy="0"/>
          </a:xfrm>
          <a:prstGeom prst="straightConnector1">
            <a:avLst/>
          </a:prstGeom>
          <a:noFill/>
          <a:ln w="25400">
            <a:solidFill>
              <a:srgbClr val="C9A227"/>
            </a:solidFill>
            <a:prstDash val="solid"/>
            <a:headEnd type="none"/>
            <a:tailEnd type="arrow"/>
          </a:ln>
        </p:spPr>
      </p:sp>
      <p:sp>
        <p:nvSpPr>
          <p:cNvPr id="15" name="Shape 13"/>
          <p:cNvSpPr/>
          <p:nvPr/>
        </p:nvSpPr>
        <p:spPr>
          <a:xfrm>
            <a:off x="8890000" y="3175000"/>
            <a:ext cx="1651000" cy="889000"/>
          </a:xfrm>
          <a:prstGeom prst="rect">
            <a:avLst/>
          </a:prstGeom>
          <a:solidFill>
            <a:srgbClr val="0F1B3D"/>
          </a:solidFill>
          <a:ln/>
        </p:spPr>
      </p:sp>
      <p:sp>
        <p:nvSpPr>
          <p:cNvPr id="16" name="Text 14"/>
          <p:cNvSpPr/>
          <p:nvPr/>
        </p:nvSpPr>
        <p:spPr>
          <a:xfrm>
            <a:off x="8890000" y="3175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EDA</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Analysis</a:t>
            </a:r>
            <a:endParaRPr lang="en-US" sz="1400" dirty="0"/>
          </a:p>
        </p:txBody>
      </p:sp>
      <p:sp>
        <p:nvSpPr>
          <p:cNvPr id="17" name="Shape 15"/>
          <p:cNvSpPr/>
          <p:nvPr/>
        </p:nvSpPr>
        <p:spPr>
          <a:xfrm>
            <a:off x="10668000" y="3492500"/>
            <a:ext cx="635000" cy="0"/>
          </a:xfrm>
          <a:prstGeom prst="straightConnector1">
            <a:avLst/>
          </a:prstGeom>
          <a:noFill/>
          <a:ln w="25400">
            <a:solidFill>
              <a:srgbClr val="C9A227"/>
            </a:solidFill>
            <a:prstDash val="solid"/>
            <a:headEnd type="none"/>
            <a:tailEnd type="arrow"/>
          </a:ln>
        </p:spPr>
      </p:sp>
      <p:sp>
        <p:nvSpPr>
          <p:cNvPr id="18" name="Shape 16"/>
          <p:cNvSpPr/>
          <p:nvPr/>
        </p:nvSpPr>
        <p:spPr>
          <a:xfrm>
            <a:off x="11430000" y="3175000"/>
            <a:ext cx="1651000" cy="889000"/>
          </a:xfrm>
          <a:prstGeom prst="rect">
            <a:avLst/>
          </a:prstGeom>
          <a:solidFill>
            <a:srgbClr val="0F1B3D"/>
          </a:solidFill>
          <a:ln/>
        </p:spPr>
      </p:sp>
      <p:sp>
        <p:nvSpPr>
          <p:cNvPr id="19" name="Text 17"/>
          <p:cNvSpPr/>
          <p:nvPr/>
        </p:nvSpPr>
        <p:spPr>
          <a:xfrm>
            <a:off x="11430000" y="3175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Performance</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Analytics</a:t>
            </a:r>
            <a:endParaRPr lang="en-US" sz="1400" dirty="0"/>
          </a:p>
        </p:txBody>
      </p:sp>
      <p:sp>
        <p:nvSpPr>
          <p:cNvPr id="20" name="Shape 18"/>
          <p:cNvSpPr/>
          <p:nvPr/>
        </p:nvSpPr>
        <p:spPr>
          <a:xfrm flipV="1">
            <a:off x="10668000" y="4381500"/>
            <a:ext cx="635000" cy="1016000"/>
          </a:xfrm>
          <a:prstGeom prst="straightConnector1">
            <a:avLst/>
          </a:prstGeom>
          <a:noFill/>
          <a:ln w="25400">
            <a:solidFill>
              <a:srgbClr val="C9A227"/>
            </a:solidFill>
            <a:prstDash val="solid"/>
            <a:headEnd type="arrow"/>
            <a:tailEnd type="none"/>
          </a:ln>
        </p:spPr>
      </p:sp>
      <p:sp>
        <p:nvSpPr>
          <p:cNvPr id="21" name="Shape 19"/>
          <p:cNvSpPr/>
          <p:nvPr/>
        </p:nvSpPr>
        <p:spPr>
          <a:xfrm>
            <a:off x="8890000" y="5080000"/>
            <a:ext cx="1651000" cy="889000"/>
          </a:xfrm>
          <a:prstGeom prst="rect">
            <a:avLst/>
          </a:prstGeom>
          <a:solidFill>
            <a:srgbClr val="0F1B3D"/>
          </a:solidFill>
          <a:ln/>
        </p:spPr>
      </p:sp>
      <p:sp>
        <p:nvSpPr>
          <p:cNvPr id="22" name="Text 20"/>
          <p:cNvSpPr/>
          <p:nvPr/>
        </p:nvSpPr>
        <p:spPr>
          <a:xfrm>
            <a:off x="8890000" y="5080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Power BI</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Dashboard</a:t>
            </a:r>
            <a:endParaRPr lang="en-US" sz="1400" dirty="0"/>
          </a:p>
        </p:txBody>
      </p:sp>
      <p:sp>
        <p:nvSpPr>
          <p:cNvPr id="23" name="Shape 21"/>
          <p:cNvSpPr/>
          <p:nvPr/>
        </p:nvSpPr>
        <p:spPr>
          <a:xfrm flipH="1" flipV="1">
            <a:off x="8128000" y="4381500"/>
            <a:ext cx="635000" cy="1016000"/>
          </a:xfrm>
          <a:prstGeom prst="straightConnector1">
            <a:avLst/>
          </a:prstGeom>
          <a:noFill/>
          <a:ln w="25400">
            <a:solidFill>
              <a:srgbClr val="C9A227"/>
            </a:solidFill>
            <a:prstDash val="solid"/>
            <a:headEnd type="none"/>
            <a:tailEnd type="arrow"/>
          </a:ln>
        </p:spPr>
      </p:sp>
      <p:sp>
        <p:nvSpPr>
          <p:cNvPr id="24" name="Shape 22"/>
          <p:cNvSpPr/>
          <p:nvPr/>
        </p:nvSpPr>
        <p:spPr>
          <a:xfrm>
            <a:off x="6350000" y="5080000"/>
            <a:ext cx="1651000" cy="889000"/>
          </a:xfrm>
          <a:prstGeom prst="rect">
            <a:avLst/>
          </a:prstGeom>
          <a:solidFill>
            <a:srgbClr val="0F1B3D"/>
          </a:solidFill>
          <a:ln/>
        </p:spPr>
      </p:sp>
      <p:sp>
        <p:nvSpPr>
          <p:cNvPr id="25" name="Text 23"/>
          <p:cNvSpPr/>
          <p:nvPr/>
        </p:nvSpPr>
        <p:spPr>
          <a:xfrm>
            <a:off x="6350000" y="5080000"/>
            <a:ext cx="1651000" cy="8890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Advanced</a:t>
            </a:r>
            <a:endParaRPr lang="en-US" sz="1400" dirty="0"/>
          </a:p>
          <a:p>
            <a:pPr algn="ctr">
              <a:lnSpc>
                <a:spcPct val="120000"/>
              </a:lnSpc>
            </a:pPr>
            <a:r>
              <a:rPr lang="en-US" sz="1400" b="1" dirty="0">
                <a:solidFill>
                  <a:srgbClr val="FFFFFF"/>
                </a:solidFill>
                <a:latin typeface="Quattrocento Sans" pitchFamily="34" charset="0"/>
                <a:ea typeface="Quattrocento Sans" pitchFamily="34" charset="-122"/>
                <a:cs typeface="Quattrocento Sans" pitchFamily="34" charset="-120"/>
              </a:rPr>
              <a:t>Analytics</a:t>
            </a:r>
            <a:endParaRPr lang="en-US" sz="1400" dirty="0"/>
          </a:p>
        </p:txBody>
      </p:sp>
      <p:sp>
        <p:nvSpPr>
          <p:cNvPr id="26" name="Text 24"/>
          <p:cNvSpPr/>
          <p:nvPr/>
        </p:nvSpPr>
        <p:spPr>
          <a:xfrm>
            <a:off x="1270000" y="41910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5 source datasets</a:t>
            </a:r>
            <a:endParaRPr lang="en-US" sz="1200" dirty="0"/>
          </a:p>
        </p:txBody>
      </p:sp>
      <p:sp>
        <p:nvSpPr>
          <p:cNvPr id="27" name="Text 25"/>
          <p:cNvSpPr/>
          <p:nvPr/>
        </p:nvSpPr>
        <p:spPr>
          <a:xfrm>
            <a:off x="3810000" y="41910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Python + Pandas</a:t>
            </a:r>
            <a:endParaRPr lang="en-US" sz="1200" dirty="0"/>
          </a:p>
        </p:txBody>
      </p:sp>
      <p:sp>
        <p:nvSpPr>
          <p:cNvPr id="28" name="Text 26"/>
          <p:cNvSpPr/>
          <p:nvPr/>
        </p:nvSpPr>
        <p:spPr>
          <a:xfrm>
            <a:off x="6350000" y="41910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Central warehouse</a:t>
            </a:r>
            <a:endParaRPr lang="en-US" sz="1200" dirty="0"/>
          </a:p>
        </p:txBody>
      </p:sp>
      <p:sp>
        <p:nvSpPr>
          <p:cNvPr id="29" name="Text 27"/>
          <p:cNvSpPr/>
          <p:nvPr/>
        </p:nvSpPr>
        <p:spPr>
          <a:xfrm>
            <a:off x="8890000" y="41910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Visualizations</a:t>
            </a:r>
            <a:endParaRPr lang="en-US" sz="1200" dirty="0"/>
          </a:p>
        </p:txBody>
      </p:sp>
      <p:sp>
        <p:nvSpPr>
          <p:cNvPr id="30" name="Text 28"/>
          <p:cNvSpPr/>
          <p:nvPr/>
        </p:nvSpPr>
        <p:spPr>
          <a:xfrm>
            <a:off x="11430000" y="41910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CAGR, Sharpe, etc.</a:t>
            </a:r>
            <a:endParaRPr lang="en-US" sz="1200" dirty="0"/>
          </a:p>
        </p:txBody>
      </p:sp>
      <p:sp>
        <p:nvSpPr>
          <p:cNvPr id="31" name="Text 29"/>
          <p:cNvSpPr/>
          <p:nvPr/>
        </p:nvSpPr>
        <p:spPr>
          <a:xfrm>
            <a:off x="8890000" y="60706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Interactive reports</a:t>
            </a:r>
            <a:endParaRPr lang="en-US" sz="1200" dirty="0"/>
          </a:p>
        </p:txBody>
      </p:sp>
      <p:sp>
        <p:nvSpPr>
          <p:cNvPr id="32" name="Text 30"/>
          <p:cNvSpPr/>
          <p:nvPr/>
        </p:nvSpPr>
        <p:spPr>
          <a:xfrm>
            <a:off x="6350000" y="6070600"/>
            <a:ext cx="1651000" cy="635000"/>
          </a:xfrm>
          <a:prstGeom prst="rect">
            <a:avLst/>
          </a:prstGeom>
          <a:noFill/>
          <a:ln/>
        </p:spPr>
        <p:txBody>
          <a:bodyPr wrap="square" lIns="0" tIns="0" rIns="0" bIns="0" rtlCol="0" anchor="t"/>
          <a:lstStyle/>
          <a:p>
            <a:pPr algn="ctr">
              <a:lnSpc>
                <a:spcPct val="140000"/>
              </a:lnSpc>
            </a:pPr>
            <a:r>
              <a:rPr lang="en-US" sz="1200" dirty="0">
                <a:solidFill>
                  <a:srgbClr val="5A6577"/>
                </a:solidFill>
                <a:latin typeface="Quattrocento Sans" pitchFamily="34" charset="0"/>
                <a:ea typeface="Quattrocento Sans" pitchFamily="34" charset="-122"/>
                <a:cs typeface="Quattrocento Sans" pitchFamily="34" charset="-120"/>
              </a:rPr>
              <a:t>VaR + ML Engine</a:t>
            </a:r>
            <a:endParaRPr lang="en-US" sz="1200" dirty="0"/>
          </a:p>
        </p:txBody>
      </p:sp>
      <p:sp>
        <p:nvSpPr>
          <p:cNvPr id="33" name="Text 31"/>
          <p:cNvSpPr/>
          <p:nvPr/>
        </p:nvSpPr>
        <p:spPr>
          <a:xfrm>
            <a:off x="1270000" y="6858000"/>
            <a:ext cx="12700000" cy="317500"/>
          </a:xfrm>
          <a:prstGeom prst="rect">
            <a:avLst/>
          </a:prstGeom>
          <a:noFill/>
          <a:ln/>
        </p:spPr>
        <p:txBody>
          <a:bodyPr wrap="square" lIns="0" tIns="0" rIns="0" bIns="0" rtlCol="0" anchor="ctr"/>
          <a:lstStyle/>
          <a:p>
            <a:pPr algn="ctr">
              <a:lnSpc>
                <a:spcPct val="120000"/>
              </a:lnSpc>
            </a:pPr>
            <a:r>
              <a:rPr lang="en-US" sz="1400" i="1" dirty="0">
                <a:solidFill>
                  <a:srgbClr val="5A6577"/>
                </a:solidFill>
                <a:latin typeface="Quattrocento Sans" pitchFamily="34" charset="0"/>
                <a:ea typeface="Quattrocento Sans" pitchFamily="34" charset="-122"/>
                <a:cs typeface="Quattrocento Sans" pitchFamily="34" charset="-120"/>
              </a:rPr>
              <a:t>Modular design allows each component to function independently. Python powers backend analytics; Power BI delivers frontend visualization.</a:t>
            </a:r>
            <a:endParaRPr lang="en-US" sz="1400" dirty="0"/>
          </a:p>
        </p:txBody>
      </p:sp>
      <p:sp>
        <p:nvSpPr>
          <p:cNvPr id="34" name="Text 32"/>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05</a:t>
            </a:r>
            <a:endParaRPr lang="en-US" sz="13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EDA HIGHLIGHTS</a:t>
            </a:r>
            <a:endParaRPr lang="en-US" sz="3000" dirty="0"/>
          </a:p>
        </p:txBody>
      </p:sp>
      <p:sp>
        <p:nvSpPr>
          <p:cNvPr id="4" name="Shape 2"/>
          <p:cNvSpPr/>
          <p:nvPr/>
        </p:nvSpPr>
        <p:spPr>
          <a:xfrm>
            <a:off x="762000" y="1397000"/>
            <a:ext cx="1016000" cy="38100"/>
          </a:xfrm>
          <a:prstGeom prst="rect">
            <a:avLst/>
          </a:prstGeom>
          <a:solidFill>
            <a:srgbClr val="C9A227"/>
          </a:solidFill>
          <a:ln/>
        </p:spPr>
      </p:sp>
      <p:graphicFrame>
        <p:nvGraphicFramePr>
          <p:cNvPr id="5" name="Chart 0" descr=""/>
          <p:cNvGraphicFramePr/>
          <p:nvPr/>
        </p:nvGraphicFramePr>
        <p:xfrm>
          <a:off x="762000" y="1778000"/>
          <a:ext cx="7366000" cy="4826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636000" y="1778000"/>
            <a:ext cx="6858000" cy="1371600"/>
          </a:xfrm>
          <a:prstGeom prst="rect">
            <a:avLst/>
          </a:prstGeom>
          <a:solidFill>
            <a:srgbClr val="FFFFFF"/>
          </a:solidFill>
          <a:ln w="12700">
            <a:solidFill>
              <a:srgbClr val="E0DDD6"/>
            </a:solidFill>
            <a:prstDash val="solid"/>
          </a:ln>
        </p:spPr>
      </p:sp>
      <p:sp>
        <p:nvSpPr>
          <p:cNvPr id="7" name="Shape 4"/>
          <p:cNvSpPr/>
          <p:nvPr/>
        </p:nvSpPr>
        <p:spPr>
          <a:xfrm>
            <a:off x="8636000" y="1778000"/>
            <a:ext cx="50800" cy="1371600"/>
          </a:xfrm>
          <a:prstGeom prst="rect">
            <a:avLst/>
          </a:prstGeom>
          <a:solidFill>
            <a:srgbClr val="C9A227"/>
          </a:solidFill>
          <a:ln/>
        </p:spPr>
      </p:sp>
      <p:sp>
        <p:nvSpPr>
          <p:cNvPr id="8" name="Text 5"/>
          <p:cNvSpPr/>
          <p:nvPr/>
        </p:nvSpPr>
        <p:spPr>
          <a:xfrm>
            <a:off x="8890000" y="1905000"/>
            <a:ext cx="6350000" cy="1143000"/>
          </a:xfrm>
          <a:prstGeom prst="rect">
            <a:avLst/>
          </a:prstGeom>
          <a:noFill/>
          <a:ln/>
        </p:spPr>
        <p:txBody>
          <a:bodyPr wrap="square" lIns="0" tIns="0" rIns="0" bIns="0" rtlCol="0" anchor="ctr"/>
          <a:lstStyle/>
          <a:p>
            <a:pPr algn="l">
              <a:lnSpc>
                <a:spcPct val="150000"/>
              </a:lnSpc>
            </a:pPr>
            <a:r>
              <a:rPr lang="en-US" sz="1600" b="1" dirty="0">
                <a:solidFill>
                  <a:srgbClr val="1C1C1E"/>
                </a:solidFill>
                <a:latin typeface="Quattrocento Sans" pitchFamily="34" charset="0"/>
                <a:ea typeface="Quattrocento Sans" pitchFamily="34" charset="-122"/>
                <a:cs typeface="Quattrocento Sans" pitchFamily="34" charset="-120"/>
              </a:rPr>
              <a:t>Long-term NAV Growth</a:t>
            </a:r>
            <a:endParaRPr lang="en-US" sz="1600" dirty="0"/>
          </a:p>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NAV values demonstrated consistent long-term growth across major fund categories</a:t>
            </a:r>
            <a:endParaRPr lang="en-US" sz="1600" dirty="0"/>
          </a:p>
        </p:txBody>
      </p:sp>
      <p:sp>
        <p:nvSpPr>
          <p:cNvPr id="9" name="Shape 6"/>
          <p:cNvSpPr/>
          <p:nvPr/>
        </p:nvSpPr>
        <p:spPr>
          <a:xfrm>
            <a:off x="8636000" y="3340100"/>
            <a:ext cx="6858000" cy="1371600"/>
          </a:xfrm>
          <a:prstGeom prst="rect">
            <a:avLst/>
          </a:prstGeom>
          <a:solidFill>
            <a:srgbClr val="FFFFFF"/>
          </a:solidFill>
          <a:ln w="12700">
            <a:solidFill>
              <a:srgbClr val="E0DDD6"/>
            </a:solidFill>
            <a:prstDash val="solid"/>
          </a:ln>
        </p:spPr>
      </p:sp>
      <p:sp>
        <p:nvSpPr>
          <p:cNvPr id="10" name="Shape 7"/>
          <p:cNvSpPr/>
          <p:nvPr/>
        </p:nvSpPr>
        <p:spPr>
          <a:xfrm>
            <a:off x="8636000" y="3340100"/>
            <a:ext cx="50800" cy="1371600"/>
          </a:xfrm>
          <a:prstGeom prst="rect">
            <a:avLst/>
          </a:prstGeom>
          <a:solidFill>
            <a:srgbClr val="C9A227"/>
          </a:solidFill>
          <a:ln/>
        </p:spPr>
      </p:sp>
      <p:sp>
        <p:nvSpPr>
          <p:cNvPr id="11" name="Text 8"/>
          <p:cNvSpPr/>
          <p:nvPr/>
        </p:nvSpPr>
        <p:spPr>
          <a:xfrm>
            <a:off x="8890000" y="3467100"/>
            <a:ext cx="6350000" cy="1143000"/>
          </a:xfrm>
          <a:prstGeom prst="rect">
            <a:avLst/>
          </a:prstGeom>
          <a:noFill/>
          <a:ln/>
        </p:spPr>
        <p:txBody>
          <a:bodyPr wrap="square" lIns="0" tIns="0" rIns="0" bIns="0" rtlCol="0" anchor="ctr"/>
          <a:lstStyle/>
          <a:p>
            <a:pPr algn="l">
              <a:lnSpc>
                <a:spcPct val="150000"/>
              </a:lnSpc>
            </a:pPr>
            <a:r>
              <a:rPr lang="en-US" sz="1600" b="1" dirty="0">
                <a:solidFill>
                  <a:srgbClr val="1C1C1E"/>
                </a:solidFill>
                <a:latin typeface="Quattrocento Sans" pitchFamily="34" charset="0"/>
                <a:ea typeface="Quattrocento Sans" pitchFamily="34" charset="-122"/>
                <a:cs typeface="Quattrocento Sans" pitchFamily="34" charset="-120"/>
              </a:rPr>
              <a:t>Equity Outperformance</a:t>
            </a:r>
            <a:endParaRPr lang="en-US" sz="1600" dirty="0"/>
          </a:p>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Equity funds significantly outperformed conservative categories over the analysis period</a:t>
            </a:r>
            <a:endParaRPr lang="en-US" sz="1600" dirty="0"/>
          </a:p>
        </p:txBody>
      </p:sp>
      <p:sp>
        <p:nvSpPr>
          <p:cNvPr id="12" name="Shape 9"/>
          <p:cNvSpPr/>
          <p:nvPr/>
        </p:nvSpPr>
        <p:spPr>
          <a:xfrm>
            <a:off x="8636000" y="4902200"/>
            <a:ext cx="6858000" cy="1371600"/>
          </a:xfrm>
          <a:prstGeom prst="rect">
            <a:avLst/>
          </a:prstGeom>
          <a:solidFill>
            <a:srgbClr val="FFFFFF"/>
          </a:solidFill>
          <a:ln w="12700">
            <a:solidFill>
              <a:srgbClr val="E0DDD6"/>
            </a:solidFill>
            <a:prstDash val="solid"/>
          </a:ln>
        </p:spPr>
      </p:sp>
      <p:sp>
        <p:nvSpPr>
          <p:cNvPr id="13" name="Shape 10"/>
          <p:cNvSpPr/>
          <p:nvPr/>
        </p:nvSpPr>
        <p:spPr>
          <a:xfrm>
            <a:off x="8636000" y="4902200"/>
            <a:ext cx="50800" cy="1371600"/>
          </a:xfrm>
          <a:prstGeom prst="rect">
            <a:avLst/>
          </a:prstGeom>
          <a:solidFill>
            <a:srgbClr val="C9A227"/>
          </a:solidFill>
          <a:ln/>
        </p:spPr>
      </p:sp>
      <p:sp>
        <p:nvSpPr>
          <p:cNvPr id="14" name="Text 11"/>
          <p:cNvSpPr/>
          <p:nvPr/>
        </p:nvSpPr>
        <p:spPr>
          <a:xfrm>
            <a:off x="8890000" y="5029200"/>
            <a:ext cx="6350000" cy="1143000"/>
          </a:xfrm>
          <a:prstGeom prst="rect">
            <a:avLst/>
          </a:prstGeom>
          <a:noFill/>
          <a:ln/>
        </p:spPr>
        <p:txBody>
          <a:bodyPr wrap="square" lIns="0" tIns="0" rIns="0" bIns="0" rtlCol="0" anchor="ctr"/>
          <a:lstStyle/>
          <a:p>
            <a:pPr algn="l">
              <a:lnSpc>
                <a:spcPct val="150000"/>
              </a:lnSpc>
            </a:pPr>
            <a:r>
              <a:rPr lang="en-US" sz="1600" b="1" dirty="0">
                <a:solidFill>
                  <a:srgbClr val="1C1C1E"/>
                </a:solidFill>
                <a:latin typeface="Quattrocento Sans" pitchFamily="34" charset="0"/>
                <a:ea typeface="Quattrocento Sans" pitchFamily="34" charset="-122"/>
                <a:cs typeface="Quattrocento Sans" pitchFamily="34" charset="-120"/>
              </a:rPr>
              <a:t>Volatility Patterns</a:t>
            </a:r>
            <a:endParaRPr lang="en-US" sz="1600" dirty="0"/>
          </a:p>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Certain funds displayed higher volatility, warranting closer risk examination</a:t>
            </a:r>
            <a:endParaRPr lang="en-US" sz="1600" dirty="0"/>
          </a:p>
        </p:txBody>
      </p:sp>
      <p:sp>
        <p:nvSpPr>
          <p:cNvPr id="15" name="Shape 12"/>
          <p:cNvSpPr/>
          <p:nvPr/>
        </p:nvSpPr>
        <p:spPr>
          <a:xfrm>
            <a:off x="8636000" y="6464300"/>
            <a:ext cx="6858000" cy="1371600"/>
          </a:xfrm>
          <a:prstGeom prst="rect">
            <a:avLst/>
          </a:prstGeom>
          <a:solidFill>
            <a:srgbClr val="FFFFFF"/>
          </a:solidFill>
          <a:ln w="12700">
            <a:solidFill>
              <a:srgbClr val="E0DDD6"/>
            </a:solidFill>
            <a:prstDash val="solid"/>
          </a:ln>
        </p:spPr>
      </p:sp>
      <p:sp>
        <p:nvSpPr>
          <p:cNvPr id="16" name="Shape 13"/>
          <p:cNvSpPr/>
          <p:nvPr/>
        </p:nvSpPr>
        <p:spPr>
          <a:xfrm>
            <a:off x="8636000" y="6464300"/>
            <a:ext cx="50800" cy="1371600"/>
          </a:xfrm>
          <a:prstGeom prst="rect">
            <a:avLst/>
          </a:prstGeom>
          <a:solidFill>
            <a:srgbClr val="C9A227"/>
          </a:solidFill>
          <a:ln/>
        </p:spPr>
      </p:sp>
      <p:sp>
        <p:nvSpPr>
          <p:cNvPr id="17" name="Text 14"/>
          <p:cNvSpPr/>
          <p:nvPr/>
        </p:nvSpPr>
        <p:spPr>
          <a:xfrm>
            <a:off x="8890000" y="6591300"/>
            <a:ext cx="6350000" cy="1143000"/>
          </a:xfrm>
          <a:prstGeom prst="rect">
            <a:avLst/>
          </a:prstGeom>
          <a:noFill/>
          <a:ln/>
        </p:spPr>
        <p:txBody>
          <a:bodyPr wrap="square" lIns="0" tIns="0" rIns="0" bIns="0" rtlCol="0" anchor="ctr"/>
          <a:lstStyle/>
          <a:p>
            <a:pPr algn="l">
              <a:lnSpc>
                <a:spcPct val="150000"/>
              </a:lnSpc>
            </a:pPr>
            <a:r>
              <a:rPr lang="en-US" sz="1600" b="1" dirty="0">
                <a:solidFill>
                  <a:srgbClr val="1C1C1E"/>
                </a:solidFill>
                <a:latin typeface="Quattrocento Sans" pitchFamily="34" charset="0"/>
                <a:ea typeface="Quattrocento Sans" pitchFamily="34" charset="-122"/>
                <a:cs typeface="Quattrocento Sans" pitchFamily="34" charset="-120"/>
              </a:rPr>
              <a:t>SIP Growth Trend</a:t>
            </a:r>
            <a:endParaRPr lang="en-US" sz="1600" dirty="0"/>
          </a:p>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SIP participation increased consistently, reflecting growing retail investor confidence</a:t>
            </a:r>
            <a:endParaRPr lang="en-US" sz="1600" dirty="0"/>
          </a:p>
        </p:txBody>
      </p:sp>
      <p:sp>
        <p:nvSpPr>
          <p:cNvPr id="18" name="Text 15"/>
          <p:cNvSpPr/>
          <p:nvPr/>
        </p:nvSpPr>
        <p:spPr>
          <a:xfrm>
            <a:off x="762000" y="7937500"/>
            <a:ext cx="14732000" cy="381000"/>
          </a:xfrm>
          <a:prstGeom prst="rect">
            <a:avLst/>
          </a:prstGeom>
          <a:noFill/>
          <a:ln/>
        </p:spPr>
        <p:txBody>
          <a:bodyPr wrap="square" lIns="0" tIns="0" rIns="0" bIns="0" rtlCol="0" anchor="ctr"/>
          <a:lstStyle/>
          <a:p>
            <a:pPr algn="l">
              <a:lnSpc>
                <a:spcPct val="120000"/>
              </a:lnSpc>
            </a:pPr>
            <a:r>
              <a:rPr lang="en-US" sz="1400" i="1" dirty="0">
                <a:solidFill>
                  <a:srgbClr val="5A6577"/>
                </a:solidFill>
                <a:latin typeface="Quattrocento Sans" pitchFamily="34" charset="0"/>
                <a:ea typeface="Quattrocento Sans" pitchFamily="34" charset="-122"/>
                <a:cs typeface="Quattrocento Sans" pitchFamily="34" charset="-120"/>
              </a:rPr>
              <a:t>EDA formed the foundation for all downstream analytics and modeling, revealing critical patterns that informed metric selection and dashboard design.</a:t>
            </a:r>
            <a:endParaRPr lang="en-US" sz="1400" dirty="0"/>
          </a:p>
        </p:txBody>
      </p:sp>
      <p:sp>
        <p:nvSpPr>
          <p:cNvPr id="19" name="Text 16"/>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06</a:t>
            </a:r>
            <a:endParaRPr lang="en-US" sz="13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EDA INSIGHTS</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778000"/>
            <a:ext cx="7048500" cy="1524000"/>
          </a:xfrm>
          <a:prstGeom prst="rect">
            <a:avLst/>
          </a:prstGeom>
          <a:solidFill>
            <a:srgbClr val="FFFFFF"/>
          </a:solidFill>
          <a:ln w="12700">
            <a:solidFill>
              <a:srgbClr val="E0DDD6"/>
            </a:solidFill>
            <a:prstDash val="solid"/>
          </a:ln>
        </p:spPr>
      </p:sp>
      <p:sp>
        <p:nvSpPr>
          <p:cNvPr id="6" name="Shape 4"/>
          <p:cNvSpPr/>
          <p:nvPr/>
        </p:nvSpPr>
        <p:spPr>
          <a:xfrm>
            <a:off x="1079500" y="2159000"/>
            <a:ext cx="457200" cy="457200"/>
          </a:xfrm>
          <a:custGeom>
            <a:avLst/>
            <a:gdLst/>
            <a:ahLst/>
            <a:cxnLst/>
            <a:rect l="l" t="t" r="r" b="b"/>
            <a:pathLst>
              <a:path w="457200" h="457200">
                <a:moveTo>
                  <a:pt x="274320" y="28575"/>
                </a:moveTo>
                <a:lnTo>
                  <a:pt x="365760" y="28575"/>
                </a:lnTo>
                <a:cubicBezTo>
                  <a:pt x="378404" y="28575"/>
                  <a:pt x="388620" y="41344"/>
                  <a:pt x="388620" y="57150"/>
                </a:cubicBezTo>
                <a:cubicBezTo>
                  <a:pt x="388620" y="72956"/>
                  <a:pt x="378404" y="85725"/>
                  <a:pt x="365760" y="85725"/>
                </a:cubicBezTo>
                <a:lnTo>
                  <a:pt x="284607" y="85725"/>
                </a:lnTo>
                <a:cubicBezTo>
                  <a:pt x="280892" y="108764"/>
                  <a:pt x="268248" y="127784"/>
                  <a:pt x="251460" y="136892"/>
                </a:cubicBezTo>
                <a:lnTo>
                  <a:pt x="251460" y="400050"/>
                </a:lnTo>
                <a:lnTo>
                  <a:pt x="365760" y="400050"/>
                </a:lnTo>
                <a:cubicBezTo>
                  <a:pt x="378404" y="400050"/>
                  <a:pt x="388620" y="412819"/>
                  <a:pt x="388620" y="428625"/>
                </a:cubicBezTo>
                <a:cubicBezTo>
                  <a:pt x="388620" y="444431"/>
                  <a:pt x="378404" y="457200"/>
                  <a:pt x="365760" y="457200"/>
                </a:cubicBezTo>
                <a:lnTo>
                  <a:pt x="91440" y="457200"/>
                </a:lnTo>
                <a:cubicBezTo>
                  <a:pt x="78796" y="457200"/>
                  <a:pt x="68580" y="444431"/>
                  <a:pt x="68580" y="428625"/>
                </a:cubicBezTo>
                <a:cubicBezTo>
                  <a:pt x="68580" y="412819"/>
                  <a:pt x="78796" y="400050"/>
                  <a:pt x="91440" y="400050"/>
                </a:cubicBezTo>
                <a:lnTo>
                  <a:pt x="205740" y="400050"/>
                </a:lnTo>
                <a:lnTo>
                  <a:pt x="205740" y="136892"/>
                </a:lnTo>
                <a:cubicBezTo>
                  <a:pt x="188952" y="127695"/>
                  <a:pt x="176308" y="108674"/>
                  <a:pt x="172593" y="85725"/>
                </a:cubicBezTo>
                <a:lnTo>
                  <a:pt x="91440" y="85725"/>
                </a:lnTo>
                <a:cubicBezTo>
                  <a:pt x="78796" y="85725"/>
                  <a:pt x="68580" y="72956"/>
                  <a:pt x="68580" y="57150"/>
                </a:cubicBezTo>
                <a:cubicBezTo>
                  <a:pt x="68580" y="41344"/>
                  <a:pt x="78796" y="28575"/>
                  <a:pt x="91440" y="28575"/>
                </a:cubicBezTo>
                <a:lnTo>
                  <a:pt x="182880" y="28575"/>
                </a:lnTo>
                <a:cubicBezTo>
                  <a:pt x="193310" y="11251"/>
                  <a:pt x="209883" y="0"/>
                  <a:pt x="228600" y="0"/>
                </a:cubicBezTo>
                <a:cubicBezTo>
                  <a:pt x="247317" y="0"/>
                  <a:pt x="263890" y="11251"/>
                  <a:pt x="274320" y="28575"/>
                </a:cubicBezTo>
                <a:close/>
                <a:moveTo>
                  <a:pt x="314039" y="285750"/>
                </a:moveTo>
                <a:lnTo>
                  <a:pt x="417481" y="285750"/>
                </a:lnTo>
                <a:lnTo>
                  <a:pt x="365760" y="174843"/>
                </a:lnTo>
                <a:lnTo>
                  <a:pt x="314039" y="285750"/>
                </a:lnTo>
                <a:close/>
                <a:moveTo>
                  <a:pt x="365760" y="371475"/>
                </a:moveTo>
                <a:cubicBezTo>
                  <a:pt x="320826" y="371475"/>
                  <a:pt x="283464" y="341114"/>
                  <a:pt x="275749" y="301020"/>
                </a:cubicBezTo>
                <a:cubicBezTo>
                  <a:pt x="273891" y="291197"/>
                  <a:pt x="276463" y="281107"/>
                  <a:pt x="280535" y="272355"/>
                </a:cubicBezTo>
                <a:lnTo>
                  <a:pt x="348544" y="126623"/>
                </a:lnTo>
                <a:cubicBezTo>
                  <a:pt x="352115" y="118943"/>
                  <a:pt x="358688" y="114300"/>
                  <a:pt x="365760" y="114300"/>
                </a:cubicBezTo>
                <a:cubicBezTo>
                  <a:pt x="372832" y="114300"/>
                  <a:pt x="379405" y="119033"/>
                  <a:pt x="382976" y="126623"/>
                </a:cubicBezTo>
                <a:lnTo>
                  <a:pt x="450985" y="272355"/>
                </a:lnTo>
                <a:cubicBezTo>
                  <a:pt x="455057" y="281107"/>
                  <a:pt x="457629" y="291197"/>
                  <a:pt x="455771" y="301020"/>
                </a:cubicBezTo>
                <a:cubicBezTo>
                  <a:pt x="448056" y="341025"/>
                  <a:pt x="410694" y="371475"/>
                  <a:pt x="365760" y="371475"/>
                </a:cubicBezTo>
                <a:close/>
                <a:moveTo>
                  <a:pt x="90583" y="174843"/>
                </a:moveTo>
                <a:lnTo>
                  <a:pt x="38862" y="285750"/>
                </a:lnTo>
                <a:lnTo>
                  <a:pt x="142375" y="285750"/>
                </a:lnTo>
                <a:lnTo>
                  <a:pt x="90583" y="174843"/>
                </a:lnTo>
                <a:close/>
                <a:moveTo>
                  <a:pt x="643" y="301020"/>
                </a:moveTo>
                <a:cubicBezTo>
                  <a:pt x="-1214" y="291197"/>
                  <a:pt x="1357" y="281107"/>
                  <a:pt x="5429" y="272355"/>
                </a:cubicBezTo>
                <a:lnTo>
                  <a:pt x="73438" y="126623"/>
                </a:lnTo>
                <a:cubicBezTo>
                  <a:pt x="77010" y="118943"/>
                  <a:pt x="83582" y="114300"/>
                  <a:pt x="90654" y="114300"/>
                </a:cubicBezTo>
                <a:cubicBezTo>
                  <a:pt x="97727" y="114300"/>
                  <a:pt x="104299" y="119033"/>
                  <a:pt x="107871" y="126623"/>
                </a:cubicBezTo>
                <a:lnTo>
                  <a:pt x="175879" y="272355"/>
                </a:lnTo>
                <a:cubicBezTo>
                  <a:pt x="179951" y="281107"/>
                  <a:pt x="182523" y="291197"/>
                  <a:pt x="180665" y="301020"/>
                </a:cubicBezTo>
                <a:cubicBezTo>
                  <a:pt x="172950" y="341025"/>
                  <a:pt x="135588" y="371475"/>
                  <a:pt x="90654" y="371475"/>
                </a:cubicBezTo>
                <a:cubicBezTo>
                  <a:pt x="45720" y="371475"/>
                  <a:pt x="8358" y="341114"/>
                  <a:pt x="643" y="301020"/>
                </a:cubicBezTo>
                <a:close/>
              </a:path>
            </a:pathLst>
          </a:custGeom>
          <a:solidFill>
            <a:srgbClr val="C9A227"/>
          </a:solidFill>
          <a:ln/>
        </p:spPr>
      </p:sp>
      <p:sp>
        <p:nvSpPr>
          <p:cNvPr id="7" name="Text 5"/>
          <p:cNvSpPr/>
          <p:nvPr/>
        </p:nvSpPr>
        <p:spPr>
          <a:xfrm>
            <a:off x="1714500" y="1968500"/>
            <a:ext cx="5778500" cy="330200"/>
          </a:xfrm>
          <a:prstGeom prst="rect">
            <a:avLst/>
          </a:prstGeom>
          <a:noFill/>
          <a:ln/>
        </p:spPr>
        <p:txBody>
          <a:bodyPr wrap="none" lIns="0" tIns="0" rIns="0" bIns="0" rtlCol="0" anchor="ctr"/>
          <a:lstStyle/>
          <a:p>
            <a:pPr algn="l">
              <a:lnSpc>
                <a:spcPct val="120000"/>
              </a:lnSpc>
            </a:pPr>
            <a:r>
              <a:rPr lang="en-US" sz="1800" b="1" dirty="0">
                <a:solidFill>
                  <a:srgbClr val="0F1B3D"/>
                </a:solidFill>
                <a:latin typeface="Liter" pitchFamily="34" charset="0"/>
                <a:ea typeface="Liter" pitchFamily="34" charset="-122"/>
                <a:cs typeface="Liter" pitchFamily="34" charset="-120"/>
              </a:rPr>
              <a:t>Risk-Return Relationship</a:t>
            </a:r>
            <a:endParaRPr lang="en-US" sz="1800" dirty="0"/>
          </a:p>
        </p:txBody>
      </p:sp>
      <p:sp>
        <p:nvSpPr>
          <p:cNvPr id="8" name="Text 6"/>
          <p:cNvSpPr/>
          <p:nvPr/>
        </p:nvSpPr>
        <p:spPr>
          <a:xfrm>
            <a:off x="1714500" y="2349500"/>
            <a:ext cx="5778500" cy="7620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Positive relationship between risk and return validated across all fund categories.</a:t>
            </a:r>
            <a:endParaRPr lang="en-US" sz="1600" dirty="0"/>
          </a:p>
        </p:txBody>
      </p:sp>
      <p:sp>
        <p:nvSpPr>
          <p:cNvPr id="9" name="Shape 7"/>
          <p:cNvSpPr/>
          <p:nvPr/>
        </p:nvSpPr>
        <p:spPr>
          <a:xfrm>
            <a:off x="8445500" y="1778000"/>
            <a:ext cx="7048500" cy="1524000"/>
          </a:xfrm>
          <a:prstGeom prst="rect">
            <a:avLst/>
          </a:prstGeom>
          <a:solidFill>
            <a:srgbClr val="FFFFFF"/>
          </a:solidFill>
          <a:ln w="12700">
            <a:solidFill>
              <a:srgbClr val="E0DDD6"/>
            </a:solidFill>
            <a:prstDash val="solid"/>
          </a:ln>
        </p:spPr>
      </p:sp>
      <p:sp>
        <p:nvSpPr>
          <p:cNvPr id="10" name="Shape 8"/>
          <p:cNvSpPr/>
          <p:nvPr/>
        </p:nvSpPr>
        <p:spPr>
          <a:xfrm>
            <a:off x="8763000" y="2159000"/>
            <a:ext cx="457200" cy="457200"/>
          </a:xfrm>
          <a:custGeom>
            <a:avLst/>
            <a:gdLst/>
            <a:ahLst/>
            <a:cxnLst/>
            <a:rect l="l" t="t" r="r" b="b"/>
            <a:pathLst>
              <a:path w="457200" h="457200">
                <a:moveTo>
                  <a:pt x="228600" y="0"/>
                </a:moveTo>
                <a:cubicBezTo>
                  <a:pt x="232708" y="0"/>
                  <a:pt x="236815" y="893"/>
                  <a:pt x="240566" y="2590"/>
                </a:cubicBezTo>
                <a:lnTo>
                  <a:pt x="408801" y="73938"/>
                </a:lnTo>
                <a:cubicBezTo>
                  <a:pt x="428446" y="82242"/>
                  <a:pt x="443091" y="101620"/>
                  <a:pt x="443002" y="125016"/>
                </a:cubicBezTo>
                <a:cubicBezTo>
                  <a:pt x="442555" y="213598"/>
                  <a:pt x="406122" y="375672"/>
                  <a:pt x="252264" y="449342"/>
                </a:cubicBezTo>
                <a:cubicBezTo>
                  <a:pt x="237351" y="456486"/>
                  <a:pt x="220028" y="456486"/>
                  <a:pt x="205115" y="449342"/>
                </a:cubicBezTo>
                <a:cubicBezTo>
                  <a:pt x="51167" y="375672"/>
                  <a:pt x="14823" y="213598"/>
                  <a:pt x="14377" y="125016"/>
                </a:cubicBezTo>
                <a:cubicBezTo>
                  <a:pt x="14287" y="101620"/>
                  <a:pt x="28932" y="82242"/>
                  <a:pt x="48577" y="73938"/>
                </a:cubicBezTo>
                <a:lnTo>
                  <a:pt x="216724" y="2590"/>
                </a:lnTo>
                <a:cubicBezTo>
                  <a:pt x="220474" y="893"/>
                  <a:pt x="224492" y="0"/>
                  <a:pt x="228600" y="0"/>
                </a:cubicBezTo>
                <a:close/>
                <a:moveTo>
                  <a:pt x="228600" y="59650"/>
                </a:moveTo>
                <a:lnTo>
                  <a:pt x="228600" y="397282"/>
                </a:lnTo>
                <a:cubicBezTo>
                  <a:pt x="351830" y="337631"/>
                  <a:pt x="384959" y="205472"/>
                  <a:pt x="385763" y="126355"/>
                </a:cubicBezTo>
                <a:lnTo>
                  <a:pt x="228600" y="59740"/>
                </a:lnTo>
                <a:lnTo>
                  <a:pt x="228600" y="59740"/>
                </a:lnTo>
                <a:close/>
              </a:path>
            </a:pathLst>
          </a:custGeom>
          <a:solidFill>
            <a:srgbClr val="C9A227"/>
          </a:solidFill>
          <a:ln/>
        </p:spPr>
      </p:sp>
      <p:sp>
        <p:nvSpPr>
          <p:cNvPr id="11" name="Text 9"/>
          <p:cNvSpPr/>
          <p:nvPr/>
        </p:nvSpPr>
        <p:spPr>
          <a:xfrm>
            <a:off x="9398000" y="1968500"/>
            <a:ext cx="5778500" cy="330200"/>
          </a:xfrm>
          <a:prstGeom prst="rect">
            <a:avLst/>
          </a:prstGeom>
          <a:noFill/>
          <a:ln/>
        </p:spPr>
        <p:txBody>
          <a:bodyPr wrap="none" lIns="0" tIns="0" rIns="0" bIns="0" rtlCol="0" anchor="ctr"/>
          <a:lstStyle/>
          <a:p>
            <a:pPr algn="l">
              <a:lnSpc>
                <a:spcPct val="120000"/>
              </a:lnSpc>
            </a:pPr>
            <a:r>
              <a:rPr lang="en-US" sz="1800" b="1" dirty="0">
                <a:solidFill>
                  <a:srgbClr val="0F1B3D"/>
                </a:solidFill>
                <a:latin typeface="Liter" pitchFamily="34" charset="0"/>
                <a:ea typeface="Liter" pitchFamily="34" charset="-122"/>
                <a:cs typeface="Liter" pitchFamily="34" charset="-120"/>
              </a:rPr>
              <a:t>Large-Cap Stability</a:t>
            </a:r>
            <a:endParaRPr lang="en-US" sz="1800" dirty="0"/>
          </a:p>
        </p:txBody>
      </p:sp>
      <p:sp>
        <p:nvSpPr>
          <p:cNvPr id="12" name="Text 10"/>
          <p:cNvSpPr/>
          <p:nvPr/>
        </p:nvSpPr>
        <p:spPr>
          <a:xfrm>
            <a:off x="9398000" y="2349500"/>
            <a:ext cx="5778500" cy="7620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Large-cap funds showed stable performance with lower volatility profiles.</a:t>
            </a:r>
            <a:endParaRPr lang="en-US" sz="1600" dirty="0"/>
          </a:p>
        </p:txBody>
      </p:sp>
      <p:sp>
        <p:nvSpPr>
          <p:cNvPr id="13" name="Shape 11"/>
          <p:cNvSpPr/>
          <p:nvPr/>
        </p:nvSpPr>
        <p:spPr>
          <a:xfrm>
            <a:off x="762000" y="3619500"/>
            <a:ext cx="7048500" cy="1524000"/>
          </a:xfrm>
          <a:prstGeom prst="rect">
            <a:avLst/>
          </a:prstGeom>
          <a:solidFill>
            <a:srgbClr val="FFFFFF"/>
          </a:solidFill>
          <a:ln w="12700">
            <a:solidFill>
              <a:srgbClr val="E0DDD6"/>
            </a:solidFill>
            <a:prstDash val="solid"/>
          </a:ln>
        </p:spPr>
      </p:sp>
      <p:sp>
        <p:nvSpPr>
          <p:cNvPr id="14" name="Shape 12"/>
          <p:cNvSpPr/>
          <p:nvPr/>
        </p:nvSpPr>
        <p:spPr>
          <a:xfrm>
            <a:off x="1079500" y="4000500"/>
            <a:ext cx="457200" cy="457200"/>
          </a:xfrm>
          <a:custGeom>
            <a:avLst/>
            <a:gdLst/>
            <a:ahLst/>
            <a:cxnLst/>
            <a:rect l="l" t="t" r="r" b="b"/>
            <a:pathLst>
              <a:path w="457200" h="457200">
                <a:moveTo>
                  <a:pt x="242798" y="18038"/>
                </a:moveTo>
                <a:cubicBezTo>
                  <a:pt x="234047" y="13037"/>
                  <a:pt x="223242" y="13037"/>
                  <a:pt x="214402" y="18038"/>
                </a:cubicBezTo>
                <a:lnTo>
                  <a:pt x="14377" y="132338"/>
                </a:lnTo>
                <a:cubicBezTo>
                  <a:pt x="3125" y="138767"/>
                  <a:pt x="-2411" y="151983"/>
                  <a:pt x="893" y="164485"/>
                </a:cubicBezTo>
                <a:cubicBezTo>
                  <a:pt x="4197" y="176986"/>
                  <a:pt x="15627" y="185738"/>
                  <a:pt x="28575" y="185738"/>
                </a:cubicBezTo>
                <a:lnTo>
                  <a:pt x="57150" y="185738"/>
                </a:lnTo>
                <a:lnTo>
                  <a:pt x="57150" y="371475"/>
                </a:lnTo>
                <a:lnTo>
                  <a:pt x="57150" y="371475"/>
                </a:lnTo>
                <a:lnTo>
                  <a:pt x="11430" y="405765"/>
                </a:lnTo>
                <a:cubicBezTo>
                  <a:pt x="4197" y="411123"/>
                  <a:pt x="0" y="419606"/>
                  <a:pt x="0" y="428625"/>
                </a:cubicBezTo>
                <a:cubicBezTo>
                  <a:pt x="0" y="444431"/>
                  <a:pt x="12769" y="457200"/>
                  <a:pt x="28575" y="457200"/>
                </a:cubicBezTo>
                <a:lnTo>
                  <a:pt x="428625" y="457200"/>
                </a:lnTo>
                <a:cubicBezTo>
                  <a:pt x="444431" y="457200"/>
                  <a:pt x="457200" y="444431"/>
                  <a:pt x="457200" y="428625"/>
                </a:cubicBezTo>
                <a:cubicBezTo>
                  <a:pt x="457200" y="419606"/>
                  <a:pt x="453003" y="411123"/>
                  <a:pt x="445770" y="405765"/>
                </a:cubicBezTo>
                <a:lnTo>
                  <a:pt x="400050" y="371475"/>
                </a:lnTo>
                <a:lnTo>
                  <a:pt x="400050" y="185738"/>
                </a:lnTo>
                <a:lnTo>
                  <a:pt x="428625" y="185738"/>
                </a:lnTo>
                <a:cubicBezTo>
                  <a:pt x="441573" y="185738"/>
                  <a:pt x="452914" y="176986"/>
                  <a:pt x="456218" y="164485"/>
                </a:cubicBezTo>
                <a:cubicBezTo>
                  <a:pt x="459522" y="151983"/>
                  <a:pt x="453985" y="138767"/>
                  <a:pt x="442734" y="132338"/>
                </a:cubicBezTo>
                <a:lnTo>
                  <a:pt x="242709" y="18038"/>
                </a:lnTo>
                <a:close/>
                <a:moveTo>
                  <a:pt x="357188" y="185738"/>
                </a:moveTo>
                <a:lnTo>
                  <a:pt x="357188" y="371475"/>
                </a:lnTo>
                <a:lnTo>
                  <a:pt x="300038" y="371475"/>
                </a:lnTo>
                <a:lnTo>
                  <a:pt x="300038" y="185738"/>
                </a:lnTo>
                <a:lnTo>
                  <a:pt x="357188" y="185738"/>
                </a:lnTo>
                <a:close/>
                <a:moveTo>
                  <a:pt x="257175" y="185738"/>
                </a:moveTo>
                <a:lnTo>
                  <a:pt x="257175" y="371475"/>
                </a:lnTo>
                <a:lnTo>
                  <a:pt x="200025" y="371475"/>
                </a:lnTo>
                <a:lnTo>
                  <a:pt x="200025" y="185738"/>
                </a:lnTo>
                <a:lnTo>
                  <a:pt x="257175" y="185738"/>
                </a:lnTo>
                <a:close/>
                <a:moveTo>
                  <a:pt x="157163" y="185738"/>
                </a:moveTo>
                <a:lnTo>
                  <a:pt x="157163" y="371475"/>
                </a:lnTo>
                <a:lnTo>
                  <a:pt x="100013" y="371475"/>
                </a:lnTo>
                <a:lnTo>
                  <a:pt x="100013" y="185738"/>
                </a:lnTo>
                <a:lnTo>
                  <a:pt x="157163" y="185738"/>
                </a:lnTo>
                <a:close/>
                <a:moveTo>
                  <a:pt x="228600" y="85725"/>
                </a:moveTo>
                <a:cubicBezTo>
                  <a:pt x="244371" y="85725"/>
                  <a:pt x="257175" y="98529"/>
                  <a:pt x="257175" y="114300"/>
                </a:cubicBezTo>
                <a:cubicBezTo>
                  <a:pt x="257175" y="130071"/>
                  <a:pt x="244371" y="142875"/>
                  <a:pt x="228600" y="142875"/>
                </a:cubicBezTo>
                <a:cubicBezTo>
                  <a:pt x="212829" y="142875"/>
                  <a:pt x="200025" y="130071"/>
                  <a:pt x="200025" y="114300"/>
                </a:cubicBezTo>
                <a:cubicBezTo>
                  <a:pt x="200025" y="98529"/>
                  <a:pt x="212829" y="85725"/>
                  <a:pt x="228600" y="85725"/>
                </a:cubicBezTo>
                <a:close/>
              </a:path>
            </a:pathLst>
          </a:custGeom>
          <a:solidFill>
            <a:srgbClr val="C9A227"/>
          </a:solidFill>
          <a:ln/>
        </p:spPr>
      </p:sp>
      <p:sp>
        <p:nvSpPr>
          <p:cNvPr id="15" name="Text 13"/>
          <p:cNvSpPr/>
          <p:nvPr/>
        </p:nvSpPr>
        <p:spPr>
          <a:xfrm>
            <a:off x="1714500" y="3810000"/>
            <a:ext cx="5778500" cy="330200"/>
          </a:xfrm>
          <a:prstGeom prst="rect">
            <a:avLst/>
          </a:prstGeom>
          <a:noFill/>
          <a:ln/>
        </p:spPr>
        <p:txBody>
          <a:bodyPr wrap="none" lIns="0" tIns="0" rIns="0" bIns="0" rtlCol="0" anchor="ctr"/>
          <a:lstStyle/>
          <a:p>
            <a:pPr algn="l">
              <a:lnSpc>
                <a:spcPct val="120000"/>
              </a:lnSpc>
            </a:pPr>
            <a:r>
              <a:rPr lang="en-US" sz="1800" b="1" dirty="0">
                <a:solidFill>
                  <a:srgbClr val="0F1B3D"/>
                </a:solidFill>
                <a:latin typeface="Liter" pitchFamily="34" charset="0"/>
                <a:ea typeface="Liter" pitchFamily="34" charset="-122"/>
                <a:cs typeface="Liter" pitchFamily="34" charset="-120"/>
              </a:rPr>
              <a:t>AMC Concentration</a:t>
            </a:r>
            <a:endParaRPr lang="en-US" sz="1800" dirty="0"/>
          </a:p>
        </p:txBody>
      </p:sp>
      <p:sp>
        <p:nvSpPr>
          <p:cNvPr id="16" name="Text 14"/>
          <p:cNvSpPr/>
          <p:nvPr/>
        </p:nvSpPr>
        <p:spPr>
          <a:xfrm>
            <a:off x="1714500" y="4191000"/>
            <a:ext cx="5778500" cy="7620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AMC-wise AUM distribution was highly concentrated among top 5 asset managers.</a:t>
            </a:r>
            <a:endParaRPr lang="en-US" sz="1600" dirty="0"/>
          </a:p>
        </p:txBody>
      </p:sp>
      <p:sp>
        <p:nvSpPr>
          <p:cNvPr id="17" name="Shape 15"/>
          <p:cNvSpPr/>
          <p:nvPr/>
        </p:nvSpPr>
        <p:spPr>
          <a:xfrm>
            <a:off x="8445500" y="3619500"/>
            <a:ext cx="7048500" cy="1524000"/>
          </a:xfrm>
          <a:prstGeom prst="rect">
            <a:avLst/>
          </a:prstGeom>
          <a:solidFill>
            <a:srgbClr val="FFFFFF"/>
          </a:solidFill>
          <a:ln w="12700">
            <a:solidFill>
              <a:srgbClr val="E0DDD6"/>
            </a:solidFill>
            <a:prstDash val="solid"/>
          </a:ln>
        </p:spPr>
      </p:sp>
      <p:sp>
        <p:nvSpPr>
          <p:cNvPr id="18" name="Shape 16"/>
          <p:cNvSpPr/>
          <p:nvPr/>
        </p:nvSpPr>
        <p:spPr>
          <a:xfrm>
            <a:off x="8763000" y="4000500"/>
            <a:ext cx="457200" cy="457200"/>
          </a:xfrm>
          <a:custGeom>
            <a:avLst/>
            <a:gdLst/>
            <a:ahLst/>
            <a:cxnLst/>
            <a:rect l="l" t="t" r="r" b="b"/>
            <a:pathLst>
              <a:path w="457200" h="457200">
                <a:moveTo>
                  <a:pt x="28575" y="28575"/>
                </a:moveTo>
                <a:cubicBezTo>
                  <a:pt x="44381" y="28575"/>
                  <a:pt x="57150" y="41344"/>
                  <a:pt x="57150" y="57150"/>
                </a:cubicBezTo>
                <a:lnTo>
                  <a:pt x="57150" y="357188"/>
                </a:lnTo>
                <a:cubicBezTo>
                  <a:pt x="57150" y="365046"/>
                  <a:pt x="63579" y="371475"/>
                  <a:pt x="71438" y="371475"/>
                </a:cubicBezTo>
                <a:lnTo>
                  <a:pt x="428625" y="371475"/>
                </a:lnTo>
                <a:cubicBezTo>
                  <a:pt x="444431" y="371475"/>
                  <a:pt x="457200" y="384244"/>
                  <a:pt x="457200" y="400050"/>
                </a:cubicBezTo>
                <a:cubicBezTo>
                  <a:pt x="457200" y="415856"/>
                  <a:pt x="444431" y="428625"/>
                  <a:pt x="428625" y="428625"/>
                </a:cubicBezTo>
                <a:lnTo>
                  <a:pt x="71438" y="428625"/>
                </a:lnTo>
                <a:cubicBezTo>
                  <a:pt x="31968" y="428625"/>
                  <a:pt x="0" y="396657"/>
                  <a:pt x="0" y="357188"/>
                </a:cubicBezTo>
                <a:lnTo>
                  <a:pt x="0" y="57150"/>
                </a:lnTo>
                <a:cubicBezTo>
                  <a:pt x="0" y="41344"/>
                  <a:pt x="12769" y="28575"/>
                  <a:pt x="28575" y="28575"/>
                </a:cubicBezTo>
                <a:close/>
                <a:moveTo>
                  <a:pt x="214313" y="85725"/>
                </a:moveTo>
                <a:cubicBezTo>
                  <a:pt x="220295" y="85725"/>
                  <a:pt x="226010" y="88225"/>
                  <a:pt x="230118" y="92690"/>
                </a:cubicBezTo>
                <a:lnTo>
                  <a:pt x="293608" y="161895"/>
                </a:lnTo>
                <a:lnTo>
                  <a:pt x="334863" y="120551"/>
                </a:lnTo>
                <a:cubicBezTo>
                  <a:pt x="343257" y="112157"/>
                  <a:pt x="356830" y="112157"/>
                  <a:pt x="365135" y="120551"/>
                </a:cubicBezTo>
                <a:lnTo>
                  <a:pt x="422285" y="177701"/>
                </a:lnTo>
                <a:cubicBezTo>
                  <a:pt x="426303" y="181719"/>
                  <a:pt x="428536" y="187166"/>
                  <a:pt x="428536" y="192881"/>
                </a:cubicBezTo>
                <a:lnTo>
                  <a:pt x="428536" y="292894"/>
                </a:lnTo>
                <a:cubicBezTo>
                  <a:pt x="428536" y="304770"/>
                  <a:pt x="418981" y="314325"/>
                  <a:pt x="407104" y="314325"/>
                </a:cubicBezTo>
                <a:lnTo>
                  <a:pt x="135642" y="314325"/>
                </a:lnTo>
                <a:cubicBezTo>
                  <a:pt x="123765" y="314325"/>
                  <a:pt x="114211" y="304770"/>
                  <a:pt x="114211" y="292894"/>
                </a:cubicBezTo>
                <a:lnTo>
                  <a:pt x="114211" y="192881"/>
                </a:lnTo>
                <a:cubicBezTo>
                  <a:pt x="114211" y="187523"/>
                  <a:pt x="116265" y="182344"/>
                  <a:pt x="119836" y="178415"/>
                </a:cubicBezTo>
                <a:lnTo>
                  <a:pt x="198418" y="92690"/>
                </a:lnTo>
                <a:cubicBezTo>
                  <a:pt x="202436" y="88225"/>
                  <a:pt x="208240" y="85725"/>
                  <a:pt x="214223" y="85725"/>
                </a:cubicBezTo>
                <a:close/>
              </a:path>
            </a:pathLst>
          </a:custGeom>
          <a:solidFill>
            <a:srgbClr val="C9A227"/>
          </a:solidFill>
          <a:ln/>
        </p:spPr>
      </p:sp>
      <p:sp>
        <p:nvSpPr>
          <p:cNvPr id="19" name="Text 17"/>
          <p:cNvSpPr/>
          <p:nvPr/>
        </p:nvSpPr>
        <p:spPr>
          <a:xfrm>
            <a:off x="9398000" y="3810000"/>
            <a:ext cx="5778500" cy="330200"/>
          </a:xfrm>
          <a:prstGeom prst="rect">
            <a:avLst/>
          </a:prstGeom>
          <a:noFill/>
          <a:ln/>
        </p:spPr>
        <p:txBody>
          <a:bodyPr wrap="none" lIns="0" tIns="0" rIns="0" bIns="0" rtlCol="0" anchor="ctr"/>
          <a:lstStyle/>
          <a:p>
            <a:pPr algn="l">
              <a:lnSpc>
                <a:spcPct val="120000"/>
              </a:lnSpc>
            </a:pPr>
            <a:r>
              <a:rPr lang="en-US" sz="1800" b="1" dirty="0">
                <a:solidFill>
                  <a:srgbClr val="0F1B3D"/>
                </a:solidFill>
                <a:latin typeface="Liter" pitchFamily="34" charset="0"/>
                <a:ea typeface="Liter" pitchFamily="34" charset="-122"/>
                <a:cs typeface="Liter" pitchFamily="34" charset="-120"/>
              </a:rPr>
              <a:t>Market Cycle Impact</a:t>
            </a:r>
            <a:endParaRPr lang="en-US" sz="1800" dirty="0"/>
          </a:p>
        </p:txBody>
      </p:sp>
      <p:sp>
        <p:nvSpPr>
          <p:cNvPr id="20" name="Text 18"/>
          <p:cNvSpPr/>
          <p:nvPr/>
        </p:nvSpPr>
        <p:spPr>
          <a:xfrm>
            <a:off x="9398000" y="4191000"/>
            <a:ext cx="5778500" cy="762000"/>
          </a:xfrm>
          <a:prstGeom prst="rect">
            <a:avLst/>
          </a:prstGeom>
          <a:noFill/>
          <a:ln/>
        </p:spPr>
        <p:txBody>
          <a:bodyPr wrap="square" lIns="0" tIns="0" rIns="0" bIns="0" rtlCol="0" anchor="t"/>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Market cycles significantly impacted fund returns, especially in mid/small-cap segments.</a:t>
            </a:r>
            <a:endParaRPr lang="en-US" sz="1600" dirty="0"/>
          </a:p>
        </p:txBody>
      </p:sp>
      <p:graphicFrame>
        <p:nvGraphicFramePr>
          <p:cNvPr id="21" name="Chart 0" descr=""/>
          <p:cNvGraphicFramePr/>
          <p:nvPr/>
        </p:nvGraphicFramePr>
        <p:xfrm>
          <a:off x="762000" y="5461000"/>
          <a:ext cx="14732000" cy="292100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07</a:t>
            </a:r>
            <a:endParaRPr lang="en-US" sz="13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635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PERFORMANCE METRICS</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778000"/>
            <a:ext cx="4699000" cy="2921000"/>
          </a:xfrm>
          <a:prstGeom prst="rect">
            <a:avLst/>
          </a:prstGeom>
          <a:solidFill>
            <a:srgbClr val="FFFFFF"/>
          </a:solidFill>
          <a:ln w="12700">
            <a:solidFill>
              <a:srgbClr val="E0DDD6"/>
            </a:solidFill>
            <a:prstDash val="solid"/>
          </a:ln>
        </p:spPr>
      </p:sp>
      <p:sp>
        <p:nvSpPr>
          <p:cNvPr id="6" name="Shape 4"/>
          <p:cNvSpPr/>
          <p:nvPr/>
        </p:nvSpPr>
        <p:spPr>
          <a:xfrm>
            <a:off x="762000" y="1778000"/>
            <a:ext cx="4699000" cy="63500"/>
          </a:xfrm>
          <a:prstGeom prst="rect">
            <a:avLst/>
          </a:prstGeom>
          <a:solidFill>
            <a:srgbClr val="C9A227"/>
          </a:solidFill>
          <a:ln/>
        </p:spPr>
      </p:sp>
      <p:sp>
        <p:nvSpPr>
          <p:cNvPr id="7" name="Shape 5"/>
          <p:cNvSpPr/>
          <p:nvPr/>
        </p:nvSpPr>
        <p:spPr>
          <a:xfrm>
            <a:off x="1079500" y="20955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C9A227"/>
          </a:solidFill>
          <a:ln/>
        </p:spPr>
      </p:sp>
      <p:sp>
        <p:nvSpPr>
          <p:cNvPr id="8" name="Text 6"/>
          <p:cNvSpPr/>
          <p:nvPr/>
        </p:nvSpPr>
        <p:spPr>
          <a:xfrm>
            <a:off x="1651000" y="2095500"/>
            <a:ext cx="3556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CAGR</a:t>
            </a:r>
            <a:endParaRPr lang="en-US" sz="2000" dirty="0"/>
          </a:p>
        </p:txBody>
      </p:sp>
      <p:sp>
        <p:nvSpPr>
          <p:cNvPr id="9" name="Text 7"/>
          <p:cNvSpPr/>
          <p:nvPr/>
        </p:nvSpPr>
        <p:spPr>
          <a:xfrm>
            <a:off x="1079500" y="2667000"/>
            <a:ext cx="4064000" cy="762000"/>
          </a:xfrm>
          <a:prstGeom prst="rect">
            <a:avLst/>
          </a:prstGeom>
          <a:noFill/>
          <a:ln/>
        </p:spPr>
        <p:txBody>
          <a:bodyPr wrap="square" lIns="0" tIns="0" rIns="0" bIns="0" rtlCol="0" anchor="t"/>
          <a:lstStyle/>
          <a:p>
            <a:pPr algn="l">
              <a:lnSpc>
                <a:spcPct val="150000"/>
              </a:lnSpc>
            </a:pPr>
            <a:r>
              <a:rPr lang="en-US" sz="1500" dirty="0">
                <a:solidFill>
                  <a:srgbClr val="1C1C1E"/>
                </a:solidFill>
                <a:latin typeface="Quattrocento Sans" pitchFamily="34" charset="0"/>
                <a:ea typeface="Quattrocento Sans" pitchFamily="34" charset="-122"/>
                <a:cs typeface="Quattrocento Sans" pitchFamily="34" charset="-120"/>
              </a:rPr>
              <a:t>Compound Annual Growth Rate measures annualized return over the investment period.</a:t>
            </a:r>
            <a:endParaRPr lang="en-US" sz="1500" dirty="0"/>
          </a:p>
        </p:txBody>
      </p:sp>
      <p:sp>
        <p:nvSpPr>
          <p:cNvPr id="10" name="Text 8"/>
          <p:cNvSpPr/>
          <p:nvPr/>
        </p:nvSpPr>
        <p:spPr>
          <a:xfrm>
            <a:off x="1079500" y="3556000"/>
            <a:ext cx="4064000" cy="381000"/>
          </a:xfrm>
          <a:prstGeom prst="rect">
            <a:avLst/>
          </a:prstGeom>
          <a:noFill/>
          <a:ln/>
        </p:spPr>
        <p:txBody>
          <a:bodyPr wrap="square" lIns="0" tIns="0" rIns="0" bIns="0" rtlCol="0" anchor="ctr"/>
          <a:lstStyle/>
          <a:p>
            <a:pPr algn="l">
              <a:lnSpc>
                <a:spcPct val="120000"/>
              </a:lnSpc>
            </a:pPr>
            <a:r>
              <a:rPr lang="en-US" sz="1300" i="1" dirty="0">
                <a:solidFill>
                  <a:srgbClr val="5A6577"/>
                </a:solidFill>
                <a:latin typeface="Quattrocento Sans" pitchFamily="34" charset="0"/>
                <a:ea typeface="Quattrocento Sans" pitchFamily="34" charset="-122"/>
                <a:cs typeface="Quattrocento Sans" pitchFamily="34" charset="-120"/>
              </a:rPr>
              <a:t>Ending Value / Beginning Value ^ (1/n) - 1</a:t>
            </a:r>
            <a:endParaRPr lang="en-US" sz="1300" dirty="0"/>
          </a:p>
        </p:txBody>
      </p:sp>
      <p:sp>
        <p:nvSpPr>
          <p:cNvPr id="11" name="Shape 9"/>
          <p:cNvSpPr/>
          <p:nvPr/>
        </p:nvSpPr>
        <p:spPr>
          <a:xfrm>
            <a:off x="5778500" y="1778000"/>
            <a:ext cx="4699000" cy="2921000"/>
          </a:xfrm>
          <a:prstGeom prst="rect">
            <a:avLst/>
          </a:prstGeom>
          <a:solidFill>
            <a:srgbClr val="FFFFFF"/>
          </a:solidFill>
          <a:ln w="12700">
            <a:solidFill>
              <a:srgbClr val="E0DDD6"/>
            </a:solidFill>
            <a:prstDash val="solid"/>
          </a:ln>
        </p:spPr>
      </p:sp>
      <p:sp>
        <p:nvSpPr>
          <p:cNvPr id="12" name="Shape 10"/>
          <p:cNvSpPr/>
          <p:nvPr/>
        </p:nvSpPr>
        <p:spPr>
          <a:xfrm>
            <a:off x="5778500" y="1778000"/>
            <a:ext cx="4699000" cy="63500"/>
          </a:xfrm>
          <a:prstGeom prst="rect">
            <a:avLst/>
          </a:prstGeom>
          <a:solidFill>
            <a:srgbClr val="C9A227"/>
          </a:solidFill>
          <a:ln/>
        </p:spPr>
      </p:sp>
      <p:sp>
        <p:nvSpPr>
          <p:cNvPr id="13" name="Shape 11"/>
          <p:cNvSpPr/>
          <p:nvPr/>
        </p:nvSpPr>
        <p:spPr>
          <a:xfrm>
            <a:off x="6096000" y="2095500"/>
            <a:ext cx="406400" cy="406400"/>
          </a:xfrm>
          <a:custGeom>
            <a:avLst/>
            <a:gdLst/>
            <a:ahLst/>
            <a:cxnLst/>
            <a:rect l="l" t="t" r="r" b="b"/>
            <a:pathLst>
              <a:path w="406400" h="406400">
                <a:moveTo>
                  <a:pt x="218369" y="-15002"/>
                </a:moveTo>
                <a:cubicBezTo>
                  <a:pt x="215477" y="-21352"/>
                  <a:pt x="209621" y="-25400"/>
                  <a:pt x="203271" y="-25400"/>
                </a:cubicBezTo>
                <a:cubicBezTo>
                  <a:pt x="196921" y="-25400"/>
                  <a:pt x="191064" y="-21352"/>
                  <a:pt x="188172" y="-15002"/>
                </a:cubicBezTo>
                <a:lnTo>
                  <a:pt x="136243" y="99457"/>
                </a:lnTo>
                <a:lnTo>
                  <a:pt x="23424" y="119618"/>
                </a:lnTo>
                <a:cubicBezTo>
                  <a:pt x="17145" y="120729"/>
                  <a:pt x="11924" y="125730"/>
                  <a:pt x="9948" y="132556"/>
                </a:cubicBezTo>
                <a:cubicBezTo>
                  <a:pt x="7973" y="139383"/>
                  <a:pt x="9596" y="146844"/>
                  <a:pt x="14041" y="151924"/>
                </a:cubicBezTo>
                <a:lnTo>
                  <a:pt x="94756" y="242808"/>
                </a:lnTo>
                <a:lnTo>
                  <a:pt x="76976" y="369729"/>
                </a:lnTo>
                <a:cubicBezTo>
                  <a:pt x="75988" y="376793"/>
                  <a:pt x="78599" y="383937"/>
                  <a:pt x="83749" y="388144"/>
                </a:cubicBezTo>
                <a:cubicBezTo>
                  <a:pt x="88900" y="392351"/>
                  <a:pt x="95673" y="392986"/>
                  <a:pt x="101388" y="389731"/>
                </a:cubicBezTo>
                <a:lnTo>
                  <a:pt x="203271" y="331470"/>
                </a:lnTo>
                <a:lnTo>
                  <a:pt x="305082" y="389731"/>
                </a:lnTo>
                <a:cubicBezTo>
                  <a:pt x="310727" y="392986"/>
                  <a:pt x="317571" y="392351"/>
                  <a:pt x="322721" y="388144"/>
                </a:cubicBezTo>
                <a:cubicBezTo>
                  <a:pt x="327872" y="383937"/>
                  <a:pt x="330482" y="376873"/>
                  <a:pt x="329494" y="369729"/>
                </a:cubicBezTo>
                <a:lnTo>
                  <a:pt x="311644" y="242808"/>
                </a:lnTo>
                <a:lnTo>
                  <a:pt x="392359" y="151924"/>
                </a:lnTo>
                <a:cubicBezTo>
                  <a:pt x="396875" y="146844"/>
                  <a:pt x="398427" y="139383"/>
                  <a:pt x="396452" y="132556"/>
                </a:cubicBezTo>
                <a:cubicBezTo>
                  <a:pt x="394476" y="125730"/>
                  <a:pt x="389326" y="120729"/>
                  <a:pt x="382976" y="119618"/>
                </a:cubicBezTo>
                <a:lnTo>
                  <a:pt x="270228" y="99457"/>
                </a:lnTo>
                <a:lnTo>
                  <a:pt x="218369" y="-15002"/>
                </a:lnTo>
                <a:close/>
              </a:path>
            </a:pathLst>
          </a:custGeom>
          <a:solidFill>
            <a:srgbClr val="C9A227"/>
          </a:solidFill>
          <a:ln/>
        </p:spPr>
      </p:sp>
      <p:sp>
        <p:nvSpPr>
          <p:cNvPr id="14" name="Text 12"/>
          <p:cNvSpPr/>
          <p:nvPr/>
        </p:nvSpPr>
        <p:spPr>
          <a:xfrm>
            <a:off x="6667500" y="2095500"/>
            <a:ext cx="3556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Sharpe Ratio</a:t>
            </a:r>
            <a:endParaRPr lang="en-US" sz="2000" dirty="0"/>
          </a:p>
        </p:txBody>
      </p:sp>
      <p:sp>
        <p:nvSpPr>
          <p:cNvPr id="15" name="Text 13"/>
          <p:cNvSpPr/>
          <p:nvPr/>
        </p:nvSpPr>
        <p:spPr>
          <a:xfrm>
            <a:off x="6096000" y="2667000"/>
            <a:ext cx="4064000" cy="762000"/>
          </a:xfrm>
          <a:prstGeom prst="rect">
            <a:avLst/>
          </a:prstGeom>
          <a:noFill/>
          <a:ln/>
        </p:spPr>
        <p:txBody>
          <a:bodyPr wrap="square" lIns="0" tIns="0" rIns="0" bIns="0" rtlCol="0" anchor="t"/>
          <a:lstStyle/>
          <a:p>
            <a:pPr algn="l">
              <a:lnSpc>
                <a:spcPct val="150000"/>
              </a:lnSpc>
            </a:pPr>
            <a:r>
              <a:rPr lang="en-US" sz="1500" dirty="0">
                <a:solidFill>
                  <a:srgbClr val="1C1C1E"/>
                </a:solidFill>
                <a:latin typeface="Quattrocento Sans" pitchFamily="34" charset="0"/>
                <a:ea typeface="Quattrocento Sans" pitchFamily="34" charset="-122"/>
                <a:cs typeface="Quattrocento Sans" pitchFamily="34" charset="-120"/>
              </a:rPr>
              <a:t>Risk-adjusted return measuring excess return per unit of total risk taken.</a:t>
            </a:r>
            <a:endParaRPr lang="en-US" sz="1500" dirty="0"/>
          </a:p>
        </p:txBody>
      </p:sp>
      <p:sp>
        <p:nvSpPr>
          <p:cNvPr id="16" name="Text 14"/>
          <p:cNvSpPr/>
          <p:nvPr/>
        </p:nvSpPr>
        <p:spPr>
          <a:xfrm>
            <a:off x="6096000" y="3556000"/>
            <a:ext cx="4064000" cy="381000"/>
          </a:xfrm>
          <a:prstGeom prst="rect">
            <a:avLst/>
          </a:prstGeom>
          <a:noFill/>
          <a:ln/>
        </p:spPr>
        <p:txBody>
          <a:bodyPr wrap="square" lIns="0" tIns="0" rIns="0" bIns="0" rtlCol="0" anchor="ctr"/>
          <a:lstStyle/>
          <a:p>
            <a:pPr algn="l">
              <a:lnSpc>
                <a:spcPct val="120000"/>
              </a:lnSpc>
            </a:pPr>
            <a:r>
              <a:rPr lang="en-US" sz="1300" i="1" dirty="0">
                <a:solidFill>
                  <a:srgbClr val="5A6577"/>
                </a:solidFill>
                <a:latin typeface="Quattrocento Sans" pitchFamily="34" charset="0"/>
                <a:ea typeface="Quattrocento Sans" pitchFamily="34" charset="-122"/>
                <a:cs typeface="Quattrocento Sans" pitchFamily="34" charset="-120"/>
              </a:rPr>
              <a:t>(Return - Risk-Free Rate) / Std Deviation</a:t>
            </a:r>
            <a:endParaRPr lang="en-US" sz="1300" dirty="0"/>
          </a:p>
        </p:txBody>
      </p:sp>
      <p:sp>
        <p:nvSpPr>
          <p:cNvPr id="17" name="Shape 15"/>
          <p:cNvSpPr/>
          <p:nvPr/>
        </p:nvSpPr>
        <p:spPr>
          <a:xfrm>
            <a:off x="10795000" y="1778000"/>
            <a:ext cx="4699000" cy="2921000"/>
          </a:xfrm>
          <a:prstGeom prst="rect">
            <a:avLst/>
          </a:prstGeom>
          <a:solidFill>
            <a:srgbClr val="FFFFFF"/>
          </a:solidFill>
          <a:ln w="12700">
            <a:solidFill>
              <a:srgbClr val="E0DDD6"/>
            </a:solidFill>
            <a:prstDash val="solid"/>
          </a:ln>
        </p:spPr>
      </p:sp>
      <p:sp>
        <p:nvSpPr>
          <p:cNvPr id="18" name="Shape 16"/>
          <p:cNvSpPr/>
          <p:nvPr/>
        </p:nvSpPr>
        <p:spPr>
          <a:xfrm>
            <a:off x="10795000" y="1778000"/>
            <a:ext cx="4699000" cy="63500"/>
          </a:xfrm>
          <a:prstGeom prst="rect">
            <a:avLst/>
          </a:prstGeom>
          <a:solidFill>
            <a:srgbClr val="C9A227"/>
          </a:solidFill>
          <a:ln/>
        </p:spPr>
      </p:sp>
      <p:sp>
        <p:nvSpPr>
          <p:cNvPr id="19" name="Shape 17"/>
          <p:cNvSpPr/>
          <p:nvPr/>
        </p:nvSpPr>
        <p:spPr>
          <a:xfrm>
            <a:off x="11112500" y="2095500"/>
            <a:ext cx="406400" cy="406400"/>
          </a:xfrm>
          <a:custGeom>
            <a:avLst/>
            <a:gdLst/>
            <a:ahLst/>
            <a:cxnLst/>
            <a:rect l="l" t="t" r="r" b="b"/>
            <a:pathLst>
              <a:path w="406400" h="406400">
                <a:moveTo>
                  <a:pt x="270933" y="279400"/>
                </a:moveTo>
                <a:cubicBezTo>
                  <a:pt x="258445" y="279400"/>
                  <a:pt x="248356" y="290751"/>
                  <a:pt x="248356" y="304800"/>
                </a:cubicBezTo>
                <a:cubicBezTo>
                  <a:pt x="248356" y="318849"/>
                  <a:pt x="258445" y="330200"/>
                  <a:pt x="270933" y="330200"/>
                </a:cubicBezTo>
                <a:lnTo>
                  <a:pt x="383822" y="330200"/>
                </a:lnTo>
                <a:cubicBezTo>
                  <a:pt x="396311" y="330200"/>
                  <a:pt x="406400" y="318849"/>
                  <a:pt x="406400" y="304800"/>
                </a:cubicBezTo>
                <a:lnTo>
                  <a:pt x="406400" y="177800"/>
                </a:lnTo>
                <a:cubicBezTo>
                  <a:pt x="406400" y="163751"/>
                  <a:pt x="396311" y="152400"/>
                  <a:pt x="383822" y="152400"/>
                </a:cubicBezTo>
                <a:cubicBezTo>
                  <a:pt x="371334" y="152400"/>
                  <a:pt x="361244" y="163751"/>
                  <a:pt x="361244" y="177800"/>
                </a:cubicBezTo>
                <a:lnTo>
                  <a:pt x="361244" y="243443"/>
                </a:lnTo>
                <a:lnTo>
                  <a:pt x="241723" y="108982"/>
                </a:lnTo>
                <a:cubicBezTo>
                  <a:pt x="232904" y="99060"/>
                  <a:pt x="218581" y="99060"/>
                  <a:pt x="209762" y="108982"/>
                </a:cubicBezTo>
                <a:lnTo>
                  <a:pt x="135467" y="192643"/>
                </a:lnTo>
                <a:lnTo>
                  <a:pt x="38523" y="83661"/>
                </a:lnTo>
                <a:cubicBezTo>
                  <a:pt x="29704" y="73739"/>
                  <a:pt x="15381" y="73739"/>
                  <a:pt x="6562" y="83661"/>
                </a:cubicBezTo>
                <a:cubicBezTo>
                  <a:pt x="-2258" y="93583"/>
                  <a:pt x="-2258" y="109696"/>
                  <a:pt x="6562" y="119618"/>
                </a:cubicBezTo>
                <a:lnTo>
                  <a:pt x="119451" y="246618"/>
                </a:lnTo>
                <a:cubicBezTo>
                  <a:pt x="128270" y="256540"/>
                  <a:pt x="142593" y="256540"/>
                  <a:pt x="151412" y="246618"/>
                </a:cubicBezTo>
                <a:lnTo>
                  <a:pt x="225778" y="162957"/>
                </a:lnTo>
                <a:lnTo>
                  <a:pt x="329283" y="279400"/>
                </a:lnTo>
                <a:lnTo>
                  <a:pt x="270933" y="279400"/>
                </a:lnTo>
                <a:close/>
              </a:path>
            </a:pathLst>
          </a:custGeom>
          <a:solidFill>
            <a:srgbClr val="C9A227"/>
          </a:solidFill>
          <a:ln/>
        </p:spPr>
      </p:sp>
      <p:sp>
        <p:nvSpPr>
          <p:cNvPr id="20" name="Text 18"/>
          <p:cNvSpPr/>
          <p:nvPr/>
        </p:nvSpPr>
        <p:spPr>
          <a:xfrm>
            <a:off x="11684000" y="2095500"/>
            <a:ext cx="3556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Sortino Ratio</a:t>
            </a:r>
            <a:endParaRPr lang="en-US" sz="2000" dirty="0"/>
          </a:p>
        </p:txBody>
      </p:sp>
      <p:sp>
        <p:nvSpPr>
          <p:cNvPr id="21" name="Text 19"/>
          <p:cNvSpPr/>
          <p:nvPr/>
        </p:nvSpPr>
        <p:spPr>
          <a:xfrm>
            <a:off x="11112500" y="2667000"/>
            <a:ext cx="4064000" cy="762000"/>
          </a:xfrm>
          <a:prstGeom prst="rect">
            <a:avLst/>
          </a:prstGeom>
          <a:noFill/>
          <a:ln/>
        </p:spPr>
        <p:txBody>
          <a:bodyPr wrap="square" lIns="0" tIns="0" rIns="0" bIns="0" rtlCol="0" anchor="t"/>
          <a:lstStyle/>
          <a:p>
            <a:pPr algn="l">
              <a:lnSpc>
                <a:spcPct val="150000"/>
              </a:lnSpc>
            </a:pPr>
            <a:r>
              <a:rPr lang="en-US" sz="1500" dirty="0">
                <a:solidFill>
                  <a:srgbClr val="1C1C1E"/>
                </a:solidFill>
                <a:latin typeface="Quattrocento Sans" pitchFamily="34" charset="0"/>
                <a:ea typeface="Quattrocento Sans" pitchFamily="34" charset="-122"/>
                <a:cs typeface="Quattrocento Sans" pitchFamily="34" charset="-120"/>
              </a:rPr>
              <a:t>Similar to Sharpe but uses only downside deviation, penalizing harmful volatility.</a:t>
            </a:r>
            <a:endParaRPr lang="en-US" sz="1500" dirty="0"/>
          </a:p>
        </p:txBody>
      </p:sp>
      <p:sp>
        <p:nvSpPr>
          <p:cNvPr id="22" name="Text 20"/>
          <p:cNvSpPr/>
          <p:nvPr/>
        </p:nvSpPr>
        <p:spPr>
          <a:xfrm>
            <a:off x="11112500" y="3556000"/>
            <a:ext cx="4064000" cy="381000"/>
          </a:xfrm>
          <a:prstGeom prst="rect">
            <a:avLst/>
          </a:prstGeom>
          <a:noFill/>
          <a:ln/>
        </p:spPr>
        <p:txBody>
          <a:bodyPr wrap="square" lIns="0" tIns="0" rIns="0" bIns="0" rtlCol="0" anchor="ctr"/>
          <a:lstStyle/>
          <a:p>
            <a:pPr algn="l">
              <a:lnSpc>
                <a:spcPct val="120000"/>
              </a:lnSpc>
            </a:pPr>
            <a:r>
              <a:rPr lang="en-US" sz="1300" i="1" dirty="0">
                <a:solidFill>
                  <a:srgbClr val="5A6577"/>
                </a:solidFill>
                <a:latin typeface="Quattrocento Sans" pitchFamily="34" charset="0"/>
                <a:ea typeface="Quattrocento Sans" pitchFamily="34" charset="-122"/>
                <a:cs typeface="Quattrocento Sans" pitchFamily="34" charset="-120"/>
              </a:rPr>
              <a:t>(Return - Risk-Free Rate) / Downside Dev</a:t>
            </a:r>
            <a:endParaRPr lang="en-US" sz="1300" dirty="0"/>
          </a:p>
        </p:txBody>
      </p:sp>
      <p:sp>
        <p:nvSpPr>
          <p:cNvPr id="23" name="Shape 21"/>
          <p:cNvSpPr/>
          <p:nvPr/>
        </p:nvSpPr>
        <p:spPr>
          <a:xfrm>
            <a:off x="762000" y="5016500"/>
            <a:ext cx="4699000" cy="2921000"/>
          </a:xfrm>
          <a:prstGeom prst="rect">
            <a:avLst/>
          </a:prstGeom>
          <a:solidFill>
            <a:srgbClr val="FFFFFF"/>
          </a:solidFill>
          <a:ln w="12700">
            <a:solidFill>
              <a:srgbClr val="E0DDD6"/>
            </a:solidFill>
            <a:prstDash val="solid"/>
          </a:ln>
        </p:spPr>
      </p:sp>
      <p:sp>
        <p:nvSpPr>
          <p:cNvPr id="24" name="Shape 22"/>
          <p:cNvSpPr/>
          <p:nvPr/>
        </p:nvSpPr>
        <p:spPr>
          <a:xfrm>
            <a:off x="762000" y="5016500"/>
            <a:ext cx="4699000" cy="63500"/>
          </a:xfrm>
          <a:prstGeom prst="rect">
            <a:avLst/>
          </a:prstGeom>
          <a:solidFill>
            <a:srgbClr val="0F1B3D"/>
          </a:solidFill>
          <a:ln/>
        </p:spPr>
      </p:sp>
      <p:sp>
        <p:nvSpPr>
          <p:cNvPr id="25" name="Shape 23"/>
          <p:cNvSpPr/>
          <p:nvPr/>
        </p:nvSpPr>
        <p:spPr>
          <a:xfrm>
            <a:off x="1079500" y="5334000"/>
            <a:ext cx="406400" cy="406400"/>
          </a:xfrm>
          <a:custGeom>
            <a:avLst/>
            <a:gdLst/>
            <a:ahLst/>
            <a:cxnLst/>
            <a:rect l="l" t="t" r="r" b="b"/>
            <a:pathLst>
              <a:path w="406400" h="406400">
                <a:moveTo>
                  <a:pt x="114538" y="0"/>
                </a:moveTo>
                <a:lnTo>
                  <a:pt x="292338" y="0"/>
                </a:lnTo>
                <a:cubicBezTo>
                  <a:pt x="313373" y="0"/>
                  <a:pt x="330518" y="17304"/>
                  <a:pt x="329724" y="38259"/>
                </a:cubicBezTo>
                <a:cubicBezTo>
                  <a:pt x="329565" y="42466"/>
                  <a:pt x="329406" y="46673"/>
                  <a:pt x="329168" y="50800"/>
                </a:cubicBezTo>
                <a:lnTo>
                  <a:pt x="368538" y="50800"/>
                </a:lnTo>
                <a:cubicBezTo>
                  <a:pt x="389255" y="50800"/>
                  <a:pt x="407511" y="67945"/>
                  <a:pt x="405924" y="90329"/>
                </a:cubicBezTo>
                <a:cubicBezTo>
                  <a:pt x="399971" y="172641"/>
                  <a:pt x="357902" y="217884"/>
                  <a:pt x="312261" y="241538"/>
                </a:cubicBezTo>
                <a:cubicBezTo>
                  <a:pt x="299720" y="248047"/>
                  <a:pt x="286941" y="252889"/>
                  <a:pt x="274796" y="256461"/>
                </a:cubicBezTo>
                <a:cubicBezTo>
                  <a:pt x="258763" y="279162"/>
                  <a:pt x="242094" y="291148"/>
                  <a:pt x="228838" y="297577"/>
                </a:cubicBezTo>
                <a:lnTo>
                  <a:pt x="228838" y="355600"/>
                </a:lnTo>
                <a:lnTo>
                  <a:pt x="279638" y="355600"/>
                </a:lnTo>
                <a:cubicBezTo>
                  <a:pt x="293688" y="355600"/>
                  <a:pt x="305038" y="366951"/>
                  <a:pt x="305038" y="381000"/>
                </a:cubicBezTo>
                <a:cubicBezTo>
                  <a:pt x="305038" y="395049"/>
                  <a:pt x="293688" y="406400"/>
                  <a:pt x="279638" y="406400"/>
                </a:cubicBezTo>
                <a:lnTo>
                  <a:pt x="127238" y="406400"/>
                </a:lnTo>
                <a:cubicBezTo>
                  <a:pt x="113189" y="406400"/>
                  <a:pt x="101838" y="395049"/>
                  <a:pt x="101838" y="381000"/>
                </a:cubicBezTo>
                <a:cubicBezTo>
                  <a:pt x="101838" y="366951"/>
                  <a:pt x="113189" y="355600"/>
                  <a:pt x="127238" y="355600"/>
                </a:cubicBezTo>
                <a:lnTo>
                  <a:pt x="178038" y="355600"/>
                </a:lnTo>
                <a:lnTo>
                  <a:pt x="178038" y="297577"/>
                </a:lnTo>
                <a:cubicBezTo>
                  <a:pt x="165338" y="291465"/>
                  <a:pt x="149543" y="280114"/>
                  <a:pt x="134144" y="259239"/>
                </a:cubicBezTo>
                <a:cubicBezTo>
                  <a:pt x="119539" y="255429"/>
                  <a:pt x="103664" y="249634"/>
                  <a:pt x="88186" y="240903"/>
                </a:cubicBezTo>
                <a:cubicBezTo>
                  <a:pt x="45244" y="216852"/>
                  <a:pt x="6509" y="171529"/>
                  <a:pt x="953" y="90170"/>
                </a:cubicBezTo>
                <a:cubicBezTo>
                  <a:pt x="-556" y="67866"/>
                  <a:pt x="17621" y="50721"/>
                  <a:pt x="38338" y="50721"/>
                </a:cubicBezTo>
                <a:lnTo>
                  <a:pt x="77708" y="50721"/>
                </a:lnTo>
                <a:cubicBezTo>
                  <a:pt x="77470" y="46593"/>
                  <a:pt x="77311" y="42466"/>
                  <a:pt x="77153" y="38179"/>
                </a:cubicBezTo>
                <a:cubicBezTo>
                  <a:pt x="76359" y="17145"/>
                  <a:pt x="93504" y="-79"/>
                  <a:pt x="114538" y="-79"/>
                </a:cubicBezTo>
                <a:close/>
                <a:moveTo>
                  <a:pt x="80566" y="88900"/>
                </a:moveTo>
                <a:lnTo>
                  <a:pt x="38973" y="88900"/>
                </a:lnTo>
                <a:cubicBezTo>
                  <a:pt x="43894" y="156131"/>
                  <a:pt x="74771" y="189786"/>
                  <a:pt x="106601" y="207645"/>
                </a:cubicBezTo>
                <a:cubicBezTo>
                  <a:pt x="95171" y="178038"/>
                  <a:pt x="85725" y="139383"/>
                  <a:pt x="80566" y="88900"/>
                </a:cubicBezTo>
                <a:close/>
                <a:moveTo>
                  <a:pt x="301625" y="203835"/>
                </a:moveTo>
                <a:cubicBezTo>
                  <a:pt x="333772" y="184944"/>
                  <a:pt x="362823" y="151368"/>
                  <a:pt x="367744" y="88900"/>
                </a:cubicBezTo>
                <a:lnTo>
                  <a:pt x="326231" y="88900"/>
                </a:lnTo>
                <a:cubicBezTo>
                  <a:pt x="321310" y="137239"/>
                  <a:pt x="312420" y="174784"/>
                  <a:pt x="301625" y="203835"/>
                </a:cubicBezTo>
                <a:close/>
              </a:path>
            </a:pathLst>
          </a:custGeom>
          <a:solidFill>
            <a:srgbClr val="0F1B3D"/>
          </a:solidFill>
          <a:ln/>
        </p:spPr>
      </p:sp>
      <p:sp>
        <p:nvSpPr>
          <p:cNvPr id="26" name="Text 24"/>
          <p:cNvSpPr/>
          <p:nvPr/>
        </p:nvSpPr>
        <p:spPr>
          <a:xfrm>
            <a:off x="1651000" y="5334000"/>
            <a:ext cx="3556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Alpha</a:t>
            </a:r>
            <a:endParaRPr lang="en-US" sz="2000" dirty="0"/>
          </a:p>
        </p:txBody>
      </p:sp>
      <p:sp>
        <p:nvSpPr>
          <p:cNvPr id="27" name="Text 25"/>
          <p:cNvSpPr/>
          <p:nvPr/>
        </p:nvSpPr>
        <p:spPr>
          <a:xfrm>
            <a:off x="1079500" y="5905500"/>
            <a:ext cx="4064000" cy="1206500"/>
          </a:xfrm>
          <a:prstGeom prst="rect">
            <a:avLst/>
          </a:prstGeom>
          <a:noFill/>
          <a:ln/>
        </p:spPr>
        <p:txBody>
          <a:bodyPr wrap="square" lIns="0" tIns="0" rIns="0" bIns="0" rtlCol="0" anchor="t"/>
          <a:lstStyle/>
          <a:p>
            <a:pPr algn="l">
              <a:lnSpc>
                <a:spcPct val="150000"/>
              </a:lnSpc>
            </a:pPr>
            <a:r>
              <a:rPr lang="en-US" sz="1500" dirty="0">
                <a:solidFill>
                  <a:srgbClr val="1C1C1E"/>
                </a:solidFill>
                <a:latin typeface="Quattrocento Sans" pitchFamily="34" charset="0"/>
                <a:ea typeface="Quattrocento Sans" pitchFamily="34" charset="-122"/>
                <a:cs typeface="Quattrocento Sans" pitchFamily="34" charset="-120"/>
              </a:rPr>
              <a:t>Excess return generated compared to the benchmark index. Positive alpha indicates outperformance.</a:t>
            </a:r>
            <a:endParaRPr lang="en-US" sz="1500" dirty="0"/>
          </a:p>
        </p:txBody>
      </p:sp>
      <p:sp>
        <p:nvSpPr>
          <p:cNvPr id="28" name="Text 26"/>
          <p:cNvSpPr/>
          <p:nvPr/>
        </p:nvSpPr>
        <p:spPr>
          <a:xfrm>
            <a:off x="1079500" y="7239000"/>
            <a:ext cx="4064000" cy="381000"/>
          </a:xfrm>
          <a:prstGeom prst="rect">
            <a:avLst/>
          </a:prstGeom>
          <a:noFill/>
          <a:ln/>
        </p:spPr>
        <p:txBody>
          <a:bodyPr wrap="square" lIns="0" tIns="0" rIns="0" bIns="0" rtlCol="0" anchor="ctr"/>
          <a:lstStyle/>
          <a:p>
            <a:pPr algn="l">
              <a:lnSpc>
                <a:spcPct val="120000"/>
              </a:lnSpc>
            </a:pPr>
            <a:r>
              <a:rPr lang="en-US" sz="1300" i="1" dirty="0">
                <a:solidFill>
                  <a:srgbClr val="5A6577"/>
                </a:solidFill>
                <a:latin typeface="Quattrocento Sans" pitchFamily="34" charset="0"/>
                <a:ea typeface="Quattrocento Sans" pitchFamily="34" charset="-122"/>
                <a:cs typeface="Quattrocento Sans" pitchFamily="34" charset="-120"/>
              </a:rPr>
              <a:t>Actual Return - Expected Return</a:t>
            </a:r>
            <a:endParaRPr lang="en-US" sz="1300" dirty="0"/>
          </a:p>
        </p:txBody>
      </p:sp>
      <p:sp>
        <p:nvSpPr>
          <p:cNvPr id="29" name="Shape 27"/>
          <p:cNvSpPr/>
          <p:nvPr/>
        </p:nvSpPr>
        <p:spPr>
          <a:xfrm>
            <a:off x="5778500" y="5016500"/>
            <a:ext cx="4699000" cy="2921000"/>
          </a:xfrm>
          <a:prstGeom prst="rect">
            <a:avLst/>
          </a:prstGeom>
          <a:solidFill>
            <a:srgbClr val="FFFFFF"/>
          </a:solidFill>
          <a:ln w="12700">
            <a:solidFill>
              <a:srgbClr val="E0DDD6"/>
            </a:solidFill>
            <a:prstDash val="solid"/>
          </a:ln>
        </p:spPr>
      </p:sp>
      <p:sp>
        <p:nvSpPr>
          <p:cNvPr id="30" name="Shape 28"/>
          <p:cNvSpPr/>
          <p:nvPr/>
        </p:nvSpPr>
        <p:spPr>
          <a:xfrm>
            <a:off x="5778500" y="5016500"/>
            <a:ext cx="4699000" cy="63500"/>
          </a:xfrm>
          <a:prstGeom prst="rect">
            <a:avLst/>
          </a:prstGeom>
          <a:solidFill>
            <a:srgbClr val="0F1B3D"/>
          </a:solidFill>
          <a:ln/>
        </p:spPr>
      </p:sp>
      <p:sp>
        <p:nvSpPr>
          <p:cNvPr id="31" name="Shape 29"/>
          <p:cNvSpPr/>
          <p:nvPr/>
        </p:nvSpPr>
        <p:spPr>
          <a:xfrm>
            <a:off x="6096000" y="5334000"/>
            <a:ext cx="406400" cy="406400"/>
          </a:xfrm>
          <a:custGeom>
            <a:avLst/>
            <a:gdLst/>
            <a:ahLst/>
            <a:cxnLst/>
            <a:rect l="l" t="t" r="r" b="b"/>
            <a:pathLst>
              <a:path w="406400" h="406400">
                <a:moveTo>
                  <a:pt x="50800" y="76200"/>
                </a:moveTo>
                <a:cubicBezTo>
                  <a:pt x="50800" y="62151"/>
                  <a:pt x="62151" y="50800"/>
                  <a:pt x="76200" y="50800"/>
                </a:cubicBezTo>
                <a:lnTo>
                  <a:pt x="203200" y="50800"/>
                </a:lnTo>
                <a:cubicBezTo>
                  <a:pt x="217249" y="50800"/>
                  <a:pt x="228600" y="62151"/>
                  <a:pt x="228600" y="76200"/>
                </a:cubicBezTo>
                <a:lnTo>
                  <a:pt x="228600" y="304800"/>
                </a:lnTo>
                <a:lnTo>
                  <a:pt x="304800" y="304800"/>
                </a:lnTo>
                <a:lnTo>
                  <a:pt x="304800" y="203200"/>
                </a:lnTo>
                <a:cubicBezTo>
                  <a:pt x="304800" y="189151"/>
                  <a:pt x="316151" y="177800"/>
                  <a:pt x="330200" y="177800"/>
                </a:cubicBezTo>
                <a:lnTo>
                  <a:pt x="381000" y="177800"/>
                </a:lnTo>
                <a:cubicBezTo>
                  <a:pt x="395049" y="177800"/>
                  <a:pt x="406400" y="189151"/>
                  <a:pt x="406400" y="203200"/>
                </a:cubicBezTo>
                <a:cubicBezTo>
                  <a:pt x="406400" y="217249"/>
                  <a:pt x="395049" y="228600"/>
                  <a:pt x="381000" y="228600"/>
                </a:cubicBezTo>
                <a:lnTo>
                  <a:pt x="355600" y="228600"/>
                </a:lnTo>
                <a:lnTo>
                  <a:pt x="355600" y="330200"/>
                </a:lnTo>
                <a:cubicBezTo>
                  <a:pt x="355600" y="344249"/>
                  <a:pt x="344249" y="355600"/>
                  <a:pt x="330200" y="355600"/>
                </a:cubicBezTo>
                <a:lnTo>
                  <a:pt x="203200" y="355600"/>
                </a:lnTo>
                <a:cubicBezTo>
                  <a:pt x="189151" y="355600"/>
                  <a:pt x="177800" y="344249"/>
                  <a:pt x="177800" y="330200"/>
                </a:cubicBezTo>
                <a:lnTo>
                  <a:pt x="177800" y="101600"/>
                </a:lnTo>
                <a:lnTo>
                  <a:pt x="101600" y="101600"/>
                </a:lnTo>
                <a:lnTo>
                  <a:pt x="101600" y="203200"/>
                </a:lnTo>
                <a:cubicBezTo>
                  <a:pt x="101600" y="217249"/>
                  <a:pt x="90249" y="228600"/>
                  <a:pt x="76200" y="228600"/>
                </a:cubicBezTo>
                <a:lnTo>
                  <a:pt x="25400" y="228600"/>
                </a:lnTo>
                <a:cubicBezTo>
                  <a:pt x="11351" y="228600"/>
                  <a:pt x="0" y="217249"/>
                  <a:pt x="0" y="203200"/>
                </a:cubicBezTo>
                <a:cubicBezTo>
                  <a:pt x="0" y="189151"/>
                  <a:pt x="11351" y="177800"/>
                  <a:pt x="25400" y="177800"/>
                </a:cubicBezTo>
                <a:lnTo>
                  <a:pt x="50800" y="177800"/>
                </a:lnTo>
                <a:lnTo>
                  <a:pt x="50800" y="76200"/>
                </a:lnTo>
                <a:close/>
              </a:path>
            </a:pathLst>
          </a:custGeom>
          <a:solidFill>
            <a:srgbClr val="0F1B3D"/>
          </a:solidFill>
          <a:ln/>
        </p:spPr>
      </p:sp>
      <p:sp>
        <p:nvSpPr>
          <p:cNvPr id="32" name="Text 30"/>
          <p:cNvSpPr/>
          <p:nvPr/>
        </p:nvSpPr>
        <p:spPr>
          <a:xfrm>
            <a:off x="6667500" y="5334000"/>
            <a:ext cx="3556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Beta</a:t>
            </a:r>
            <a:endParaRPr lang="en-US" sz="2000" dirty="0"/>
          </a:p>
        </p:txBody>
      </p:sp>
      <p:sp>
        <p:nvSpPr>
          <p:cNvPr id="33" name="Text 31"/>
          <p:cNvSpPr/>
          <p:nvPr/>
        </p:nvSpPr>
        <p:spPr>
          <a:xfrm>
            <a:off x="6096000" y="5905500"/>
            <a:ext cx="4064000" cy="1206500"/>
          </a:xfrm>
          <a:prstGeom prst="rect">
            <a:avLst/>
          </a:prstGeom>
          <a:noFill/>
          <a:ln/>
        </p:spPr>
        <p:txBody>
          <a:bodyPr wrap="square" lIns="0" tIns="0" rIns="0" bIns="0" rtlCol="0" anchor="t"/>
          <a:lstStyle/>
          <a:p>
            <a:pPr algn="l">
              <a:lnSpc>
                <a:spcPct val="150000"/>
              </a:lnSpc>
            </a:pPr>
            <a:r>
              <a:rPr lang="en-US" sz="1500" dirty="0">
                <a:solidFill>
                  <a:srgbClr val="1C1C1E"/>
                </a:solidFill>
                <a:latin typeface="Quattrocento Sans" pitchFamily="34" charset="0"/>
                <a:ea typeface="Quattrocento Sans" pitchFamily="34" charset="-122"/>
                <a:cs typeface="Quattrocento Sans" pitchFamily="34" charset="-120"/>
              </a:rPr>
              <a:t>Measures fund sensitivity to market movements. Beta &gt; 1 means higher volatility than the market.</a:t>
            </a:r>
            <a:endParaRPr lang="en-US" sz="1500" dirty="0"/>
          </a:p>
        </p:txBody>
      </p:sp>
      <p:sp>
        <p:nvSpPr>
          <p:cNvPr id="34" name="Text 32"/>
          <p:cNvSpPr/>
          <p:nvPr/>
        </p:nvSpPr>
        <p:spPr>
          <a:xfrm>
            <a:off x="6096000" y="7239000"/>
            <a:ext cx="4064000" cy="381000"/>
          </a:xfrm>
          <a:prstGeom prst="rect">
            <a:avLst/>
          </a:prstGeom>
          <a:noFill/>
          <a:ln/>
        </p:spPr>
        <p:txBody>
          <a:bodyPr wrap="square" lIns="0" tIns="0" rIns="0" bIns="0" rtlCol="0" anchor="ctr"/>
          <a:lstStyle/>
          <a:p>
            <a:pPr algn="l">
              <a:lnSpc>
                <a:spcPct val="120000"/>
              </a:lnSpc>
            </a:pPr>
            <a:r>
              <a:rPr lang="en-US" sz="1300" i="1" dirty="0">
                <a:solidFill>
                  <a:srgbClr val="5A6577"/>
                </a:solidFill>
                <a:latin typeface="Quattrocento Sans" pitchFamily="34" charset="0"/>
                <a:ea typeface="Quattrocento Sans" pitchFamily="34" charset="-122"/>
                <a:cs typeface="Quattrocento Sans" pitchFamily="34" charset="-120"/>
              </a:rPr>
              <a:t>Cov(Fund, Market) / Var(Market)</a:t>
            </a:r>
            <a:endParaRPr lang="en-US" sz="1300" dirty="0"/>
          </a:p>
        </p:txBody>
      </p:sp>
      <p:sp>
        <p:nvSpPr>
          <p:cNvPr id="35" name="Shape 33"/>
          <p:cNvSpPr/>
          <p:nvPr/>
        </p:nvSpPr>
        <p:spPr>
          <a:xfrm>
            <a:off x="10795000" y="5016500"/>
            <a:ext cx="4699000" cy="2921000"/>
          </a:xfrm>
          <a:prstGeom prst="rect">
            <a:avLst/>
          </a:prstGeom>
          <a:solidFill>
            <a:srgbClr val="FFFFFF"/>
          </a:solidFill>
          <a:ln w="12700">
            <a:solidFill>
              <a:srgbClr val="E0DDD6"/>
            </a:solidFill>
            <a:prstDash val="solid"/>
          </a:ln>
        </p:spPr>
      </p:sp>
      <p:sp>
        <p:nvSpPr>
          <p:cNvPr id="36" name="Shape 34"/>
          <p:cNvSpPr/>
          <p:nvPr/>
        </p:nvSpPr>
        <p:spPr>
          <a:xfrm>
            <a:off x="10795000" y="5016500"/>
            <a:ext cx="4699000" cy="63500"/>
          </a:xfrm>
          <a:prstGeom prst="rect">
            <a:avLst/>
          </a:prstGeom>
          <a:solidFill>
            <a:srgbClr val="0F1B3D"/>
          </a:solidFill>
          <a:ln/>
        </p:spPr>
      </p:sp>
      <p:sp>
        <p:nvSpPr>
          <p:cNvPr id="37" name="Shape 35"/>
          <p:cNvSpPr/>
          <p:nvPr/>
        </p:nvSpPr>
        <p:spPr>
          <a:xfrm>
            <a:off x="11112500" y="5334000"/>
            <a:ext cx="406400" cy="406400"/>
          </a:xfrm>
          <a:custGeom>
            <a:avLst/>
            <a:gdLst/>
            <a:ahLst/>
            <a:cxnLst/>
            <a:rect l="l" t="t" r="r" b="b"/>
            <a:pathLst>
              <a:path w="406400" h="406400">
                <a:moveTo>
                  <a:pt x="179282" y="398939"/>
                </a:moveTo>
                <a:cubicBezTo>
                  <a:pt x="192511" y="408861"/>
                  <a:pt x="213995" y="408861"/>
                  <a:pt x="227224" y="398939"/>
                </a:cubicBezTo>
                <a:lnTo>
                  <a:pt x="396557" y="271939"/>
                </a:lnTo>
                <a:cubicBezTo>
                  <a:pt x="409787" y="262017"/>
                  <a:pt x="409787" y="245904"/>
                  <a:pt x="396557" y="235982"/>
                </a:cubicBezTo>
                <a:cubicBezTo>
                  <a:pt x="383328" y="226060"/>
                  <a:pt x="361844" y="226060"/>
                  <a:pt x="348615" y="235982"/>
                </a:cubicBezTo>
                <a:lnTo>
                  <a:pt x="237067" y="319643"/>
                </a:lnTo>
                <a:lnTo>
                  <a:pt x="237067" y="25400"/>
                </a:lnTo>
                <a:cubicBezTo>
                  <a:pt x="237067" y="11351"/>
                  <a:pt x="221932" y="0"/>
                  <a:pt x="203200" y="0"/>
                </a:cubicBezTo>
                <a:cubicBezTo>
                  <a:pt x="184468" y="0"/>
                  <a:pt x="169333" y="11351"/>
                  <a:pt x="169333" y="25400"/>
                </a:cubicBezTo>
                <a:lnTo>
                  <a:pt x="169333" y="319643"/>
                </a:lnTo>
                <a:lnTo>
                  <a:pt x="57785" y="235982"/>
                </a:lnTo>
                <a:cubicBezTo>
                  <a:pt x="44556" y="226060"/>
                  <a:pt x="23072" y="226060"/>
                  <a:pt x="9842" y="235982"/>
                </a:cubicBezTo>
                <a:cubicBezTo>
                  <a:pt x="-3387" y="245904"/>
                  <a:pt x="-3387" y="262017"/>
                  <a:pt x="9842" y="271939"/>
                </a:cubicBezTo>
                <a:lnTo>
                  <a:pt x="179176" y="398939"/>
                </a:lnTo>
                <a:close/>
              </a:path>
            </a:pathLst>
          </a:custGeom>
          <a:solidFill>
            <a:srgbClr val="0F1B3D"/>
          </a:solidFill>
          <a:ln/>
        </p:spPr>
      </p:sp>
      <p:sp>
        <p:nvSpPr>
          <p:cNvPr id="38" name="Text 36"/>
          <p:cNvSpPr/>
          <p:nvPr/>
        </p:nvSpPr>
        <p:spPr>
          <a:xfrm>
            <a:off x="11684000" y="5334000"/>
            <a:ext cx="3556000" cy="381000"/>
          </a:xfrm>
          <a:prstGeom prst="rect">
            <a:avLst/>
          </a:prstGeom>
          <a:noFill/>
          <a:ln/>
        </p:spPr>
        <p:txBody>
          <a:bodyPr wrap="none" lIns="0" tIns="0" rIns="0" bIns="0" rtlCol="0" anchor="ctr"/>
          <a:lstStyle/>
          <a:p>
            <a:pPr algn="l">
              <a:lnSpc>
                <a:spcPct val="120000"/>
              </a:lnSpc>
            </a:pPr>
            <a:r>
              <a:rPr lang="en-US" sz="2000" b="1" dirty="0">
                <a:solidFill>
                  <a:srgbClr val="0F1B3D"/>
                </a:solidFill>
                <a:latin typeface="Liter" pitchFamily="34" charset="0"/>
                <a:ea typeface="Liter" pitchFamily="34" charset="-122"/>
                <a:cs typeface="Liter" pitchFamily="34" charset="-120"/>
              </a:rPr>
              <a:t>Max Drawdown</a:t>
            </a:r>
            <a:endParaRPr lang="en-US" sz="2000" dirty="0"/>
          </a:p>
        </p:txBody>
      </p:sp>
      <p:sp>
        <p:nvSpPr>
          <p:cNvPr id="39" name="Text 37"/>
          <p:cNvSpPr/>
          <p:nvPr/>
        </p:nvSpPr>
        <p:spPr>
          <a:xfrm>
            <a:off x="11112500" y="5905500"/>
            <a:ext cx="4064000" cy="1206500"/>
          </a:xfrm>
          <a:prstGeom prst="rect">
            <a:avLst/>
          </a:prstGeom>
          <a:noFill/>
          <a:ln/>
        </p:spPr>
        <p:txBody>
          <a:bodyPr wrap="square" lIns="0" tIns="0" rIns="0" bIns="0" rtlCol="0" anchor="t"/>
          <a:lstStyle/>
          <a:p>
            <a:pPr algn="l">
              <a:lnSpc>
                <a:spcPct val="150000"/>
              </a:lnSpc>
            </a:pPr>
            <a:r>
              <a:rPr lang="en-US" sz="1500" dirty="0">
                <a:solidFill>
                  <a:srgbClr val="1C1C1E"/>
                </a:solidFill>
                <a:latin typeface="Quattrocento Sans" pitchFamily="34" charset="0"/>
                <a:ea typeface="Quattrocento Sans" pitchFamily="34" charset="-122"/>
                <a:cs typeface="Quattrocento Sans" pitchFamily="34" charset="-120"/>
              </a:rPr>
              <a:t>Quantifies worst-case peak-to-trough decline. Critical for understanding downside risk exposure.</a:t>
            </a:r>
            <a:endParaRPr lang="en-US" sz="1500" dirty="0"/>
          </a:p>
        </p:txBody>
      </p:sp>
      <p:sp>
        <p:nvSpPr>
          <p:cNvPr id="40" name="Text 38"/>
          <p:cNvSpPr/>
          <p:nvPr/>
        </p:nvSpPr>
        <p:spPr>
          <a:xfrm>
            <a:off x="11112500" y="7239000"/>
            <a:ext cx="4064000" cy="381000"/>
          </a:xfrm>
          <a:prstGeom prst="rect">
            <a:avLst/>
          </a:prstGeom>
          <a:noFill/>
          <a:ln/>
        </p:spPr>
        <p:txBody>
          <a:bodyPr wrap="square" lIns="0" tIns="0" rIns="0" bIns="0" rtlCol="0" anchor="ctr"/>
          <a:lstStyle/>
          <a:p>
            <a:pPr algn="l">
              <a:lnSpc>
                <a:spcPct val="120000"/>
              </a:lnSpc>
            </a:pPr>
            <a:r>
              <a:rPr lang="en-US" sz="1300" i="1" dirty="0">
                <a:solidFill>
                  <a:srgbClr val="5A6577"/>
                </a:solidFill>
                <a:latin typeface="Quattrocento Sans" pitchFamily="34" charset="0"/>
                <a:ea typeface="Quattrocento Sans" pitchFamily="34" charset="-122"/>
                <a:cs typeface="Quattrocento Sans" pitchFamily="34" charset="-120"/>
              </a:rPr>
              <a:t>(Trough - Peak) / Peak value</a:t>
            </a:r>
            <a:endParaRPr lang="en-US" sz="1300" dirty="0"/>
          </a:p>
        </p:txBody>
      </p:sp>
      <p:sp>
        <p:nvSpPr>
          <p:cNvPr id="41" name="Text 39"/>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08</a:t>
            </a:r>
            <a:endParaRPr lang="en-US" sz="13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762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FUND SCORECARD ANALYSIS</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778000"/>
            <a:ext cx="6350000" cy="6477000"/>
          </a:xfrm>
          <a:prstGeom prst="rect">
            <a:avLst/>
          </a:prstGeom>
          <a:solidFill>
            <a:srgbClr val="0F1B3D"/>
          </a:solidFill>
          <a:ln/>
        </p:spPr>
      </p:sp>
      <p:sp>
        <p:nvSpPr>
          <p:cNvPr id="6" name="Text 4"/>
          <p:cNvSpPr/>
          <p:nvPr/>
        </p:nvSpPr>
        <p:spPr>
          <a:xfrm>
            <a:off x="1143000" y="2095500"/>
            <a:ext cx="5588000" cy="381000"/>
          </a:xfrm>
          <a:prstGeom prst="rect">
            <a:avLst/>
          </a:prstGeom>
          <a:noFill/>
          <a:ln/>
        </p:spPr>
        <p:txBody>
          <a:bodyPr wrap="none" lIns="0" tIns="0" rIns="0" bIns="0" rtlCol="0" anchor="ctr"/>
          <a:lstStyle/>
          <a:p>
            <a:pPr algn="l">
              <a:lnSpc>
                <a:spcPct val="120000"/>
              </a:lnSpc>
            </a:pPr>
            <a:r>
              <a:rPr lang="en-US" sz="2000" spc="200" kern="0" dirty="0">
                <a:solidFill>
                  <a:srgbClr val="C9A227"/>
                </a:solidFill>
                <a:latin typeface="Liter" pitchFamily="34" charset="0"/>
                <a:ea typeface="Liter" pitchFamily="34" charset="-122"/>
                <a:cs typeface="Liter" pitchFamily="34" charset="-120"/>
              </a:rPr>
              <a:t>RANKING METHODOLOGY</a:t>
            </a:r>
            <a:endParaRPr lang="en-US" sz="2000" dirty="0"/>
          </a:p>
        </p:txBody>
      </p:sp>
      <p:sp>
        <p:nvSpPr>
          <p:cNvPr id="7" name="Shape 5"/>
          <p:cNvSpPr/>
          <p:nvPr/>
        </p:nvSpPr>
        <p:spPr>
          <a:xfrm>
            <a:off x="1143000" y="2565400"/>
            <a:ext cx="635000" cy="25400"/>
          </a:xfrm>
          <a:prstGeom prst="rect">
            <a:avLst/>
          </a:prstGeom>
          <a:solidFill>
            <a:srgbClr val="C9A227"/>
          </a:solidFill>
          <a:ln/>
        </p:spPr>
      </p:sp>
      <p:sp>
        <p:nvSpPr>
          <p:cNvPr id="8" name="Shape 6"/>
          <p:cNvSpPr/>
          <p:nvPr/>
        </p:nvSpPr>
        <p:spPr>
          <a:xfrm>
            <a:off x="1143000" y="29210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C9A227"/>
          </a:solidFill>
          <a:ln/>
        </p:spPr>
      </p:sp>
      <p:sp>
        <p:nvSpPr>
          <p:cNvPr id="9" name="Text 7"/>
          <p:cNvSpPr/>
          <p:nvPr/>
        </p:nvSpPr>
        <p:spPr>
          <a:xfrm>
            <a:off x="1651000" y="2895600"/>
            <a:ext cx="5080000" cy="762000"/>
          </a:xfrm>
          <a:prstGeom prst="rect">
            <a:avLst/>
          </a:prstGeom>
          <a:noFill/>
          <a:ln/>
        </p:spPr>
        <p:txBody>
          <a:bodyPr wrap="square" lIns="0" tIns="0" rIns="0" bIns="0" rtlCol="0" anchor="t"/>
          <a:lstStyle/>
          <a:p>
            <a:pPr algn="l">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Return</a:t>
            </a:r>
            <a:endParaRPr lang="en-US" sz="1600" dirty="0"/>
          </a:p>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Historical returns across multiple time horizons</a:t>
            </a:r>
            <a:endParaRPr lang="en-US" sz="1600" dirty="0"/>
          </a:p>
        </p:txBody>
      </p:sp>
      <p:sp>
        <p:nvSpPr>
          <p:cNvPr id="10" name="Shape 8"/>
          <p:cNvSpPr/>
          <p:nvPr/>
        </p:nvSpPr>
        <p:spPr>
          <a:xfrm>
            <a:off x="1143000" y="38100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C9A227"/>
          </a:solidFill>
          <a:ln/>
        </p:spPr>
      </p:sp>
      <p:sp>
        <p:nvSpPr>
          <p:cNvPr id="11" name="Text 9"/>
          <p:cNvSpPr/>
          <p:nvPr/>
        </p:nvSpPr>
        <p:spPr>
          <a:xfrm>
            <a:off x="1651000" y="3784600"/>
            <a:ext cx="5080000" cy="762000"/>
          </a:xfrm>
          <a:prstGeom prst="rect">
            <a:avLst/>
          </a:prstGeom>
          <a:noFill/>
          <a:ln/>
        </p:spPr>
        <p:txBody>
          <a:bodyPr wrap="square" lIns="0" tIns="0" rIns="0" bIns="0" rtlCol="0" anchor="t"/>
          <a:lstStyle/>
          <a:p>
            <a:pPr algn="l">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Risk</a:t>
            </a:r>
            <a:endParaRPr lang="en-US" sz="1600" dirty="0"/>
          </a:p>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Standard deviation and downside risk measures</a:t>
            </a:r>
            <a:endParaRPr lang="en-US" sz="1600" dirty="0"/>
          </a:p>
        </p:txBody>
      </p:sp>
      <p:sp>
        <p:nvSpPr>
          <p:cNvPr id="12" name="Shape 10"/>
          <p:cNvSpPr/>
          <p:nvPr/>
        </p:nvSpPr>
        <p:spPr>
          <a:xfrm>
            <a:off x="1143000" y="4699000"/>
            <a:ext cx="355600" cy="355600"/>
          </a:xfrm>
          <a:custGeom>
            <a:avLst/>
            <a:gdLst/>
            <a:ahLst/>
            <a:cxnLst/>
            <a:rect l="l" t="t" r="r" b="b"/>
            <a:pathLst>
              <a:path w="355600" h="355600">
                <a:moveTo>
                  <a:pt x="191073" y="-13127"/>
                </a:moveTo>
                <a:cubicBezTo>
                  <a:pt x="188542" y="-18683"/>
                  <a:pt x="183418" y="-22225"/>
                  <a:pt x="177862" y="-22225"/>
                </a:cubicBezTo>
                <a:cubicBezTo>
                  <a:pt x="172305" y="-22225"/>
                  <a:pt x="167181" y="-18683"/>
                  <a:pt x="164650" y="-13127"/>
                </a:cubicBezTo>
                <a:lnTo>
                  <a:pt x="119212" y="87025"/>
                </a:lnTo>
                <a:lnTo>
                  <a:pt x="20496" y="104666"/>
                </a:lnTo>
                <a:cubicBezTo>
                  <a:pt x="15002" y="105638"/>
                  <a:pt x="10433" y="110014"/>
                  <a:pt x="8705" y="115987"/>
                </a:cubicBezTo>
                <a:cubicBezTo>
                  <a:pt x="6976" y="121960"/>
                  <a:pt x="8396" y="128488"/>
                  <a:pt x="12285" y="132933"/>
                </a:cubicBezTo>
                <a:lnTo>
                  <a:pt x="82912" y="212457"/>
                </a:lnTo>
                <a:lnTo>
                  <a:pt x="67354" y="323513"/>
                </a:lnTo>
                <a:cubicBezTo>
                  <a:pt x="66490" y="329694"/>
                  <a:pt x="68774" y="335945"/>
                  <a:pt x="73281" y="339626"/>
                </a:cubicBezTo>
                <a:cubicBezTo>
                  <a:pt x="77788" y="343307"/>
                  <a:pt x="83714" y="343862"/>
                  <a:pt x="88715" y="341015"/>
                </a:cubicBezTo>
                <a:lnTo>
                  <a:pt x="177862" y="290036"/>
                </a:lnTo>
                <a:lnTo>
                  <a:pt x="266947" y="341015"/>
                </a:lnTo>
                <a:cubicBezTo>
                  <a:pt x="271886" y="343862"/>
                  <a:pt x="277874" y="343307"/>
                  <a:pt x="282381" y="339626"/>
                </a:cubicBezTo>
                <a:cubicBezTo>
                  <a:pt x="286888" y="335945"/>
                  <a:pt x="289172" y="329763"/>
                  <a:pt x="288308" y="323513"/>
                </a:cubicBezTo>
                <a:lnTo>
                  <a:pt x="272688" y="212457"/>
                </a:lnTo>
                <a:lnTo>
                  <a:pt x="343315" y="132933"/>
                </a:lnTo>
                <a:cubicBezTo>
                  <a:pt x="347266" y="128488"/>
                  <a:pt x="348624" y="121960"/>
                  <a:pt x="346895" y="115987"/>
                </a:cubicBezTo>
                <a:cubicBezTo>
                  <a:pt x="345167" y="110014"/>
                  <a:pt x="340660" y="105638"/>
                  <a:pt x="335104" y="104666"/>
                </a:cubicBezTo>
                <a:lnTo>
                  <a:pt x="236449" y="87025"/>
                </a:lnTo>
                <a:lnTo>
                  <a:pt x="191073" y="-13127"/>
                </a:lnTo>
                <a:close/>
              </a:path>
            </a:pathLst>
          </a:custGeom>
          <a:solidFill>
            <a:srgbClr val="C9A227"/>
          </a:solidFill>
          <a:ln/>
        </p:spPr>
      </p:sp>
      <p:sp>
        <p:nvSpPr>
          <p:cNvPr id="13" name="Text 11"/>
          <p:cNvSpPr/>
          <p:nvPr/>
        </p:nvSpPr>
        <p:spPr>
          <a:xfrm>
            <a:off x="1651000" y="4673600"/>
            <a:ext cx="5080000" cy="762000"/>
          </a:xfrm>
          <a:prstGeom prst="rect">
            <a:avLst/>
          </a:prstGeom>
          <a:noFill/>
          <a:ln/>
        </p:spPr>
        <p:txBody>
          <a:bodyPr wrap="square" lIns="0" tIns="0" rIns="0" bIns="0" rtlCol="0" anchor="t"/>
          <a:lstStyle/>
          <a:p>
            <a:pPr algn="l">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Sharpe Ratio</a:t>
            </a:r>
            <a:endParaRPr lang="en-US" sz="1600" dirty="0"/>
          </a:p>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Risk-adjusted return efficiency score</a:t>
            </a:r>
            <a:endParaRPr lang="en-US" sz="1600" dirty="0"/>
          </a:p>
        </p:txBody>
      </p:sp>
      <p:sp>
        <p:nvSpPr>
          <p:cNvPr id="14" name="Shape 12"/>
          <p:cNvSpPr/>
          <p:nvPr/>
        </p:nvSpPr>
        <p:spPr>
          <a:xfrm>
            <a:off x="1143000" y="5588000"/>
            <a:ext cx="355600" cy="355600"/>
          </a:xfrm>
          <a:custGeom>
            <a:avLst/>
            <a:gdLst/>
            <a:ahLst/>
            <a:cxnLst/>
            <a:rect l="l" t="t" r="r" b="b"/>
            <a:pathLst>
              <a:path w="355600" h="355600">
                <a:moveTo>
                  <a:pt x="100221" y="0"/>
                </a:moveTo>
                <a:lnTo>
                  <a:pt x="255796" y="0"/>
                </a:lnTo>
                <a:cubicBezTo>
                  <a:pt x="274201" y="0"/>
                  <a:pt x="289203" y="15141"/>
                  <a:pt x="288508" y="33476"/>
                </a:cubicBezTo>
                <a:cubicBezTo>
                  <a:pt x="288369" y="37157"/>
                  <a:pt x="288230" y="40838"/>
                  <a:pt x="288022" y="44450"/>
                </a:cubicBezTo>
                <a:lnTo>
                  <a:pt x="322471" y="44450"/>
                </a:lnTo>
                <a:cubicBezTo>
                  <a:pt x="340598" y="44450"/>
                  <a:pt x="356572" y="59452"/>
                  <a:pt x="355183" y="79038"/>
                </a:cubicBezTo>
                <a:cubicBezTo>
                  <a:pt x="349974" y="151061"/>
                  <a:pt x="313164" y="190649"/>
                  <a:pt x="273229" y="211346"/>
                </a:cubicBezTo>
                <a:cubicBezTo>
                  <a:pt x="262255" y="217041"/>
                  <a:pt x="251073" y="221278"/>
                  <a:pt x="240447" y="224403"/>
                </a:cubicBezTo>
                <a:cubicBezTo>
                  <a:pt x="226417" y="244267"/>
                  <a:pt x="211832" y="254754"/>
                  <a:pt x="200233" y="260380"/>
                </a:cubicBezTo>
                <a:lnTo>
                  <a:pt x="200233" y="311150"/>
                </a:lnTo>
                <a:lnTo>
                  <a:pt x="244683" y="311150"/>
                </a:lnTo>
                <a:cubicBezTo>
                  <a:pt x="256977" y="311150"/>
                  <a:pt x="266908" y="321082"/>
                  <a:pt x="266908" y="333375"/>
                </a:cubicBezTo>
                <a:cubicBezTo>
                  <a:pt x="266908" y="345668"/>
                  <a:pt x="256977" y="355600"/>
                  <a:pt x="244683" y="355600"/>
                </a:cubicBezTo>
                <a:lnTo>
                  <a:pt x="111333" y="355600"/>
                </a:lnTo>
                <a:cubicBezTo>
                  <a:pt x="99040" y="355600"/>
                  <a:pt x="89108" y="345668"/>
                  <a:pt x="89108" y="333375"/>
                </a:cubicBezTo>
                <a:cubicBezTo>
                  <a:pt x="89108" y="321082"/>
                  <a:pt x="99040" y="311150"/>
                  <a:pt x="111333" y="311150"/>
                </a:cubicBezTo>
                <a:lnTo>
                  <a:pt x="155783" y="311150"/>
                </a:lnTo>
                <a:lnTo>
                  <a:pt x="155783" y="260380"/>
                </a:lnTo>
                <a:cubicBezTo>
                  <a:pt x="144671" y="255032"/>
                  <a:pt x="130850" y="245100"/>
                  <a:pt x="117376" y="226834"/>
                </a:cubicBezTo>
                <a:cubicBezTo>
                  <a:pt x="104596" y="223500"/>
                  <a:pt x="90706" y="218430"/>
                  <a:pt x="77162" y="210790"/>
                </a:cubicBezTo>
                <a:cubicBezTo>
                  <a:pt x="39588" y="189746"/>
                  <a:pt x="5695" y="150088"/>
                  <a:pt x="833" y="78899"/>
                </a:cubicBezTo>
                <a:cubicBezTo>
                  <a:pt x="-486" y="59382"/>
                  <a:pt x="15419" y="44381"/>
                  <a:pt x="33546" y="44381"/>
                </a:cubicBezTo>
                <a:lnTo>
                  <a:pt x="67995" y="44381"/>
                </a:lnTo>
                <a:cubicBezTo>
                  <a:pt x="67786" y="40769"/>
                  <a:pt x="67647" y="37157"/>
                  <a:pt x="67508" y="33407"/>
                </a:cubicBezTo>
                <a:cubicBezTo>
                  <a:pt x="66814" y="15002"/>
                  <a:pt x="81816" y="-69"/>
                  <a:pt x="100221" y="-69"/>
                </a:cubicBezTo>
                <a:close/>
                <a:moveTo>
                  <a:pt x="70495" y="77788"/>
                </a:moveTo>
                <a:lnTo>
                  <a:pt x="34101" y="77788"/>
                </a:lnTo>
                <a:cubicBezTo>
                  <a:pt x="38408" y="136614"/>
                  <a:pt x="65425" y="166062"/>
                  <a:pt x="93276" y="181689"/>
                </a:cubicBezTo>
                <a:cubicBezTo>
                  <a:pt x="83274" y="155783"/>
                  <a:pt x="75009" y="121960"/>
                  <a:pt x="70495" y="77788"/>
                </a:cubicBezTo>
                <a:close/>
                <a:moveTo>
                  <a:pt x="263922" y="178356"/>
                </a:moveTo>
                <a:cubicBezTo>
                  <a:pt x="292050" y="161826"/>
                  <a:pt x="317470" y="132447"/>
                  <a:pt x="321776" y="77788"/>
                </a:cubicBezTo>
                <a:lnTo>
                  <a:pt x="285452" y="77788"/>
                </a:lnTo>
                <a:cubicBezTo>
                  <a:pt x="281146" y="120084"/>
                  <a:pt x="273368" y="152936"/>
                  <a:pt x="263922" y="178356"/>
                </a:cubicBezTo>
                <a:close/>
              </a:path>
            </a:pathLst>
          </a:custGeom>
          <a:solidFill>
            <a:srgbClr val="C9A227"/>
          </a:solidFill>
          <a:ln/>
        </p:spPr>
      </p:sp>
      <p:sp>
        <p:nvSpPr>
          <p:cNvPr id="15" name="Text 13"/>
          <p:cNvSpPr/>
          <p:nvPr/>
        </p:nvSpPr>
        <p:spPr>
          <a:xfrm>
            <a:off x="1651000" y="5562600"/>
            <a:ext cx="5080000" cy="762000"/>
          </a:xfrm>
          <a:prstGeom prst="rect">
            <a:avLst/>
          </a:prstGeom>
          <a:noFill/>
          <a:ln/>
        </p:spPr>
        <p:txBody>
          <a:bodyPr wrap="square" lIns="0" tIns="0" rIns="0" bIns="0" rtlCol="0" anchor="t"/>
          <a:lstStyle/>
          <a:p>
            <a:pPr algn="l">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Alpha</a:t>
            </a:r>
            <a:endParaRPr lang="en-US" sz="1600" dirty="0"/>
          </a:p>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Excess return generated above benchmark</a:t>
            </a:r>
            <a:endParaRPr lang="en-US" sz="1600" dirty="0"/>
          </a:p>
        </p:txBody>
      </p:sp>
      <p:sp>
        <p:nvSpPr>
          <p:cNvPr id="16" name="Shape 14"/>
          <p:cNvSpPr/>
          <p:nvPr/>
        </p:nvSpPr>
        <p:spPr>
          <a:xfrm>
            <a:off x="1143000" y="6477000"/>
            <a:ext cx="355600" cy="355600"/>
          </a:xfrm>
          <a:custGeom>
            <a:avLst/>
            <a:gdLst/>
            <a:ahLst/>
            <a:cxnLst/>
            <a:rect l="l" t="t" r="r" b="b"/>
            <a:pathLst>
              <a:path w="355600" h="355600">
                <a:moveTo>
                  <a:pt x="156871" y="349071"/>
                </a:moveTo>
                <a:cubicBezTo>
                  <a:pt x="168447" y="357753"/>
                  <a:pt x="187246" y="357753"/>
                  <a:pt x="198821" y="349071"/>
                </a:cubicBezTo>
                <a:lnTo>
                  <a:pt x="346988" y="237946"/>
                </a:lnTo>
                <a:cubicBezTo>
                  <a:pt x="358563" y="229265"/>
                  <a:pt x="358563" y="215166"/>
                  <a:pt x="346988" y="206484"/>
                </a:cubicBezTo>
                <a:cubicBezTo>
                  <a:pt x="335412" y="197803"/>
                  <a:pt x="316614" y="197803"/>
                  <a:pt x="305038" y="206484"/>
                </a:cubicBezTo>
                <a:lnTo>
                  <a:pt x="207433" y="279688"/>
                </a:lnTo>
                <a:lnTo>
                  <a:pt x="207433" y="22225"/>
                </a:lnTo>
                <a:cubicBezTo>
                  <a:pt x="207433" y="9932"/>
                  <a:pt x="194191" y="0"/>
                  <a:pt x="177800" y="0"/>
                </a:cubicBezTo>
                <a:cubicBezTo>
                  <a:pt x="161409" y="0"/>
                  <a:pt x="148167" y="9932"/>
                  <a:pt x="148167" y="22225"/>
                </a:cubicBezTo>
                <a:lnTo>
                  <a:pt x="148167" y="279688"/>
                </a:lnTo>
                <a:lnTo>
                  <a:pt x="50562" y="206484"/>
                </a:lnTo>
                <a:cubicBezTo>
                  <a:pt x="38986" y="197802"/>
                  <a:pt x="20188" y="197802"/>
                  <a:pt x="8612" y="206484"/>
                </a:cubicBezTo>
                <a:cubicBezTo>
                  <a:pt x="-2963" y="215166"/>
                  <a:pt x="-2963" y="229265"/>
                  <a:pt x="8612" y="237946"/>
                </a:cubicBezTo>
                <a:lnTo>
                  <a:pt x="156779" y="349071"/>
                </a:lnTo>
                <a:close/>
              </a:path>
            </a:pathLst>
          </a:custGeom>
          <a:solidFill>
            <a:srgbClr val="C9A227"/>
          </a:solidFill>
          <a:ln/>
        </p:spPr>
      </p:sp>
      <p:sp>
        <p:nvSpPr>
          <p:cNvPr id="17" name="Text 15"/>
          <p:cNvSpPr/>
          <p:nvPr/>
        </p:nvSpPr>
        <p:spPr>
          <a:xfrm>
            <a:off x="1651000" y="6451600"/>
            <a:ext cx="5080000" cy="762000"/>
          </a:xfrm>
          <a:prstGeom prst="rect">
            <a:avLst/>
          </a:prstGeom>
          <a:noFill/>
          <a:ln/>
        </p:spPr>
        <p:txBody>
          <a:bodyPr wrap="square" lIns="0" tIns="0" rIns="0" bIns="0" rtlCol="0" anchor="t"/>
          <a:lstStyle/>
          <a:p>
            <a:pPr algn="l">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Drawdown</a:t>
            </a:r>
            <a:endParaRPr lang="en-US" sz="1600" dirty="0"/>
          </a:p>
          <a:p>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Maximum historical decline from peak value</a:t>
            </a:r>
            <a:endParaRPr lang="en-US" sz="1600" dirty="0"/>
          </a:p>
        </p:txBody>
      </p:sp>
      <p:sp>
        <p:nvSpPr>
          <p:cNvPr id="18" name="Text 16"/>
          <p:cNvSpPr/>
          <p:nvPr/>
        </p:nvSpPr>
        <p:spPr>
          <a:xfrm>
            <a:off x="1143000" y="7366000"/>
            <a:ext cx="5588000" cy="635000"/>
          </a:xfrm>
          <a:prstGeom prst="rect">
            <a:avLst/>
          </a:prstGeom>
          <a:noFill/>
          <a:ln/>
        </p:spPr>
        <p:txBody>
          <a:bodyPr wrap="square" lIns="0" tIns="0" rIns="0" bIns="0" rtlCol="0" anchor="t"/>
          <a:lstStyle/>
          <a:p>
            <a:pPr algn="l">
              <a:lnSpc>
                <a:spcPct val="150000"/>
              </a:lnSpc>
            </a:pPr>
            <a:r>
              <a:rPr lang="en-US" sz="1400" dirty="0">
                <a:solidFill>
                  <a:srgbClr val="C9A227"/>
                </a:solidFill>
                <a:latin typeface="Quattrocento Sans" pitchFamily="34" charset="0"/>
                <a:ea typeface="Quattrocento Sans" pitchFamily="34" charset="-122"/>
                <a:cs typeface="Quattrocento Sans" pitchFamily="34" charset="-120"/>
              </a:rPr>
              <a:t>Composite scoring model aggregates all five dimensions into a single ranking score.</a:t>
            </a:r>
            <a:endParaRPr lang="en-US" sz="1400" dirty="0"/>
          </a:p>
        </p:txBody>
      </p:sp>
      <p:sp>
        <p:nvSpPr>
          <p:cNvPr id="19" name="Text 17"/>
          <p:cNvSpPr/>
          <p:nvPr/>
        </p:nvSpPr>
        <p:spPr>
          <a:xfrm>
            <a:off x="7747000" y="1778000"/>
            <a:ext cx="5080000" cy="355600"/>
          </a:xfrm>
          <a:prstGeom prst="rect">
            <a:avLst/>
          </a:prstGeom>
          <a:noFill/>
          <a:ln/>
        </p:spPr>
        <p:txBody>
          <a:bodyPr wrap="none" lIns="0" tIns="0" rIns="0" bIns="0" rtlCol="0" anchor="ctr"/>
          <a:lstStyle/>
          <a:p>
            <a:pPr algn="l">
              <a:lnSpc>
                <a:spcPct val="120000"/>
              </a:lnSpc>
            </a:pPr>
            <a:r>
              <a:rPr lang="en-US" sz="1800" spc="200" kern="0" dirty="0">
                <a:solidFill>
                  <a:srgbClr val="5A6577"/>
                </a:solidFill>
                <a:latin typeface="Liter" pitchFamily="34" charset="0"/>
                <a:ea typeface="Liter" pitchFamily="34" charset="-122"/>
                <a:cs typeface="Liter" pitchFamily="34" charset="-120"/>
              </a:rPr>
              <a:t>SCORECARD OUTCOMES</a:t>
            </a:r>
            <a:endParaRPr lang="en-US" sz="1800" dirty="0"/>
          </a:p>
        </p:txBody>
      </p:sp>
      <p:sp>
        <p:nvSpPr>
          <p:cNvPr id="20" name="Shape 18"/>
          <p:cNvSpPr/>
          <p:nvPr/>
        </p:nvSpPr>
        <p:spPr>
          <a:xfrm>
            <a:off x="7747000" y="2286000"/>
            <a:ext cx="7747000" cy="1270000"/>
          </a:xfrm>
          <a:prstGeom prst="rect">
            <a:avLst/>
          </a:prstGeom>
          <a:solidFill>
            <a:srgbClr val="FFFFFF"/>
          </a:solidFill>
          <a:ln w="12700">
            <a:solidFill>
              <a:srgbClr val="E0DDD6"/>
            </a:solidFill>
            <a:prstDash val="solid"/>
          </a:ln>
        </p:spPr>
      </p:sp>
      <p:sp>
        <p:nvSpPr>
          <p:cNvPr id="21" name="Shape 19"/>
          <p:cNvSpPr/>
          <p:nvPr/>
        </p:nvSpPr>
        <p:spPr>
          <a:xfrm>
            <a:off x="7747000" y="2286000"/>
            <a:ext cx="50800" cy="1270000"/>
          </a:xfrm>
          <a:prstGeom prst="rect">
            <a:avLst/>
          </a:prstGeom>
          <a:solidFill>
            <a:srgbClr val="C9A227"/>
          </a:solidFill>
          <a:ln/>
        </p:spPr>
      </p:sp>
      <p:sp>
        <p:nvSpPr>
          <p:cNvPr id="22" name="Text 20"/>
          <p:cNvSpPr/>
          <p:nvPr/>
        </p:nvSpPr>
        <p:spPr>
          <a:xfrm>
            <a:off x="8064500" y="2413000"/>
            <a:ext cx="1016000" cy="508000"/>
          </a:xfrm>
          <a:prstGeom prst="rect">
            <a:avLst/>
          </a:prstGeom>
          <a:noFill/>
          <a:ln/>
        </p:spPr>
        <p:txBody>
          <a:bodyPr wrap="none" lIns="0" tIns="0" rIns="0" bIns="0" rtlCol="0" anchor="ctr"/>
          <a:lstStyle/>
          <a:p>
            <a:pPr algn="ctr">
              <a:lnSpc>
                <a:spcPct val="120000"/>
              </a:lnSpc>
            </a:pPr>
            <a:r>
              <a:rPr lang="en-US" sz="3200" dirty="0">
                <a:solidFill>
                  <a:srgbClr val="C9A227"/>
                </a:solidFill>
                <a:latin typeface="Liter" pitchFamily="34" charset="0"/>
                <a:ea typeface="Liter" pitchFamily="34" charset="-122"/>
                <a:cs typeface="Liter" pitchFamily="34" charset="-120"/>
              </a:rPr>
              <a:t>Top</a:t>
            </a:r>
            <a:endParaRPr lang="en-US" sz="3200" dirty="0"/>
          </a:p>
        </p:txBody>
      </p:sp>
      <p:sp>
        <p:nvSpPr>
          <p:cNvPr id="23" name="Text 21"/>
          <p:cNvSpPr/>
          <p:nvPr/>
        </p:nvSpPr>
        <p:spPr>
          <a:xfrm>
            <a:off x="9144000" y="2413000"/>
            <a:ext cx="6096000" cy="1016000"/>
          </a:xfrm>
          <a:prstGeom prst="rect">
            <a:avLst/>
          </a:prstGeom>
          <a:noFill/>
          <a:ln/>
        </p:spPr>
        <p:txBody>
          <a:bodyPr wrap="square" lIns="0" tIns="0" rIns="0" bIns="0" rtlCol="0" anchor="ctr"/>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Top-performing funds identified through weighted scoring across all five metrics, enabling quick comparison.</a:t>
            </a:r>
            <a:endParaRPr lang="en-US" sz="1600" dirty="0"/>
          </a:p>
        </p:txBody>
      </p:sp>
      <p:sp>
        <p:nvSpPr>
          <p:cNvPr id="24" name="Shape 22"/>
          <p:cNvSpPr/>
          <p:nvPr/>
        </p:nvSpPr>
        <p:spPr>
          <a:xfrm>
            <a:off x="7747000" y="3810000"/>
            <a:ext cx="7747000" cy="1270000"/>
          </a:xfrm>
          <a:prstGeom prst="rect">
            <a:avLst/>
          </a:prstGeom>
          <a:solidFill>
            <a:srgbClr val="FFFFFF"/>
          </a:solidFill>
          <a:ln w="12700">
            <a:solidFill>
              <a:srgbClr val="E0DDD6"/>
            </a:solidFill>
            <a:prstDash val="solid"/>
          </a:ln>
        </p:spPr>
      </p:sp>
      <p:sp>
        <p:nvSpPr>
          <p:cNvPr id="25" name="Shape 23"/>
          <p:cNvSpPr/>
          <p:nvPr/>
        </p:nvSpPr>
        <p:spPr>
          <a:xfrm>
            <a:off x="7747000" y="3810000"/>
            <a:ext cx="50800" cy="1270000"/>
          </a:xfrm>
          <a:prstGeom prst="rect">
            <a:avLst/>
          </a:prstGeom>
          <a:solidFill>
            <a:srgbClr val="0F1B3D"/>
          </a:solidFill>
          <a:ln/>
        </p:spPr>
      </p:sp>
      <p:sp>
        <p:nvSpPr>
          <p:cNvPr id="26" name="Text 24"/>
          <p:cNvSpPr/>
          <p:nvPr/>
        </p:nvSpPr>
        <p:spPr>
          <a:xfrm>
            <a:off x="8064500" y="3937000"/>
            <a:ext cx="1016000" cy="508000"/>
          </a:xfrm>
          <a:prstGeom prst="rect">
            <a:avLst/>
          </a:prstGeom>
          <a:noFill/>
          <a:ln/>
        </p:spPr>
        <p:txBody>
          <a:bodyPr wrap="none" lIns="0" tIns="0" rIns="0" bIns="0" rtlCol="0" anchor="ctr"/>
          <a:lstStyle/>
          <a:p>
            <a:pPr algn="ctr">
              <a:lnSpc>
                <a:spcPct val="120000"/>
              </a:lnSpc>
            </a:pPr>
            <a:r>
              <a:rPr lang="en-US" sz="3200" dirty="0">
                <a:solidFill>
                  <a:srgbClr val="0F1B3D"/>
                </a:solidFill>
                <a:latin typeface="Liter" pitchFamily="34" charset="0"/>
                <a:ea typeface="Liter" pitchFamily="34" charset="-122"/>
                <a:cs typeface="Liter" pitchFamily="34" charset="-120"/>
              </a:rPr>
              <a:t>All</a:t>
            </a:r>
            <a:endParaRPr lang="en-US" sz="3200" dirty="0"/>
          </a:p>
        </p:txBody>
      </p:sp>
      <p:sp>
        <p:nvSpPr>
          <p:cNvPr id="27" name="Text 25"/>
          <p:cNvSpPr/>
          <p:nvPr/>
        </p:nvSpPr>
        <p:spPr>
          <a:xfrm>
            <a:off x="9144000" y="3937000"/>
            <a:ext cx="6096000" cy="1016000"/>
          </a:xfrm>
          <a:prstGeom prst="rect">
            <a:avLst/>
          </a:prstGeom>
          <a:noFill/>
          <a:ln/>
        </p:spPr>
        <p:txBody>
          <a:bodyPr wrap="square" lIns="0" tIns="0" rIns="0" bIns="0" rtlCol="0" anchor="ctr"/>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Scorecard enables benchmarking across the entire fund universe, from large-cap to thematic funds.</a:t>
            </a:r>
            <a:endParaRPr lang="en-US" sz="1600" dirty="0"/>
          </a:p>
        </p:txBody>
      </p:sp>
      <p:sp>
        <p:nvSpPr>
          <p:cNvPr id="28" name="Shape 26"/>
          <p:cNvSpPr/>
          <p:nvPr/>
        </p:nvSpPr>
        <p:spPr>
          <a:xfrm>
            <a:off x="7747000" y="5334000"/>
            <a:ext cx="7747000" cy="1270000"/>
          </a:xfrm>
          <a:prstGeom prst="rect">
            <a:avLst/>
          </a:prstGeom>
          <a:solidFill>
            <a:srgbClr val="FFFFFF"/>
          </a:solidFill>
          <a:ln w="12700">
            <a:solidFill>
              <a:srgbClr val="E0DDD6"/>
            </a:solidFill>
            <a:prstDash val="solid"/>
          </a:ln>
        </p:spPr>
      </p:sp>
      <p:sp>
        <p:nvSpPr>
          <p:cNvPr id="29" name="Shape 27"/>
          <p:cNvSpPr/>
          <p:nvPr/>
        </p:nvSpPr>
        <p:spPr>
          <a:xfrm>
            <a:off x="7747000" y="5334000"/>
            <a:ext cx="50800" cy="1270000"/>
          </a:xfrm>
          <a:prstGeom prst="rect">
            <a:avLst/>
          </a:prstGeom>
          <a:solidFill>
            <a:srgbClr val="0F1B3D"/>
          </a:solidFill>
          <a:ln/>
        </p:spPr>
      </p:sp>
      <p:sp>
        <p:nvSpPr>
          <p:cNvPr id="30" name="Text 28"/>
          <p:cNvSpPr/>
          <p:nvPr/>
        </p:nvSpPr>
        <p:spPr>
          <a:xfrm>
            <a:off x="8064500" y="5461000"/>
            <a:ext cx="1016000" cy="508000"/>
          </a:xfrm>
          <a:prstGeom prst="rect">
            <a:avLst/>
          </a:prstGeom>
          <a:noFill/>
          <a:ln/>
        </p:spPr>
        <p:txBody>
          <a:bodyPr wrap="none" lIns="0" tIns="0" rIns="0" bIns="0" rtlCol="0" anchor="ctr"/>
          <a:lstStyle/>
          <a:p>
            <a:pPr algn="ctr">
              <a:lnSpc>
                <a:spcPct val="120000"/>
              </a:lnSpc>
            </a:pPr>
            <a:r>
              <a:rPr lang="en-US" sz="3200" dirty="0">
                <a:solidFill>
                  <a:srgbClr val="0F1B3D"/>
                </a:solidFill>
                <a:latin typeface="Liter" pitchFamily="34" charset="0"/>
                <a:ea typeface="Liter" pitchFamily="34" charset="-122"/>
                <a:cs typeface="Liter" pitchFamily="34" charset="-120"/>
              </a:rPr>
              <a:t>Fit</a:t>
            </a:r>
            <a:endParaRPr lang="en-US" sz="3200" dirty="0"/>
          </a:p>
        </p:txBody>
      </p:sp>
      <p:sp>
        <p:nvSpPr>
          <p:cNvPr id="31" name="Text 29"/>
          <p:cNvSpPr/>
          <p:nvPr/>
        </p:nvSpPr>
        <p:spPr>
          <a:xfrm>
            <a:off x="9144000" y="5461000"/>
            <a:ext cx="6096000" cy="1016000"/>
          </a:xfrm>
          <a:prstGeom prst="rect">
            <a:avLst/>
          </a:prstGeom>
          <a:noFill/>
          <a:ln/>
        </p:spPr>
        <p:txBody>
          <a:bodyPr wrap="square" lIns="0" tIns="0" rIns="0" bIns="0" rtlCol="0" anchor="ctr"/>
          <a:lstStyle/>
          <a:p>
            <a:pPr algn="l">
              <a:lnSpc>
                <a:spcPct val="150000"/>
              </a:lnSpc>
            </a:pPr>
            <a:r>
              <a:rPr lang="en-US" sz="1600" dirty="0">
                <a:solidFill>
                  <a:srgbClr val="1C1C1E"/>
                </a:solidFill>
                <a:latin typeface="Quattrocento Sans" pitchFamily="34" charset="0"/>
                <a:ea typeface="Quattrocento Sans" pitchFamily="34" charset="-122"/>
                <a:cs typeface="Quattrocento Sans" pitchFamily="34" charset="-120"/>
              </a:rPr>
              <a:t>Results help investors identify funds matching their specific risk-return profile and investment goals.</a:t>
            </a:r>
            <a:endParaRPr lang="en-US" sz="1600" dirty="0"/>
          </a:p>
        </p:txBody>
      </p:sp>
      <p:graphicFrame>
        <p:nvGraphicFramePr>
          <p:cNvPr id="32" name="Chart 0" descr=""/>
          <p:cNvGraphicFramePr/>
          <p:nvPr/>
        </p:nvGraphicFramePr>
        <p:xfrm>
          <a:off x="7747000" y="6858000"/>
          <a:ext cx="7747000" cy="1397000"/>
        </p:xfrm>
        <a:graphic xmlns:a="http://schemas.openxmlformats.org/drawingml/2006/main">
          <a:graphicData uri="http://schemas.openxmlformats.org/drawingml/2006/chart">
            <c:chart xmlns:c="http://schemas.openxmlformats.org/drawingml/2006/chart" r:id="rId1"/>
          </a:graphicData>
        </a:graphic>
      </p:graphicFrame>
      <p:sp>
        <p:nvSpPr>
          <p:cNvPr id="33" name="Text 30"/>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09</a:t>
            </a:r>
            <a:endParaRPr lang="en-US" sz="13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889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DASHBOARD OVERVIEW</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714500"/>
            <a:ext cx="7175500" cy="3302000"/>
          </a:xfrm>
          <a:prstGeom prst="rect">
            <a:avLst/>
          </a:prstGeom>
          <a:solidFill>
            <a:srgbClr val="FFFFFF"/>
          </a:solidFill>
          <a:ln w="12700">
            <a:solidFill>
              <a:srgbClr val="E0DDD6"/>
            </a:solidFill>
            <a:prstDash val="solid"/>
          </a:ln>
        </p:spPr>
      </p:sp>
      <p:sp>
        <p:nvSpPr>
          <p:cNvPr id="6" name="Shape 4"/>
          <p:cNvSpPr/>
          <p:nvPr/>
        </p:nvSpPr>
        <p:spPr>
          <a:xfrm>
            <a:off x="762000" y="1714500"/>
            <a:ext cx="7175500" cy="571500"/>
          </a:xfrm>
          <a:prstGeom prst="rect">
            <a:avLst/>
          </a:prstGeom>
          <a:solidFill>
            <a:srgbClr val="0F1B3D"/>
          </a:solidFill>
          <a:ln/>
        </p:spPr>
      </p:sp>
      <p:sp>
        <p:nvSpPr>
          <p:cNvPr id="7" name="Text 5"/>
          <p:cNvSpPr/>
          <p:nvPr/>
        </p:nvSpPr>
        <p:spPr>
          <a:xfrm>
            <a:off x="1016000" y="1714500"/>
            <a:ext cx="3810000" cy="571500"/>
          </a:xfrm>
          <a:prstGeom prst="rect">
            <a:avLst/>
          </a:prstGeom>
          <a:noFill/>
          <a:ln/>
        </p:spPr>
        <p:txBody>
          <a:bodyPr wrap="none" lIns="0" tIns="0" rIns="0" bIns="0" rtlCol="0" anchor="ctr"/>
          <a:lstStyle/>
          <a:p>
            <a:pPr algn="l">
              <a:lnSpc>
                <a:spcPct val="120000"/>
              </a:lnSpc>
            </a:pPr>
            <a:r>
              <a:rPr lang="en-US" sz="1600" b="1" dirty="0">
                <a:solidFill>
                  <a:srgbClr val="FFFFFF"/>
                </a:solidFill>
                <a:latin typeface="Liter" pitchFamily="34" charset="0"/>
                <a:ea typeface="Liter" pitchFamily="34" charset="-122"/>
                <a:cs typeface="Liter" pitchFamily="34" charset="-120"/>
              </a:rPr>
              <a:t>PAGE 1: INDUSTRY OVERVIEW</a:t>
            </a:r>
            <a:endParaRPr lang="en-US" sz="1600" dirty="0"/>
          </a:p>
        </p:txBody>
      </p:sp>
      <p:sp>
        <p:nvSpPr>
          <p:cNvPr id="8" name="Text 6"/>
          <p:cNvSpPr/>
          <p:nvPr/>
        </p:nvSpPr>
        <p:spPr>
          <a:xfrm>
            <a:off x="1016000" y="2540000"/>
            <a:ext cx="1905000" cy="571500"/>
          </a:xfrm>
          <a:prstGeom prst="rect">
            <a:avLst/>
          </a:prstGeom>
          <a:noFill/>
          <a:ln/>
        </p:spPr>
        <p:txBody>
          <a:bodyPr wrap="none" lIns="0" tIns="0" rIns="0" bIns="0" rtlCol="0" anchor="ctr"/>
          <a:lstStyle/>
          <a:p>
            <a:pPr algn="l">
              <a:lnSpc>
                <a:spcPct val="120000"/>
              </a:lnSpc>
            </a:pPr>
            <a:r>
              <a:rPr lang="en-US" sz="3200" dirty="0">
                <a:solidFill>
                  <a:srgbClr val="C9A227"/>
                </a:solidFill>
                <a:latin typeface="Liter" pitchFamily="34" charset="0"/>
                <a:ea typeface="Liter" pitchFamily="34" charset="-122"/>
                <a:cs typeface="Liter" pitchFamily="34" charset="-120"/>
              </a:rPr>
              <a:t>₹42T</a:t>
            </a:r>
            <a:endParaRPr lang="en-US" sz="3200" dirty="0"/>
          </a:p>
        </p:txBody>
      </p:sp>
      <p:sp>
        <p:nvSpPr>
          <p:cNvPr id="9" name="Text 7"/>
          <p:cNvSpPr/>
          <p:nvPr/>
        </p:nvSpPr>
        <p:spPr>
          <a:xfrm>
            <a:off x="1016000" y="3111500"/>
            <a:ext cx="1905000" cy="254000"/>
          </a:xfrm>
          <a:prstGeom prst="rect">
            <a:avLst/>
          </a:prstGeom>
          <a:noFill/>
          <a:ln/>
        </p:spPr>
        <p:txBody>
          <a:bodyPr wrap="none" lIns="0" tIns="0" rIns="0" bIns="0" rtlCol="0" anchor="ctr"/>
          <a:lstStyle/>
          <a:p>
            <a:pPr algn="l">
              <a:lnSpc>
                <a:spcPct val="120000"/>
              </a:lnSpc>
            </a:pPr>
            <a:r>
              <a:rPr lang="en-US" sz="1200" dirty="0">
                <a:solidFill>
                  <a:srgbClr val="5A6577"/>
                </a:solidFill>
                <a:latin typeface="Quattrocento Sans" pitchFamily="34" charset="0"/>
                <a:ea typeface="Quattrocento Sans" pitchFamily="34" charset="-122"/>
                <a:cs typeface="Quattrocento Sans" pitchFamily="34" charset="-120"/>
              </a:rPr>
              <a:t>Total Industry AUM</a:t>
            </a:r>
            <a:endParaRPr lang="en-US" sz="1200" dirty="0"/>
          </a:p>
        </p:txBody>
      </p:sp>
      <p:sp>
        <p:nvSpPr>
          <p:cNvPr id="10" name="Text 8"/>
          <p:cNvSpPr/>
          <p:nvPr/>
        </p:nvSpPr>
        <p:spPr>
          <a:xfrm>
            <a:off x="3175000" y="2540000"/>
            <a:ext cx="1905000" cy="571500"/>
          </a:xfrm>
          <a:prstGeom prst="rect">
            <a:avLst/>
          </a:prstGeom>
          <a:noFill/>
          <a:ln/>
        </p:spPr>
        <p:txBody>
          <a:bodyPr wrap="none" lIns="0" tIns="0" rIns="0" bIns="0" rtlCol="0" anchor="ctr"/>
          <a:lstStyle/>
          <a:p>
            <a:pPr algn="l">
              <a:lnSpc>
                <a:spcPct val="120000"/>
              </a:lnSpc>
            </a:pPr>
            <a:r>
              <a:rPr lang="en-US" sz="3200" dirty="0">
                <a:solidFill>
                  <a:srgbClr val="C9A227"/>
                </a:solidFill>
                <a:latin typeface="Liter" pitchFamily="34" charset="0"/>
                <a:ea typeface="Liter" pitchFamily="34" charset="-122"/>
                <a:cs typeface="Liter" pitchFamily="34" charset="-120"/>
              </a:rPr>
              <a:t>1,200+</a:t>
            </a:r>
            <a:endParaRPr lang="en-US" sz="3200" dirty="0"/>
          </a:p>
        </p:txBody>
      </p:sp>
      <p:sp>
        <p:nvSpPr>
          <p:cNvPr id="11" name="Text 9"/>
          <p:cNvSpPr/>
          <p:nvPr/>
        </p:nvSpPr>
        <p:spPr>
          <a:xfrm>
            <a:off x="3175000" y="3111500"/>
            <a:ext cx="1905000" cy="254000"/>
          </a:xfrm>
          <a:prstGeom prst="rect">
            <a:avLst/>
          </a:prstGeom>
          <a:noFill/>
          <a:ln/>
        </p:spPr>
        <p:txBody>
          <a:bodyPr wrap="none" lIns="0" tIns="0" rIns="0" bIns="0" rtlCol="0" anchor="ctr"/>
          <a:lstStyle/>
          <a:p>
            <a:pPr algn="l">
              <a:lnSpc>
                <a:spcPct val="120000"/>
              </a:lnSpc>
            </a:pPr>
            <a:r>
              <a:rPr lang="en-US" sz="1200" dirty="0">
                <a:solidFill>
                  <a:srgbClr val="5A6577"/>
                </a:solidFill>
                <a:latin typeface="Quattrocento Sans" pitchFamily="34" charset="0"/>
                <a:ea typeface="Quattrocento Sans" pitchFamily="34" charset="-122"/>
                <a:cs typeface="Quattrocento Sans" pitchFamily="34" charset="-120"/>
              </a:rPr>
              <a:t>Funds Tracked</a:t>
            </a:r>
            <a:endParaRPr lang="en-US" sz="1200" dirty="0"/>
          </a:p>
        </p:txBody>
      </p:sp>
      <p:sp>
        <p:nvSpPr>
          <p:cNvPr id="12" name="Text 10"/>
          <p:cNvSpPr/>
          <p:nvPr/>
        </p:nvSpPr>
        <p:spPr>
          <a:xfrm>
            <a:off x="5334000" y="2540000"/>
            <a:ext cx="1905000" cy="571500"/>
          </a:xfrm>
          <a:prstGeom prst="rect">
            <a:avLst/>
          </a:prstGeom>
          <a:noFill/>
          <a:ln/>
        </p:spPr>
        <p:txBody>
          <a:bodyPr wrap="none" lIns="0" tIns="0" rIns="0" bIns="0" rtlCol="0" anchor="ctr"/>
          <a:lstStyle/>
          <a:p>
            <a:pPr algn="l">
              <a:lnSpc>
                <a:spcPct val="120000"/>
              </a:lnSpc>
            </a:pPr>
            <a:r>
              <a:rPr lang="en-US" sz="3200" dirty="0">
                <a:solidFill>
                  <a:srgbClr val="C9A227"/>
                </a:solidFill>
                <a:latin typeface="Liter" pitchFamily="34" charset="0"/>
                <a:ea typeface="Liter" pitchFamily="34" charset="-122"/>
                <a:cs typeface="Liter" pitchFamily="34" charset="-120"/>
              </a:rPr>
              <a:t>₹1.8T</a:t>
            </a:r>
            <a:endParaRPr lang="en-US" sz="3200" dirty="0"/>
          </a:p>
        </p:txBody>
      </p:sp>
      <p:sp>
        <p:nvSpPr>
          <p:cNvPr id="13" name="Text 11"/>
          <p:cNvSpPr/>
          <p:nvPr/>
        </p:nvSpPr>
        <p:spPr>
          <a:xfrm>
            <a:off x="5334000" y="3111500"/>
            <a:ext cx="1905000" cy="254000"/>
          </a:xfrm>
          <a:prstGeom prst="rect">
            <a:avLst/>
          </a:prstGeom>
          <a:noFill/>
          <a:ln/>
        </p:spPr>
        <p:txBody>
          <a:bodyPr wrap="none" lIns="0" tIns="0" rIns="0" bIns="0" rtlCol="0" anchor="ctr"/>
          <a:lstStyle/>
          <a:p>
            <a:pPr algn="l">
              <a:lnSpc>
                <a:spcPct val="120000"/>
              </a:lnSpc>
            </a:pPr>
            <a:r>
              <a:rPr lang="en-US" sz="1200" dirty="0">
                <a:solidFill>
                  <a:srgbClr val="5A6577"/>
                </a:solidFill>
                <a:latin typeface="Quattrocento Sans" pitchFamily="34" charset="0"/>
                <a:ea typeface="Quattrocento Sans" pitchFamily="34" charset="-122"/>
                <a:cs typeface="Quattrocento Sans" pitchFamily="34" charset="-120"/>
              </a:rPr>
              <a:t>Monthly SIP Flows</a:t>
            </a:r>
            <a:endParaRPr lang="en-US" sz="1200" dirty="0"/>
          </a:p>
        </p:txBody>
      </p:sp>
      <p:sp>
        <p:nvSpPr>
          <p:cNvPr id="14" name="Text 12"/>
          <p:cNvSpPr/>
          <p:nvPr/>
        </p:nvSpPr>
        <p:spPr>
          <a:xfrm>
            <a:off x="1016000" y="3556000"/>
            <a:ext cx="6604000" cy="1460500"/>
          </a:xfrm>
          <a:prstGeom prst="rect">
            <a:avLst/>
          </a:prstGeom>
          <a:noFill/>
          <a:ln/>
        </p:spPr>
        <p:txBody>
          <a:bodyPr wrap="square" lIns="0" tIns="0" rIns="0" bIns="0" rtlCol="0" anchor="t"/>
          <a:lstStyle/>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KPI cards showing aggregate industry metrics</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Category-wise AUM distribution charts</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AMC market share visualization</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Time-series trend of industry growth</a:t>
            </a:r>
            <a:endParaRPr lang="en-US" sz="1400" dirty="0"/>
          </a:p>
        </p:txBody>
      </p:sp>
      <p:sp>
        <p:nvSpPr>
          <p:cNvPr id="15" name="Shape 13"/>
          <p:cNvSpPr/>
          <p:nvPr/>
        </p:nvSpPr>
        <p:spPr>
          <a:xfrm>
            <a:off x="8318500" y="1714500"/>
            <a:ext cx="7175500" cy="3302000"/>
          </a:xfrm>
          <a:prstGeom prst="rect">
            <a:avLst/>
          </a:prstGeom>
          <a:solidFill>
            <a:srgbClr val="FFFFFF"/>
          </a:solidFill>
          <a:ln w="12700">
            <a:solidFill>
              <a:srgbClr val="E0DDD6"/>
            </a:solidFill>
            <a:prstDash val="solid"/>
          </a:ln>
        </p:spPr>
      </p:sp>
      <p:sp>
        <p:nvSpPr>
          <p:cNvPr id="16" name="Shape 14"/>
          <p:cNvSpPr/>
          <p:nvPr/>
        </p:nvSpPr>
        <p:spPr>
          <a:xfrm>
            <a:off x="8318500" y="1714500"/>
            <a:ext cx="7175500" cy="571500"/>
          </a:xfrm>
          <a:prstGeom prst="rect">
            <a:avLst/>
          </a:prstGeom>
          <a:solidFill>
            <a:srgbClr val="0F1B3D"/>
          </a:solidFill>
          <a:ln/>
        </p:spPr>
      </p:sp>
      <p:sp>
        <p:nvSpPr>
          <p:cNvPr id="17" name="Text 15"/>
          <p:cNvSpPr/>
          <p:nvPr/>
        </p:nvSpPr>
        <p:spPr>
          <a:xfrm>
            <a:off x="8572500" y="1714500"/>
            <a:ext cx="4445000" cy="571500"/>
          </a:xfrm>
          <a:prstGeom prst="rect">
            <a:avLst/>
          </a:prstGeom>
          <a:noFill/>
          <a:ln/>
        </p:spPr>
        <p:txBody>
          <a:bodyPr wrap="none" lIns="0" tIns="0" rIns="0" bIns="0" rtlCol="0" anchor="ctr"/>
          <a:lstStyle/>
          <a:p>
            <a:pPr algn="l">
              <a:lnSpc>
                <a:spcPct val="120000"/>
              </a:lnSpc>
            </a:pPr>
            <a:r>
              <a:rPr lang="en-US" sz="1600" b="1" dirty="0">
                <a:solidFill>
                  <a:srgbClr val="FFFFFF"/>
                </a:solidFill>
                <a:latin typeface="Liter" pitchFamily="34" charset="0"/>
                <a:ea typeface="Liter" pitchFamily="34" charset="-122"/>
                <a:cs typeface="Liter" pitchFamily="34" charset="-120"/>
              </a:rPr>
              <a:t>PAGE 2: FUND PERFORMANCE</a:t>
            </a:r>
            <a:endParaRPr lang="en-US" sz="1600" dirty="0"/>
          </a:p>
        </p:txBody>
      </p:sp>
      <p:graphicFrame>
        <p:nvGraphicFramePr>
          <p:cNvPr id="18" name="Chart 0" descr=""/>
          <p:cNvGraphicFramePr/>
          <p:nvPr/>
        </p:nvGraphicFramePr>
        <p:xfrm>
          <a:off x="8509000" y="2476500"/>
          <a:ext cx="3175000" cy="228600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11874500" y="2476500"/>
            <a:ext cx="3302000" cy="2286000"/>
          </a:xfrm>
          <a:prstGeom prst="rect">
            <a:avLst/>
          </a:prstGeom>
          <a:noFill/>
          <a:ln/>
        </p:spPr>
        <p:txBody>
          <a:bodyPr wrap="square" lIns="0" tIns="0" rIns="0" bIns="0" rtlCol="0" anchor="t"/>
          <a:lstStyle/>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Risk vs Return scatter analysis</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NAV trend line charts</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Filter by category, AMC, period</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Fund comparison tool</a:t>
            </a:r>
            <a:endParaRPr lang="en-US" sz="1400" dirty="0"/>
          </a:p>
          <a:p>
            <a:pPr algn="l">
              <a:lnSpc>
                <a:spcPct val="16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1C1C1E"/>
                </a:solidFill>
                <a:latin typeface="Quattrocento Sans" pitchFamily="34" charset="0"/>
                <a:ea typeface="Quattrocento Sans" pitchFamily="34" charset="-122"/>
                <a:cs typeface="Quattrocento Sans" pitchFamily="34" charset="-120"/>
              </a:rPr>
              <a:t> Performance ranking table</a:t>
            </a:r>
            <a:endParaRPr lang="en-US" sz="1400" dirty="0"/>
          </a:p>
        </p:txBody>
      </p:sp>
      <p:sp>
        <p:nvSpPr>
          <p:cNvPr id="20" name="Shape 17"/>
          <p:cNvSpPr/>
          <p:nvPr/>
        </p:nvSpPr>
        <p:spPr>
          <a:xfrm>
            <a:off x="762000" y="5334000"/>
            <a:ext cx="14732000" cy="1270000"/>
          </a:xfrm>
          <a:prstGeom prst="rect">
            <a:avLst/>
          </a:prstGeom>
          <a:solidFill>
            <a:srgbClr val="0F1B3D"/>
          </a:solidFill>
          <a:ln/>
        </p:spPr>
      </p:sp>
      <p:sp>
        <p:nvSpPr>
          <p:cNvPr id="21" name="Text 18"/>
          <p:cNvSpPr/>
          <p:nvPr/>
        </p:nvSpPr>
        <p:spPr>
          <a:xfrm>
            <a:off x="1143000" y="5461000"/>
            <a:ext cx="3810000" cy="317500"/>
          </a:xfrm>
          <a:prstGeom prst="rect">
            <a:avLst/>
          </a:prstGeom>
          <a:noFill/>
          <a:ln/>
        </p:spPr>
        <p:txBody>
          <a:bodyPr wrap="none" lIns="0" tIns="0" rIns="0" bIns="0" rtlCol="0" anchor="ctr"/>
          <a:lstStyle/>
          <a:p>
            <a:pPr algn="l">
              <a:lnSpc>
                <a:spcPct val="120000"/>
              </a:lnSpc>
            </a:pPr>
            <a:r>
              <a:rPr lang="en-US" sz="1400" spc="200" kern="0" dirty="0">
                <a:solidFill>
                  <a:srgbClr val="C9A227"/>
                </a:solidFill>
                <a:latin typeface="Liter" pitchFamily="34" charset="0"/>
                <a:ea typeface="Liter" pitchFamily="34" charset="-122"/>
                <a:cs typeface="Liter" pitchFamily="34" charset="-120"/>
              </a:rPr>
              <a:t>INTERACTIVE FILTERS</a:t>
            </a:r>
            <a:endParaRPr lang="en-US" sz="1400" dirty="0"/>
          </a:p>
        </p:txBody>
      </p:sp>
      <p:sp>
        <p:nvSpPr>
          <p:cNvPr id="22" name="Text 19"/>
          <p:cNvSpPr/>
          <p:nvPr/>
        </p:nvSpPr>
        <p:spPr>
          <a:xfrm>
            <a:off x="1143000" y="5905500"/>
            <a:ext cx="3175000" cy="508000"/>
          </a:xfrm>
          <a:prstGeom prst="rect">
            <a:avLst/>
          </a:prstGeom>
          <a:noFill/>
          <a:ln/>
        </p:spPr>
        <p:txBody>
          <a:bodyPr wrap="square" lIns="0" tIns="0" rIns="0" bIns="0" rtlCol="0" anchor="ctr"/>
          <a:lstStyle/>
          <a:p>
            <a:pPr algn="l">
              <a:lnSpc>
                <a:spcPct val="12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20000"/>
              </a:lnSpc>
            </a:pPr>
            <a:r>
              <a:rPr lang="en-US" sz="1400" dirty="0">
                <a:solidFill>
                  <a:srgbClr val="FFFFFF"/>
                </a:solidFill>
                <a:latin typeface="Quattrocento Sans" pitchFamily="34" charset="0"/>
                <a:ea typeface="Quattrocento Sans" pitchFamily="34" charset="-122"/>
                <a:cs typeface="Quattrocento Sans" pitchFamily="34" charset="-120"/>
              </a:rPr>
              <a:t>  Fund Category (Equity/Debt/Hybrid)</a:t>
            </a:r>
            <a:endParaRPr lang="en-US" sz="1400" dirty="0"/>
          </a:p>
        </p:txBody>
      </p:sp>
      <p:sp>
        <p:nvSpPr>
          <p:cNvPr id="23" name="Text 20"/>
          <p:cNvSpPr/>
          <p:nvPr/>
        </p:nvSpPr>
        <p:spPr>
          <a:xfrm>
            <a:off x="4572000" y="5905500"/>
            <a:ext cx="3175000" cy="508000"/>
          </a:xfrm>
          <a:prstGeom prst="rect">
            <a:avLst/>
          </a:prstGeom>
          <a:noFill/>
          <a:ln/>
        </p:spPr>
        <p:txBody>
          <a:bodyPr wrap="square" lIns="0" tIns="0" rIns="0" bIns="0" rtlCol="0" anchor="ctr"/>
          <a:lstStyle/>
          <a:p>
            <a:pPr algn="l">
              <a:lnSpc>
                <a:spcPct val="12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20000"/>
              </a:lnSpc>
            </a:pPr>
            <a:r>
              <a:rPr lang="en-US" sz="1400" dirty="0">
                <a:solidFill>
                  <a:srgbClr val="FFFFFF"/>
                </a:solidFill>
                <a:latin typeface="Quattrocento Sans" pitchFamily="34" charset="0"/>
                <a:ea typeface="Quattrocento Sans" pitchFamily="34" charset="-122"/>
                <a:cs typeface="Quattrocento Sans" pitchFamily="34" charset="-120"/>
              </a:rPr>
              <a:t>  AMC Selection</a:t>
            </a:r>
            <a:endParaRPr lang="en-US" sz="1400" dirty="0"/>
          </a:p>
        </p:txBody>
      </p:sp>
      <p:sp>
        <p:nvSpPr>
          <p:cNvPr id="24" name="Text 21"/>
          <p:cNvSpPr/>
          <p:nvPr/>
        </p:nvSpPr>
        <p:spPr>
          <a:xfrm>
            <a:off x="8001000" y="5905500"/>
            <a:ext cx="3175000" cy="508000"/>
          </a:xfrm>
          <a:prstGeom prst="rect">
            <a:avLst/>
          </a:prstGeom>
          <a:noFill/>
          <a:ln/>
        </p:spPr>
        <p:txBody>
          <a:bodyPr wrap="square" lIns="0" tIns="0" rIns="0" bIns="0" rtlCol="0" anchor="ctr"/>
          <a:lstStyle/>
          <a:p>
            <a:pPr algn="l">
              <a:lnSpc>
                <a:spcPct val="12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20000"/>
              </a:lnSpc>
            </a:pPr>
            <a:r>
              <a:rPr lang="en-US" sz="1400" dirty="0">
                <a:solidFill>
                  <a:srgbClr val="FFFFFF"/>
                </a:solidFill>
                <a:latin typeface="Quattrocento Sans" pitchFamily="34" charset="0"/>
                <a:ea typeface="Quattrocento Sans" pitchFamily="34" charset="-122"/>
                <a:cs typeface="Quattrocento Sans" pitchFamily="34" charset="-120"/>
              </a:rPr>
              <a:t>  Time Period (1Y/3Y/5Y/All)</a:t>
            </a:r>
            <a:endParaRPr lang="en-US" sz="1400" dirty="0"/>
          </a:p>
        </p:txBody>
      </p:sp>
      <p:sp>
        <p:nvSpPr>
          <p:cNvPr id="25" name="Text 22"/>
          <p:cNvSpPr/>
          <p:nvPr/>
        </p:nvSpPr>
        <p:spPr>
          <a:xfrm>
            <a:off x="11430000" y="5905500"/>
            <a:ext cx="3556000" cy="508000"/>
          </a:xfrm>
          <a:prstGeom prst="rect">
            <a:avLst/>
          </a:prstGeom>
          <a:noFill/>
          <a:ln/>
        </p:spPr>
        <p:txBody>
          <a:bodyPr wrap="square" lIns="0" tIns="0" rIns="0" bIns="0" rtlCol="0" anchor="ctr"/>
          <a:lstStyle/>
          <a:p>
            <a:pPr algn="l">
              <a:lnSpc>
                <a:spcPct val="120000"/>
              </a:lnSpc>
            </a:pPr>
            <a:r>
              <a:rPr lang="en-US" sz="1400" dirty="0">
                <a:solidFill>
                  <a:srgbClr val="C9A227"/>
                </a:solidFill>
                <a:latin typeface="Quattrocento Sans" pitchFamily="34" charset="0"/>
                <a:ea typeface="Quattrocento Sans" pitchFamily="34" charset="-122"/>
                <a:cs typeface="Quattrocento Sans" pitchFamily="34" charset="-120"/>
              </a:rPr>
              <a:t>●</a:t>
            </a:r>
            <a:pPr algn="l">
              <a:lnSpc>
                <a:spcPct val="120000"/>
              </a:lnSpc>
            </a:pPr>
            <a:r>
              <a:rPr lang="en-US" sz="1400" dirty="0">
                <a:solidFill>
                  <a:srgbClr val="FFFFFF"/>
                </a:solidFill>
                <a:latin typeface="Quattrocento Sans" pitchFamily="34" charset="0"/>
                <a:ea typeface="Quattrocento Sans" pitchFamily="34" charset="-122"/>
                <a:cs typeface="Quattrocento Sans" pitchFamily="34" charset="-120"/>
              </a:rPr>
              <a:t>  Risk Profile (Low/Med/High)</a:t>
            </a:r>
            <a:endParaRPr lang="en-US" sz="1400" dirty="0"/>
          </a:p>
        </p:txBody>
      </p:sp>
      <p:sp>
        <p:nvSpPr>
          <p:cNvPr id="26" name="Text 23"/>
          <p:cNvSpPr/>
          <p:nvPr/>
        </p:nvSpPr>
        <p:spPr>
          <a:xfrm>
            <a:off x="762000" y="6921500"/>
            <a:ext cx="14732000" cy="381000"/>
          </a:xfrm>
          <a:prstGeom prst="rect">
            <a:avLst/>
          </a:prstGeom>
          <a:noFill/>
          <a:ln/>
        </p:spPr>
        <p:txBody>
          <a:bodyPr wrap="square" lIns="0" tIns="0" rIns="0" bIns="0" rtlCol="0" anchor="ctr"/>
          <a:lstStyle/>
          <a:p>
            <a:pPr algn="l">
              <a:lnSpc>
                <a:spcPct val="120000"/>
              </a:lnSpc>
            </a:pPr>
            <a:r>
              <a:rPr lang="en-US" sz="1400" i="1" dirty="0">
                <a:solidFill>
                  <a:srgbClr val="5A6577"/>
                </a:solidFill>
                <a:latin typeface="Quattrocento Sans" pitchFamily="34" charset="0"/>
                <a:ea typeface="Quattrocento Sans" pitchFamily="34" charset="-122"/>
                <a:cs typeface="Quattrocento Sans" pitchFamily="34" charset="-120"/>
              </a:rPr>
              <a:t>Dashboard designed for clarity and immediate insight extraction. All visuals update dynamically based on filter selections.</a:t>
            </a:r>
            <a:endParaRPr lang="en-US" sz="1400" dirty="0"/>
          </a:p>
        </p:txBody>
      </p:sp>
      <p:sp>
        <p:nvSpPr>
          <p:cNvPr id="27" name="Text 24"/>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10</a:t>
            </a:r>
            <a:endParaRPr lang="en-US" sz="13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D"/>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C9A227"/>
          </a:solidFill>
          <a:ln/>
        </p:spPr>
      </p:sp>
      <p:sp>
        <p:nvSpPr>
          <p:cNvPr id="3" name="Text 1"/>
          <p:cNvSpPr/>
          <p:nvPr/>
        </p:nvSpPr>
        <p:spPr>
          <a:xfrm>
            <a:off x="762000" y="825500"/>
            <a:ext cx="10160000" cy="508000"/>
          </a:xfrm>
          <a:prstGeom prst="rect">
            <a:avLst/>
          </a:prstGeom>
          <a:noFill/>
          <a:ln/>
        </p:spPr>
        <p:txBody>
          <a:bodyPr wrap="none" lIns="0" tIns="0" rIns="0" bIns="0" rtlCol="0" anchor="ctr"/>
          <a:lstStyle/>
          <a:p>
            <a:pPr algn="l">
              <a:lnSpc>
                <a:spcPct val="120000"/>
              </a:lnSpc>
            </a:pPr>
            <a:r>
              <a:rPr lang="en-US" sz="3000" spc="200" kern="0" dirty="0">
                <a:solidFill>
                  <a:srgbClr val="0F1B3D"/>
                </a:solidFill>
                <a:latin typeface="Liter" pitchFamily="34" charset="0"/>
                <a:ea typeface="Liter" pitchFamily="34" charset="-122"/>
                <a:cs typeface="Liter" pitchFamily="34" charset="-120"/>
              </a:rPr>
              <a:t>INVESTOR ANALYTICS &amp; ADVANCED ML</a:t>
            </a:r>
            <a:endParaRPr lang="en-US" sz="3000" dirty="0"/>
          </a:p>
        </p:txBody>
      </p:sp>
      <p:sp>
        <p:nvSpPr>
          <p:cNvPr id="4" name="Shape 2"/>
          <p:cNvSpPr/>
          <p:nvPr/>
        </p:nvSpPr>
        <p:spPr>
          <a:xfrm>
            <a:off x="762000" y="1397000"/>
            <a:ext cx="1016000" cy="38100"/>
          </a:xfrm>
          <a:prstGeom prst="rect">
            <a:avLst/>
          </a:prstGeom>
          <a:solidFill>
            <a:srgbClr val="C9A227"/>
          </a:solidFill>
          <a:ln/>
        </p:spPr>
      </p:sp>
      <p:sp>
        <p:nvSpPr>
          <p:cNvPr id="5" name="Shape 3"/>
          <p:cNvSpPr/>
          <p:nvPr/>
        </p:nvSpPr>
        <p:spPr>
          <a:xfrm>
            <a:off x="762000" y="1714500"/>
            <a:ext cx="7175500" cy="3048000"/>
          </a:xfrm>
          <a:prstGeom prst="rect">
            <a:avLst/>
          </a:prstGeom>
          <a:solidFill>
            <a:srgbClr val="FFFFFF"/>
          </a:solidFill>
          <a:ln w="12700">
            <a:solidFill>
              <a:srgbClr val="E0DDD6"/>
            </a:solidFill>
            <a:prstDash val="solid"/>
          </a:ln>
        </p:spPr>
      </p:sp>
      <p:sp>
        <p:nvSpPr>
          <p:cNvPr id="6" name="Shape 4"/>
          <p:cNvSpPr/>
          <p:nvPr/>
        </p:nvSpPr>
        <p:spPr>
          <a:xfrm>
            <a:off x="762000" y="1714500"/>
            <a:ext cx="7175500" cy="508000"/>
          </a:xfrm>
          <a:prstGeom prst="rect">
            <a:avLst/>
          </a:prstGeom>
          <a:solidFill>
            <a:srgbClr val="0F1B3D"/>
          </a:solidFill>
          <a:ln/>
        </p:spPr>
      </p:sp>
      <p:sp>
        <p:nvSpPr>
          <p:cNvPr id="7" name="Text 5"/>
          <p:cNvSpPr/>
          <p:nvPr/>
        </p:nvSpPr>
        <p:spPr>
          <a:xfrm>
            <a:off x="1016000" y="1714500"/>
            <a:ext cx="5080000" cy="508000"/>
          </a:xfrm>
          <a:prstGeom prst="rect">
            <a:avLst/>
          </a:prstGeom>
          <a:noFill/>
          <a:ln/>
        </p:spPr>
        <p:txBody>
          <a:bodyPr wrap="none" lIns="0" tIns="0" rIns="0" bIns="0" rtlCol="0" anchor="ctr"/>
          <a:lstStyle/>
          <a:p>
            <a:pPr algn="l">
              <a:lnSpc>
                <a:spcPct val="120000"/>
              </a:lnSpc>
            </a:pPr>
            <a:r>
              <a:rPr lang="en-US" sz="1500" b="1" dirty="0">
                <a:solidFill>
                  <a:srgbClr val="FFFFFF"/>
                </a:solidFill>
                <a:latin typeface="Liter" pitchFamily="34" charset="0"/>
                <a:ea typeface="Liter" pitchFamily="34" charset="-122"/>
                <a:cs typeface="Liter" pitchFamily="34" charset="-120"/>
              </a:rPr>
              <a:t>PAGE 3: INVESTOR ANALYTICS</a:t>
            </a:r>
            <a:endParaRPr lang="en-US" sz="1500" dirty="0"/>
          </a:p>
        </p:txBody>
      </p:sp>
      <p:sp>
        <p:nvSpPr>
          <p:cNvPr id="8" name="Text 6"/>
          <p:cNvSpPr/>
          <p:nvPr/>
        </p:nvSpPr>
        <p:spPr>
          <a:xfrm>
            <a:off x="1016000" y="2413000"/>
            <a:ext cx="6604000" cy="2159000"/>
          </a:xfrm>
          <a:prstGeom prst="rect">
            <a:avLst/>
          </a:prstGeom>
          <a:noFill/>
          <a:ln/>
        </p:spPr>
        <p:txBody>
          <a:bodyPr wrap="square" lIns="0" tIns="0" rIns="0" bIns="0" rtlCol="0" anchor="t"/>
          <a:lstStyle/>
          <a:p>
            <a:pPr algn="l">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500" b="1" dirty="0">
                <a:solidFill>
                  <a:srgbClr val="1C1C1E"/>
                </a:solidFill>
                <a:latin typeface="Quattrocento Sans" pitchFamily="34" charset="0"/>
                <a:ea typeface="Quattrocento Sans" pitchFamily="34" charset="-122"/>
                <a:cs typeface="Quattrocento Sans" pitchFamily="34" charset="-120"/>
              </a:rPr>
              <a:t>State-wise Analysis</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Geographic distribution of SIP participation and AUM concentration across Indian states</a:t>
            </a:r>
            <a:endParaRPr lang="en-US" sz="1500" dirty="0"/>
          </a:p>
          <a:p>
            <a:pPr algn="l">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500" b="1" dirty="0">
                <a:solidFill>
                  <a:srgbClr val="1C1C1E"/>
                </a:solidFill>
                <a:latin typeface="Quattrocento Sans" pitchFamily="34" charset="0"/>
                <a:ea typeface="Quattrocento Sans" pitchFamily="34" charset="-122"/>
                <a:cs typeface="Quattrocento Sans" pitchFamily="34" charset="-120"/>
              </a:rPr>
              <a:t>SIP Distribution</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Monthly SIP inflows by category with trend identification</a:t>
            </a:r>
            <a:endParaRPr lang="en-US" sz="1500" dirty="0"/>
          </a:p>
          <a:p>
            <a:pPr algn="l">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500" b="1" dirty="0">
                <a:solidFill>
                  <a:srgbClr val="1C1C1E"/>
                </a:solidFill>
                <a:latin typeface="Quattrocento Sans" pitchFamily="34" charset="0"/>
                <a:ea typeface="Quattrocento Sans" pitchFamily="34" charset="-122"/>
                <a:cs typeface="Quattrocento Sans" pitchFamily="34" charset="-120"/>
              </a:rPr>
              <a:t>Demographic Insights</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Investor behavior patterns by age, city tier, and risk appetite</a:t>
            </a:r>
            <a:endParaRPr lang="en-US" sz="1500" dirty="0"/>
          </a:p>
        </p:txBody>
      </p:sp>
      <p:sp>
        <p:nvSpPr>
          <p:cNvPr id="9" name="Shape 7"/>
          <p:cNvSpPr/>
          <p:nvPr/>
        </p:nvSpPr>
        <p:spPr>
          <a:xfrm>
            <a:off x="8318500" y="1714500"/>
            <a:ext cx="7175500" cy="3048000"/>
          </a:xfrm>
          <a:prstGeom prst="rect">
            <a:avLst/>
          </a:prstGeom>
          <a:solidFill>
            <a:srgbClr val="FFFFFF"/>
          </a:solidFill>
          <a:ln w="12700">
            <a:solidFill>
              <a:srgbClr val="E0DDD6"/>
            </a:solidFill>
            <a:prstDash val="solid"/>
          </a:ln>
        </p:spPr>
      </p:sp>
      <p:sp>
        <p:nvSpPr>
          <p:cNvPr id="10" name="Shape 8"/>
          <p:cNvSpPr/>
          <p:nvPr/>
        </p:nvSpPr>
        <p:spPr>
          <a:xfrm>
            <a:off x="8318500" y="1714500"/>
            <a:ext cx="7175500" cy="508000"/>
          </a:xfrm>
          <a:prstGeom prst="rect">
            <a:avLst/>
          </a:prstGeom>
          <a:solidFill>
            <a:srgbClr val="0F1B3D"/>
          </a:solidFill>
          <a:ln/>
        </p:spPr>
      </p:sp>
      <p:sp>
        <p:nvSpPr>
          <p:cNvPr id="11" name="Text 9"/>
          <p:cNvSpPr/>
          <p:nvPr/>
        </p:nvSpPr>
        <p:spPr>
          <a:xfrm>
            <a:off x="8572500" y="1714500"/>
            <a:ext cx="5080000" cy="508000"/>
          </a:xfrm>
          <a:prstGeom prst="rect">
            <a:avLst/>
          </a:prstGeom>
          <a:noFill/>
          <a:ln/>
        </p:spPr>
        <p:txBody>
          <a:bodyPr wrap="none" lIns="0" tIns="0" rIns="0" bIns="0" rtlCol="0" anchor="ctr"/>
          <a:lstStyle/>
          <a:p>
            <a:pPr algn="l">
              <a:lnSpc>
                <a:spcPct val="120000"/>
              </a:lnSpc>
            </a:pPr>
            <a:r>
              <a:rPr lang="en-US" sz="1500" b="1" dirty="0">
                <a:solidFill>
                  <a:srgbClr val="FFFFFF"/>
                </a:solidFill>
                <a:latin typeface="Liter" pitchFamily="34" charset="0"/>
                <a:ea typeface="Liter" pitchFamily="34" charset="-122"/>
                <a:cs typeface="Liter" pitchFamily="34" charset="-120"/>
              </a:rPr>
              <a:t>PAGE 4: SIP &amp; MARKET TRENDS</a:t>
            </a:r>
            <a:endParaRPr lang="en-US" sz="1500" dirty="0"/>
          </a:p>
        </p:txBody>
      </p:sp>
      <p:sp>
        <p:nvSpPr>
          <p:cNvPr id="12" name="Text 10"/>
          <p:cNvSpPr/>
          <p:nvPr/>
        </p:nvSpPr>
        <p:spPr>
          <a:xfrm>
            <a:off x="8572500" y="2413000"/>
            <a:ext cx="6604000" cy="2159000"/>
          </a:xfrm>
          <a:prstGeom prst="rect">
            <a:avLst/>
          </a:prstGeom>
          <a:noFill/>
          <a:ln/>
        </p:spPr>
        <p:txBody>
          <a:bodyPr wrap="square" lIns="0" tIns="0" rIns="0" bIns="0" rtlCol="0" anchor="t"/>
          <a:lstStyle/>
          <a:p>
            <a:pPr algn="l">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500" b="1" dirty="0">
                <a:solidFill>
                  <a:srgbClr val="1C1C1E"/>
                </a:solidFill>
                <a:latin typeface="Quattrocento Sans" pitchFamily="34" charset="0"/>
                <a:ea typeface="Quattrocento Sans" pitchFamily="34" charset="-122"/>
                <a:cs typeface="Quattrocento Sans" pitchFamily="34" charset="-120"/>
              </a:rPr>
              <a:t>SIP vs Nifty Trend</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Correlation analysis between market index movement and SIP inflow patterns</a:t>
            </a:r>
            <a:endParaRPr lang="en-US" sz="1500" dirty="0"/>
          </a:p>
          <a:p>
            <a:pPr algn="l">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500" b="1" dirty="0">
                <a:solidFill>
                  <a:srgbClr val="1C1C1E"/>
                </a:solidFill>
                <a:latin typeface="Quattrocento Sans" pitchFamily="34" charset="0"/>
                <a:ea typeface="Quattrocento Sans" pitchFamily="34" charset="-122"/>
                <a:cs typeface="Quattrocento Sans" pitchFamily="34" charset="-120"/>
              </a:rPr>
              <a:t>Category-wise Inflows</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Fund category popularity trends over time</a:t>
            </a:r>
            <a:endParaRPr lang="en-US" sz="1500" dirty="0"/>
          </a:p>
          <a:p>
            <a:pPr algn="l">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a:t>
            </a:r>
            <a:pPr algn="l">
              <a:lnSpc>
                <a:spcPct val="160000"/>
              </a:lnSpc>
            </a:pPr>
            <a:r>
              <a:rPr lang="en-US" sz="1500" b="1" dirty="0">
                <a:solidFill>
                  <a:srgbClr val="1C1C1E"/>
                </a:solidFill>
                <a:latin typeface="Quattrocento Sans" pitchFamily="34" charset="0"/>
                <a:ea typeface="Quattrocento Sans" pitchFamily="34" charset="-122"/>
                <a:cs typeface="Quattrocento Sans" pitchFamily="34" charset="-120"/>
              </a:rPr>
              <a:t>Market Cycle Impact</a:t>
            </a:r>
            <a:pPr algn="l">
              <a:lnSpc>
                <a:spcPct val="160000"/>
              </a:lnSpc>
            </a:pPr>
            <a:r>
              <a:rPr lang="en-US" sz="1500" dirty="0">
                <a:solidFill>
                  <a:srgbClr val="1C1C1E"/>
                </a:solidFill>
                <a:latin typeface="Quattrocento Sans" pitchFamily="34" charset="0"/>
                <a:ea typeface="Quattrocento Sans" pitchFamily="34" charset="-122"/>
                <a:cs typeface="Quattrocento Sans" pitchFamily="34" charset="-120"/>
              </a:rPr>
              <a:t>: How bull and bear phases affect investor behavior</a:t>
            </a:r>
            <a:endParaRPr lang="en-US" sz="1500" dirty="0"/>
          </a:p>
        </p:txBody>
      </p:sp>
      <p:sp>
        <p:nvSpPr>
          <p:cNvPr id="13" name="Shape 11"/>
          <p:cNvSpPr/>
          <p:nvPr/>
        </p:nvSpPr>
        <p:spPr>
          <a:xfrm>
            <a:off x="762000" y="5080000"/>
            <a:ext cx="14732000" cy="3175000"/>
          </a:xfrm>
          <a:prstGeom prst="rect">
            <a:avLst/>
          </a:prstGeom>
          <a:solidFill>
            <a:srgbClr val="0F1B3D"/>
          </a:solidFill>
          <a:ln/>
        </p:spPr>
      </p:sp>
      <p:sp>
        <p:nvSpPr>
          <p:cNvPr id="14" name="Text 12"/>
          <p:cNvSpPr/>
          <p:nvPr/>
        </p:nvSpPr>
        <p:spPr>
          <a:xfrm>
            <a:off x="1143000" y="5270500"/>
            <a:ext cx="5080000" cy="381000"/>
          </a:xfrm>
          <a:prstGeom prst="rect">
            <a:avLst/>
          </a:prstGeom>
          <a:noFill/>
          <a:ln/>
        </p:spPr>
        <p:txBody>
          <a:bodyPr wrap="none" lIns="0" tIns="0" rIns="0" bIns="0" rtlCol="0" anchor="ctr"/>
          <a:lstStyle/>
          <a:p>
            <a:pPr algn="l">
              <a:lnSpc>
                <a:spcPct val="120000"/>
              </a:lnSpc>
            </a:pPr>
            <a:r>
              <a:rPr lang="en-US" sz="2000" spc="200" kern="0" dirty="0">
                <a:solidFill>
                  <a:srgbClr val="C9A227"/>
                </a:solidFill>
                <a:latin typeface="Liter" pitchFamily="34" charset="0"/>
                <a:ea typeface="Liter" pitchFamily="34" charset="-122"/>
                <a:cs typeface="Liter" pitchFamily="34" charset="-120"/>
              </a:rPr>
              <a:t>ADVANCED ANALYTICS</a:t>
            </a:r>
            <a:endParaRPr lang="en-US" sz="2000" dirty="0"/>
          </a:p>
        </p:txBody>
      </p:sp>
      <p:sp>
        <p:nvSpPr>
          <p:cNvPr id="15" name="Shape 13"/>
          <p:cNvSpPr/>
          <p:nvPr/>
        </p:nvSpPr>
        <p:spPr>
          <a:xfrm>
            <a:off x="1143000" y="5740400"/>
            <a:ext cx="762000" cy="25400"/>
          </a:xfrm>
          <a:prstGeom prst="rect">
            <a:avLst/>
          </a:prstGeom>
          <a:solidFill>
            <a:srgbClr val="C9A227"/>
          </a:solidFill>
          <a:ln/>
        </p:spPr>
      </p:sp>
      <p:sp>
        <p:nvSpPr>
          <p:cNvPr id="16" name="Shape 14"/>
          <p:cNvSpPr/>
          <p:nvPr/>
        </p:nvSpPr>
        <p:spPr>
          <a:xfrm>
            <a:off x="1143000" y="5969000"/>
            <a:ext cx="6731000" cy="2032000"/>
          </a:xfrm>
          <a:prstGeom prst="rect">
            <a:avLst/>
          </a:prstGeom>
          <a:solidFill>
            <a:srgbClr val="FFFFFF">
              <a:alpha val="8235"/>
            </a:srgbClr>
          </a:solidFill>
          <a:ln/>
        </p:spPr>
      </p:sp>
      <p:sp>
        <p:nvSpPr>
          <p:cNvPr id="17" name="Shape 15"/>
          <p:cNvSpPr/>
          <p:nvPr/>
        </p:nvSpPr>
        <p:spPr>
          <a:xfrm>
            <a:off x="1460500" y="6223000"/>
            <a:ext cx="457200" cy="457200"/>
          </a:xfrm>
          <a:custGeom>
            <a:avLst/>
            <a:gdLst/>
            <a:ahLst/>
            <a:cxnLst/>
            <a:rect l="l" t="t" r="r" b="b"/>
            <a:pathLst>
              <a:path w="457200" h="457200">
                <a:moveTo>
                  <a:pt x="28575" y="28575"/>
                </a:moveTo>
                <a:cubicBezTo>
                  <a:pt x="44381" y="28575"/>
                  <a:pt x="57150" y="41344"/>
                  <a:pt x="57150" y="57150"/>
                </a:cubicBezTo>
                <a:lnTo>
                  <a:pt x="57150" y="357188"/>
                </a:lnTo>
                <a:cubicBezTo>
                  <a:pt x="57150" y="365046"/>
                  <a:pt x="63579" y="371475"/>
                  <a:pt x="71438" y="371475"/>
                </a:cubicBezTo>
                <a:lnTo>
                  <a:pt x="428625" y="371475"/>
                </a:lnTo>
                <a:cubicBezTo>
                  <a:pt x="444431" y="371475"/>
                  <a:pt x="457200" y="384244"/>
                  <a:pt x="457200" y="400050"/>
                </a:cubicBezTo>
                <a:cubicBezTo>
                  <a:pt x="457200" y="415856"/>
                  <a:pt x="444431" y="428625"/>
                  <a:pt x="428625" y="428625"/>
                </a:cubicBezTo>
                <a:lnTo>
                  <a:pt x="71438" y="428625"/>
                </a:lnTo>
                <a:cubicBezTo>
                  <a:pt x="31968" y="428625"/>
                  <a:pt x="0" y="396657"/>
                  <a:pt x="0" y="357188"/>
                </a:cubicBezTo>
                <a:lnTo>
                  <a:pt x="0" y="57150"/>
                </a:lnTo>
                <a:cubicBezTo>
                  <a:pt x="0" y="41344"/>
                  <a:pt x="12769" y="28575"/>
                  <a:pt x="28575" y="28575"/>
                </a:cubicBezTo>
                <a:close/>
                <a:moveTo>
                  <a:pt x="114300" y="85725"/>
                </a:moveTo>
                <a:cubicBezTo>
                  <a:pt x="114300" y="69919"/>
                  <a:pt x="127069" y="57150"/>
                  <a:pt x="142875" y="57150"/>
                </a:cubicBezTo>
                <a:lnTo>
                  <a:pt x="314325" y="57150"/>
                </a:lnTo>
                <a:cubicBezTo>
                  <a:pt x="330131" y="57150"/>
                  <a:pt x="342900" y="69919"/>
                  <a:pt x="342900" y="85725"/>
                </a:cubicBezTo>
                <a:cubicBezTo>
                  <a:pt x="342900" y="101531"/>
                  <a:pt x="330131" y="114300"/>
                  <a:pt x="314325" y="114300"/>
                </a:cubicBezTo>
                <a:lnTo>
                  <a:pt x="142875" y="114300"/>
                </a:lnTo>
                <a:cubicBezTo>
                  <a:pt x="127069" y="114300"/>
                  <a:pt x="114300" y="101531"/>
                  <a:pt x="114300" y="85725"/>
                </a:cubicBezTo>
                <a:close/>
                <a:moveTo>
                  <a:pt x="142875" y="157163"/>
                </a:moveTo>
                <a:lnTo>
                  <a:pt x="257175" y="157163"/>
                </a:lnTo>
                <a:cubicBezTo>
                  <a:pt x="272981" y="157163"/>
                  <a:pt x="285750" y="169932"/>
                  <a:pt x="285750" y="185738"/>
                </a:cubicBezTo>
                <a:cubicBezTo>
                  <a:pt x="285750" y="201543"/>
                  <a:pt x="272981" y="214313"/>
                  <a:pt x="257175" y="214313"/>
                </a:cubicBezTo>
                <a:lnTo>
                  <a:pt x="142875" y="214313"/>
                </a:lnTo>
                <a:cubicBezTo>
                  <a:pt x="127069" y="214313"/>
                  <a:pt x="114300" y="201543"/>
                  <a:pt x="114300" y="185738"/>
                </a:cubicBezTo>
                <a:cubicBezTo>
                  <a:pt x="114300" y="169932"/>
                  <a:pt x="127069" y="157163"/>
                  <a:pt x="142875" y="157163"/>
                </a:cubicBezTo>
                <a:close/>
                <a:moveTo>
                  <a:pt x="142875" y="257175"/>
                </a:moveTo>
                <a:lnTo>
                  <a:pt x="371475" y="257175"/>
                </a:lnTo>
                <a:cubicBezTo>
                  <a:pt x="387281" y="257175"/>
                  <a:pt x="400050" y="269944"/>
                  <a:pt x="400050" y="285750"/>
                </a:cubicBezTo>
                <a:cubicBezTo>
                  <a:pt x="400050" y="301556"/>
                  <a:pt x="387281" y="314325"/>
                  <a:pt x="371475" y="314325"/>
                </a:cubicBezTo>
                <a:lnTo>
                  <a:pt x="142875" y="314325"/>
                </a:lnTo>
                <a:cubicBezTo>
                  <a:pt x="127069" y="314325"/>
                  <a:pt x="114300" y="301556"/>
                  <a:pt x="114300" y="285750"/>
                </a:cubicBezTo>
                <a:cubicBezTo>
                  <a:pt x="114300" y="269944"/>
                  <a:pt x="127069" y="257175"/>
                  <a:pt x="142875" y="257175"/>
                </a:cubicBezTo>
                <a:close/>
              </a:path>
            </a:pathLst>
          </a:custGeom>
          <a:solidFill>
            <a:srgbClr val="C9A227"/>
          </a:solidFill>
          <a:ln/>
        </p:spPr>
      </p:sp>
      <p:sp>
        <p:nvSpPr>
          <p:cNvPr id="18" name="Text 16"/>
          <p:cNvSpPr/>
          <p:nvPr/>
        </p:nvSpPr>
        <p:spPr>
          <a:xfrm>
            <a:off x="2095500" y="6223000"/>
            <a:ext cx="3810000" cy="381000"/>
          </a:xfrm>
          <a:prstGeom prst="rect">
            <a:avLst/>
          </a:prstGeom>
          <a:noFill/>
          <a:ln/>
        </p:spPr>
        <p:txBody>
          <a:bodyPr wrap="none" lIns="0" tIns="0" rIns="0" bIns="0" rtlCol="0" anchor="ctr"/>
          <a:lstStyle/>
          <a:p>
            <a:pPr algn="l">
              <a:lnSpc>
                <a:spcPct val="120000"/>
              </a:lnSpc>
            </a:pPr>
            <a:r>
              <a:rPr lang="en-US" sz="2000" b="1" dirty="0">
                <a:solidFill>
                  <a:srgbClr val="FFFFFF"/>
                </a:solidFill>
                <a:latin typeface="Liter" pitchFamily="34" charset="0"/>
                <a:ea typeface="Liter" pitchFamily="34" charset="-122"/>
                <a:cs typeface="Liter" pitchFamily="34" charset="-120"/>
              </a:rPr>
              <a:t>Value at Risk (VaR)</a:t>
            </a:r>
            <a:endParaRPr lang="en-US" sz="2000" dirty="0"/>
          </a:p>
        </p:txBody>
      </p:sp>
      <p:sp>
        <p:nvSpPr>
          <p:cNvPr id="19" name="Text 17"/>
          <p:cNvSpPr/>
          <p:nvPr/>
        </p:nvSpPr>
        <p:spPr>
          <a:xfrm>
            <a:off x="1460500" y="6794500"/>
            <a:ext cx="6096000" cy="10160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Statistical measure estimating the maximum potential loss at a given confidence level. Helps investors understand worst-case scenarios for their portfolios.</a:t>
            </a:r>
            <a:endParaRPr lang="en-US" sz="1500" dirty="0"/>
          </a:p>
        </p:txBody>
      </p:sp>
      <p:sp>
        <p:nvSpPr>
          <p:cNvPr id="20" name="Shape 18"/>
          <p:cNvSpPr/>
          <p:nvPr/>
        </p:nvSpPr>
        <p:spPr>
          <a:xfrm>
            <a:off x="8382000" y="5969000"/>
            <a:ext cx="6731000" cy="2032000"/>
          </a:xfrm>
          <a:prstGeom prst="rect">
            <a:avLst/>
          </a:prstGeom>
          <a:solidFill>
            <a:srgbClr val="FFFFFF">
              <a:alpha val="8235"/>
            </a:srgbClr>
          </a:solidFill>
          <a:ln/>
        </p:spPr>
      </p:sp>
      <p:sp>
        <p:nvSpPr>
          <p:cNvPr id="21" name="Shape 19"/>
          <p:cNvSpPr/>
          <p:nvPr/>
        </p:nvSpPr>
        <p:spPr>
          <a:xfrm>
            <a:off x="8699500" y="6223000"/>
            <a:ext cx="457200" cy="457200"/>
          </a:xfrm>
          <a:custGeom>
            <a:avLst/>
            <a:gdLst/>
            <a:ahLst/>
            <a:cxnLst/>
            <a:rect l="l" t="t" r="r" b="b"/>
            <a:pathLst>
              <a:path w="457200" h="457200">
                <a:moveTo>
                  <a:pt x="209074" y="-24110"/>
                </a:moveTo>
                <a:lnTo>
                  <a:pt x="220821" y="8751"/>
                </a:lnTo>
                <a:lnTo>
                  <a:pt x="250031" y="21967"/>
                </a:lnTo>
                <a:cubicBezTo>
                  <a:pt x="252413" y="23039"/>
                  <a:pt x="254000" y="25718"/>
                  <a:pt x="254000" y="28575"/>
                </a:cubicBezTo>
                <a:cubicBezTo>
                  <a:pt x="254000" y="31433"/>
                  <a:pt x="252413" y="34111"/>
                  <a:pt x="250031" y="35183"/>
                </a:cubicBezTo>
                <a:lnTo>
                  <a:pt x="220821" y="48399"/>
                </a:lnTo>
                <a:lnTo>
                  <a:pt x="209074" y="81260"/>
                </a:lnTo>
                <a:cubicBezTo>
                  <a:pt x="208121" y="83939"/>
                  <a:pt x="205740" y="85725"/>
                  <a:pt x="203200" y="85725"/>
                </a:cubicBezTo>
                <a:cubicBezTo>
                  <a:pt x="200660" y="85725"/>
                  <a:pt x="198279" y="83939"/>
                  <a:pt x="197326" y="81260"/>
                </a:cubicBezTo>
                <a:lnTo>
                  <a:pt x="185579" y="48399"/>
                </a:lnTo>
                <a:lnTo>
                  <a:pt x="156369" y="35183"/>
                </a:lnTo>
                <a:cubicBezTo>
                  <a:pt x="153988" y="34111"/>
                  <a:pt x="152400" y="31432"/>
                  <a:pt x="152400" y="28575"/>
                </a:cubicBezTo>
                <a:cubicBezTo>
                  <a:pt x="152400" y="25718"/>
                  <a:pt x="153988" y="23039"/>
                  <a:pt x="156369" y="21967"/>
                </a:cubicBezTo>
                <a:lnTo>
                  <a:pt x="185579" y="8751"/>
                </a:lnTo>
                <a:lnTo>
                  <a:pt x="197326" y="-24110"/>
                </a:lnTo>
                <a:cubicBezTo>
                  <a:pt x="198279" y="-26789"/>
                  <a:pt x="200660" y="-28575"/>
                  <a:pt x="203200" y="-28575"/>
                </a:cubicBezTo>
                <a:cubicBezTo>
                  <a:pt x="205740" y="-28575"/>
                  <a:pt x="208121" y="-26789"/>
                  <a:pt x="209074" y="-24110"/>
                </a:cubicBezTo>
                <a:close/>
                <a:moveTo>
                  <a:pt x="87868" y="37237"/>
                </a:moveTo>
                <a:lnTo>
                  <a:pt x="104934" y="81975"/>
                </a:lnTo>
                <a:lnTo>
                  <a:pt x="144701" y="101173"/>
                </a:lnTo>
                <a:cubicBezTo>
                  <a:pt x="149384" y="103406"/>
                  <a:pt x="152400" y="108585"/>
                  <a:pt x="152400" y="114300"/>
                </a:cubicBezTo>
                <a:cubicBezTo>
                  <a:pt x="152400" y="120015"/>
                  <a:pt x="149384" y="125194"/>
                  <a:pt x="144701" y="127427"/>
                </a:cubicBezTo>
                <a:lnTo>
                  <a:pt x="104934" y="146625"/>
                </a:lnTo>
                <a:lnTo>
                  <a:pt x="87868" y="191363"/>
                </a:lnTo>
                <a:cubicBezTo>
                  <a:pt x="85884" y="196632"/>
                  <a:pt x="81280" y="200025"/>
                  <a:pt x="76200" y="200025"/>
                </a:cubicBezTo>
                <a:cubicBezTo>
                  <a:pt x="71120" y="200025"/>
                  <a:pt x="66516" y="196632"/>
                  <a:pt x="64532" y="191363"/>
                </a:cubicBezTo>
                <a:lnTo>
                  <a:pt x="47466" y="146625"/>
                </a:lnTo>
                <a:lnTo>
                  <a:pt x="7699" y="127427"/>
                </a:lnTo>
                <a:cubicBezTo>
                  <a:pt x="3016" y="125194"/>
                  <a:pt x="0" y="120015"/>
                  <a:pt x="0" y="114300"/>
                </a:cubicBezTo>
                <a:cubicBezTo>
                  <a:pt x="0" y="108585"/>
                  <a:pt x="3016" y="103406"/>
                  <a:pt x="7699" y="101173"/>
                </a:cubicBezTo>
                <a:lnTo>
                  <a:pt x="47466" y="81975"/>
                </a:lnTo>
                <a:lnTo>
                  <a:pt x="64532" y="37237"/>
                </a:lnTo>
                <a:cubicBezTo>
                  <a:pt x="66516" y="31968"/>
                  <a:pt x="71120" y="28575"/>
                  <a:pt x="76200" y="28575"/>
                </a:cubicBezTo>
                <a:cubicBezTo>
                  <a:pt x="81280" y="28575"/>
                  <a:pt x="85884" y="31968"/>
                  <a:pt x="87868" y="37237"/>
                </a:cubicBezTo>
                <a:close/>
                <a:moveTo>
                  <a:pt x="368300" y="271463"/>
                </a:moveTo>
                <a:cubicBezTo>
                  <a:pt x="373380" y="271463"/>
                  <a:pt x="377984" y="274856"/>
                  <a:pt x="379968" y="280124"/>
                </a:cubicBezTo>
                <a:lnTo>
                  <a:pt x="397034" y="324862"/>
                </a:lnTo>
                <a:lnTo>
                  <a:pt x="436801" y="344061"/>
                </a:lnTo>
                <a:cubicBezTo>
                  <a:pt x="441484" y="346293"/>
                  <a:pt x="444500" y="351473"/>
                  <a:pt x="444500" y="357188"/>
                </a:cubicBezTo>
                <a:cubicBezTo>
                  <a:pt x="444500" y="362903"/>
                  <a:pt x="441484" y="368082"/>
                  <a:pt x="436801" y="370314"/>
                </a:cubicBezTo>
                <a:lnTo>
                  <a:pt x="397034" y="389513"/>
                </a:lnTo>
                <a:lnTo>
                  <a:pt x="379968" y="434251"/>
                </a:lnTo>
                <a:cubicBezTo>
                  <a:pt x="377984" y="439519"/>
                  <a:pt x="373380" y="442913"/>
                  <a:pt x="368300" y="442913"/>
                </a:cubicBezTo>
                <a:cubicBezTo>
                  <a:pt x="363220" y="442913"/>
                  <a:pt x="358616" y="439519"/>
                  <a:pt x="356632" y="434251"/>
                </a:cubicBezTo>
                <a:lnTo>
                  <a:pt x="339566" y="389513"/>
                </a:lnTo>
                <a:lnTo>
                  <a:pt x="299799" y="370314"/>
                </a:lnTo>
                <a:cubicBezTo>
                  <a:pt x="295116" y="368082"/>
                  <a:pt x="292100" y="362903"/>
                  <a:pt x="292100" y="357188"/>
                </a:cubicBezTo>
                <a:cubicBezTo>
                  <a:pt x="292100" y="351473"/>
                  <a:pt x="295116" y="346293"/>
                  <a:pt x="299799" y="344061"/>
                </a:cubicBezTo>
                <a:lnTo>
                  <a:pt x="339566" y="324862"/>
                </a:lnTo>
                <a:lnTo>
                  <a:pt x="356632" y="280124"/>
                </a:lnTo>
                <a:cubicBezTo>
                  <a:pt x="358616" y="274856"/>
                  <a:pt x="363220" y="271463"/>
                  <a:pt x="368300" y="271463"/>
                </a:cubicBezTo>
                <a:close/>
                <a:moveTo>
                  <a:pt x="365125" y="0"/>
                </a:moveTo>
                <a:cubicBezTo>
                  <a:pt x="373856" y="0"/>
                  <a:pt x="382270" y="3929"/>
                  <a:pt x="388541" y="10894"/>
                </a:cubicBezTo>
                <a:lnTo>
                  <a:pt x="422116" y="48667"/>
                </a:lnTo>
                <a:cubicBezTo>
                  <a:pt x="428308" y="55721"/>
                  <a:pt x="431800" y="65187"/>
                  <a:pt x="431800" y="75009"/>
                </a:cubicBezTo>
                <a:cubicBezTo>
                  <a:pt x="431800" y="84832"/>
                  <a:pt x="428308" y="94298"/>
                  <a:pt x="422116" y="101352"/>
                </a:cubicBezTo>
                <a:lnTo>
                  <a:pt x="352107" y="180112"/>
                </a:lnTo>
                <a:lnTo>
                  <a:pt x="271701" y="89654"/>
                </a:lnTo>
                <a:lnTo>
                  <a:pt x="341709" y="10894"/>
                </a:lnTo>
                <a:cubicBezTo>
                  <a:pt x="347980" y="3929"/>
                  <a:pt x="356394" y="0"/>
                  <a:pt x="365125" y="0"/>
                </a:cubicBezTo>
                <a:close/>
                <a:moveTo>
                  <a:pt x="35084" y="355848"/>
                </a:moveTo>
                <a:lnTo>
                  <a:pt x="244793" y="119926"/>
                </a:lnTo>
                <a:lnTo>
                  <a:pt x="325199" y="210383"/>
                </a:lnTo>
                <a:lnTo>
                  <a:pt x="115491" y="446306"/>
                </a:lnTo>
                <a:cubicBezTo>
                  <a:pt x="109220" y="453271"/>
                  <a:pt x="100806" y="457200"/>
                  <a:pt x="92075" y="457200"/>
                </a:cubicBezTo>
                <a:cubicBezTo>
                  <a:pt x="83344" y="457200"/>
                  <a:pt x="74930" y="453271"/>
                  <a:pt x="68659" y="446306"/>
                </a:cubicBezTo>
                <a:lnTo>
                  <a:pt x="35084" y="408533"/>
                </a:lnTo>
                <a:cubicBezTo>
                  <a:pt x="28893" y="401479"/>
                  <a:pt x="25400" y="392013"/>
                  <a:pt x="25400" y="382191"/>
                </a:cubicBezTo>
                <a:cubicBezTo>
                  <a:pt x="25400" y="372368"/>
                  <a:pt x="28893" y="362903"/>
                  <a:pt x="35084" y="355848"/>
                </a:cubicBezTo>
                <a:close/>
              </a:path>
            </a:pathLst>
          </a:custGeom>
          <a:solidFill>
            <a:srgbClr val="C9A227"/>
          </a:solidFill>
          <a:ln/>
        </p:spPr>
      </p:sp>
      <p:sp>
        <p:nvSpPr>
          <p:cNvPr id="22" name="Text 20"/>
          <p:cNvSpPr/>
          <p:nvPr/>
        </p:nvSpPr>
        <p:spPr>
          <a:xfrm>
            <a:off x="9334500" y="6223000"/>
            <a:ext cx="4445000" cy="381000"/>
          </a:xfrm>
          <a:prstGeom prst="rect">
            <a:avLst/>
          </a:prstGeom>
          <a:noFill/>
          <a:ln/>
        </p:spPr>
        <p:txBody>
          <a:bodyPr wrap="none" lIns="0" tIns="0" rIns="0" bIns="0" rtlCol="0" anchor="ctr"/>
          <a:lstStyle/>
          <a:p>
            <a:pPr algn="l">
              <a:lnSpc>
                <a:spcPct val="120000"/>
              </a:lnSpc>
            </a:pPr>
            <a:r>
              <a:rPr lang="en-US" sz="2000" b="1" dirty="0">
                <a:solidFill>
                  <a:srgbClr val="FFFFFF"/>
                </a:solidFill>
                <a:latin typeface="Liter" pitchFamily="34" charset="0"/>
                <a:ea typeface="Liter" pitchFamily="34" charset="-122"/>
                <a:cs typeface="Liter" pitchFamily="34" charset="-120"/>
              </a:rPr>
              <a:t>Recommendation Engine</a:t>
            </a:r>
            <a:endParaRPr lang="en-US" sz="2000" dirty="0"/>
          </a:p>
        </p:txBody>
      </p:sp>
      <p:sp>
        <p:nvSpPr>
          <p:cNvPr id="23" name="Text 21"/>
          <p:cNvSpPr/>
          <p:nvPr/>
        </p:nvSpPr>
        <p:spPr>
          <a:xfrm>
            <a:off x="8699500" y="6794500"/>
            <a:ext cx="6096000" cy="10160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ML-powered fund suggestions based on investor risk appetite, investment horizon, and financial goals. Personalizes fund selection at scale.</a:t>
            </a:r>
            <a:endParaRPr lang="en-US" sz="1500" dirty="0"/>
          </a:p>
        </p:txBody>
      </p:sp>
      <p:sp>
        <p:nvSpPr>
          <p:cNvPr id="24" name="Text 22"/>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5A6577"/>
                </a:solidFill>
                <a:latin typeface="Quattrocento Sans" pitchFamily="34" charset="0"/>
                <a:ea typeface="Quattrocento Sans" pitchFamily="34" charset="-122"/>
                <a:cs typeface="Quattrocento Sans" pitchFamily="34" charset="-120"/>
              </a:rPr>
              <a:t>11</a:t>
            </a:r>
            <a:endParaRPr lang="en-US" sz="13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ttps://kimi-img.moonshot.cn/pub/slides/okc/vqx7h6c4cpjcu/mnt/agents/output/bluestock_mf/images/6_Abstract_glowing_financial_chart.png">    </p:cNvPr>
          <p:cNvPicPr>
            <a:picLocks noChangeAspect="1"/>
          </p:cNvPicPr>
          <p:nvPr/>
        </p:nvPicPr>
        <p:blipFill>
          <a:blip r:embed="rId1"/>
          <a:srcRect l="0" r="0" t="7779" b="7779"/>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A1128">
                  <a:alpha val="73000"/>
                </a:srgbClr>
              </a:gs>
              <a:gs pos="40000">
                <a:srgbClr val="0A1128">
                  <a:alpha val="87000"/>
                </a:srgbClr>
              </a:gs>
              <a:gs pos="100000">
                <a:srgbClr val="0A1128">
                  <a:alpha val="94000"/>
                </a:srgbClr>
              </a:gs>
            </a:gsLst>
            <a:lin ang="5400000" scaled="1"/>
          </a:gradFill>
          <a:ln w="12700">
            <a:solidFill>
              <a:srgbClr val="FFFFFF">
                <a:alpha val="0"/>
              </a:srgbClr>
            </a:solidFill>
            <a:prstDash val="solid"/>
          </a:ln>
        </p:spPr>
      </p:sp>
      <p:sp>
        <p:nvSpPr>
          <p:cNvPr id="4" name="Text 1"/>
          <p:cNvSpPr/>
          <p:nvPr/>
        </p:nvSpPr>
        <p:spPr>
          <a:xfrm>
            <a:off x="762000" y="635000"/>
            <a:ext cx="3810000" cy="317500"/>
          </a:xfrm>
          <a:prstGeom prst="rect">
            <a:avLst/>
          </a:prstGeom>
          <a:noFill/>
          <a:ln/>
        </p:spPr>
        <p:txBody>
          <a:bodyPr wrap="none" lIns="0" tIns="0" rIns="0" bIns="0" rtlCol="0" anchor="ctr"/>
          <a:lstStyle/>
          <a:p>
            <a:pPr algn="l">
              <a:lnSpc>
                <a:spcPct val="120000"/>
              </a:lnSpc>
            </a:pPr>
            <a:r>
              <a:rPr lang="en-US" sz="1400" spc="300" kern="0" dirty="0">
                <a:solidFill>
                  <a:srgbClr val="C9A227"/>
                </a:solidFill>
                <a:latin typeface="Liter" pitchFamily="34" charset="0"/>
                <a:ea typeface="Liter" pitchFamily="34" charset="-122"/>
                <a:cs typeface="Liter" pitchFamily="34" charset="-120"/>
              </a:rPr>
              <a:t>KEY FINDINGS</a:t>
            </a:r>
            <a:endParaRPr lang="en-US" sz="1400" dirty="0"/>
          </a:p>
        </p:txBody>
      </p:sp>
      <p:sp>
        <p:nvSpPr>
          <p:cNvPr id="5" name="Shape 2"/>
          <p:cNvSpPr/>
          <p:nvPr/>
        </p:nvSpPr>
        <p:spPr>
          <a:xfrm>
            <a:off x="762000" y="1016000"/>
            <a:ext cx="762000" cy="25400"/>
          </a:xfrm>
          <a:prstGeom prst="rect">
            <a:avLst/>
          </a:prstGeom>
          <a:solidFill>
            <a:srgbClr val="C9A227"/>
          </a:solidFill>
          <a:ln/>
        </p:spPr>
      </p:sp>
      <p:sp>
        <p:nvSpPr>
          <p:cNvPr id="6" name="Text 3"/>
          <p:cNvSpPr/>
          <p:nvPr/>
        </p:nvSpPr>
        <p:spPr>
          <a:xfrm>
            <a:off x="762000" y="1206500"/>
            <a:ext cx="7048500" cy="889000"/>
          </a:xfrm>
          <a:prstGeom prst="rect">
            <a:avLst/>
          </a:prstGeom>
          <a:noFill/>
          <a:ln/>
        </p:spPr>
        <p:txBody>
          <a:bodyPr wrap="square" lIns="0" tIns="0" rIns="0" bIns="0" rtlCol="0" anchor="ctr"/>
          <a:lstStyle/>
          <a:p>
            <a:pPr algn="l">
              <a:lnSpc>
                <a:spcPct val="150000"/>
              </a:lnSpc>
            </a:pPr>
            <a:r>
              <a:rPr lang="en-US" sz="1600" dirty="0">
                <a:solidFill>
                  <a:srgbClr val="C9A227"/>
                </a:solidFill>
                <a:latin typeface="Quattrocento Sans" pitchFamily="34" charset="0"/>
                <a:ea typeface="Quattrocento Sans" pitchFamily="34" charset="-122"/>
                <a:cs typeface="Quattrocento Sans" pitchFamily="34" charset="-120"/>
              </a:rPr>
              <a:t>▸</a:t>
            </a:r>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Higher returns often involve higher risk — risk-adjusted metrics are essential for evaluation</a:t>
            </a:r>
            <a:endParaRPr lang="en-US" sz="1600" dirty="0"/>
          </a:p>
        </p:txBody>
      </p:sp>
      <p:sp>
        <p:nvSpPr>
          <p:cNvPr id="7" name="Text 4"/>
          <p:cNvSpPr/>
          <p:nvPr/>
        </p:nvSpPr>
        <p:spPr>
          <a:xfrm>
            <a:off x="762000" y="2222500"/>
            <a:ext cx="7048500" cy="889000"/>
          </a:xfrm>
          <a:prstGeom prst="rect">
            <a:avLst/>
          </a:prstGeom>
          <a:noFill/>
          <a:ln/>
        </p:spPr>
        <p:txBody>
          <a:bodyPr wrap="square" lIns="0" tIns="0" rIns="0" bIns="0" rtlCol="0" anchor="ctr"/>
          <a:lstStyle/>
          <a:p>
            <a:pPr algn="l">
              <a:lnSpc>
                <a:spcPct val="150000"/>
              </a:lnSpc>
            </a:pPr>
            <a:r>
              <a:rPr lang="en-US" sz="1600" dirty="0">
                <a:solidFill>
                  <a:srgbClr val="C9A227"/>
                </a:solidFill>
                <a:latin typeface="Quattrocento Sans" pitchFamily="34" charset="0"/>
                <a:ea typeface="Quattrocento Sans" pitchFamily="34" charset="-122"/>
                <a:cs typeface="Quattrocento Sans" pitchFamily="34" charset="-120"/>
              </a:rPr>
              <a:t>▸</a:t>
            </a:r>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SIP inflows showed continuous growth, indicating strong retail investor participation</a:t>
            </a:r>
            <a:endParaRPr lang="en-US" sz="1600" dirty="0"/>
          </a:p>
        </p:txBody>
      </p:sp>
      <p:sp>
        <p:nvSpPr>
          <p:cNvPr id="8" name="Text 5"/>
          <p:cNvSpPr/>
          <p:nvPr/>
        </p:nvSpPr>
        <p:spPr>
          <a:xfrm>
            <a:off x="762000" y="3238500"/>
            <a:ext cx="7048500" cy="889000"/>
          </a:xfrm>
          <a:prstGeom prst="rect">
            <a:avLst/>
          </a:prstGeom>
          <a:noFill/>
          <a:ln/>
        </p:spPr>
        <p:txBody>
          <a:bodyPr wrap="square" lIns="0" tIns="0" rIns="0" bIns="0" rtlCol="0" anchor="ctr"/>
          <a:lstStyle/>
          <a:p>
            <a:pPr algn="l">
              <a:lnSpc>
                <a:spcPct val="150000"/>
              </a:lnSpc>
            </a:pPr>
            <a:r>
              <a:rPr lang="en-US" sz="1600" dirty="0">
                <a:solidFill>
                  <a:srgbClr val="C9A227"/>
                </a:solidFill>
                <a:latin typeface="Quattrocento Sans" pitchFamily="34" charset="0"/>
                <a:ea typeface="Quattrocento Sans" pitchFamily="34" charset="-122"/>
                <a:cs typeface="Quattrocento Sans" pitchFamily="34" charset="-120"/>
              </a:rPr>
              <a:t>▸</a:t>
            </a:r>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Top-ranked funds demonstrated strong risk-adjusted performance across market cycles</a:t>
            </a:r>
            <a:endParaRPr lang="en-US" sz="1600" dirty="0"/>
          </a:p>
        </p:txBody>
      </p:sp>
      <p:sp>
        <p:nvSpPr>
          <p:cNvPr id="9" name="Text 6"/>
          <p:cNvSpPr/>
          <p:nvPr/>
        </p:nvSpPr>
        <p:spPr>
          <a:xfrm>
            <a:off x="762000" y="4254500"/>
            <a:ext cx="7048500" cy="889000"/>
          </a:xfrm>
          <a:prstGeom prst="rect">
            <a:avLst/>
          </a:prstGeom>
          <a:noFill/>
          <a:ln/>
        </p:spPr>
        <p:txBody>
          <a:bodyPr wrap="square" lIns="0" tIns="0" rIns="0" bIns="0" rtlCol="0" anchor="ctr"/>
          <a:lstStyle/>
          <a:p>
            <a:pPr algn="l">
              <a:lnSpc>
                <a:spcPct val="150000"/>
              </a:lnSpc>
            </a:pPr>
            <a:r>
              <a:rPr lang="en-US" sz="1600" dirty="0">
                <a:solidFill>
                  <a:srgbClr val="C9A227"/>
                </a:solidFill>
                <a:latin typeface="Quattrocento Sans" pitchFamily="34" charset="0"/>
                <a:ea typeface="Quattrocento Sans" pitchFamily="34" charset="-122"/>
                <a:cs typeface="Quattrocento Sans" pitchFamily="34" charset="-120"/>
              </a:rPr>
              <a:t>▸</a:t>
            </a:r>
            <a:pPr algn="l">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Data analytics significantly improves investment decision-making speed and quality</a:t>
            </a:r>
            <a:endParaRPr lang="en-US" sz="1600" dirty="0"/>
          </a:p>
        </p:txBody>
      </p:sp>
      <p:sp>
        <p:nvSpPr>
          <p:cNvPr id="10" name="Text 7"/>
          <p:cNvSpPr/>
          <p:nvPr/>
        </p:nvSpPr>
        <p:spPr>
          <a:xfrm>
            <a:off x="8445500" y="635000"/>
            <a:ext cx="3810000" cy="317500"/>
          </a:xfrm>
          <a:prstGeom prst="rect">
            <a:avLst/>
          </a:prstGeom>
          <a:noFill/>
          <a:ln/>
        </p:spPr>
        <p:txBody>
          <a:bodyPr wrap="none" lIns="0" tIns="0" rIns="0" bIns="0" rtlCol="0" anchor="ctr"/>
          <a:lstStyle/>
          <a:p>
            <a:pPr algn="l">
              <a:lnSpc>
                <a:spcPct val="120000"/>
              </a:lnSpc>
            </a:pPr>
            <a:r>
              <a:rPr lang="en-US" sz="1400" spc="300" kern="0" dirty="0">
                <a:solidFill>
                  <a:srgbClr val="C9A227"/>
                </a:solidFill>
                <a:latin typeface="Liter" pitchFamily="34" charset="0"/>
                <a:ea typeface="Liter" pitchFamily="34" charset="-122"/>
                <a:cs typeface="Liter" pitchFamily="34" charset="-120"/>
              </a:rPr>
              <a:t>PROJECT OUTCOMES</a:t>
            </a:r>
            <a:endParaRPr lang="en-US" sz="1400" dirty="0"/>
          </a:p>
        </p:txBody>
      </p:sp>
      <p:sp>
        <p:nvSpPr>
          <p:cNvPr id="11" name="Shape 8"/>
          <p:cNvSpPr/>
          <p:nvPr/>
        </p:nvSpPr>
        <p:spPr>
          <a:xfrm>
            <a:off x="8445500" y="1016000"/>
            <a:ext cx="762000" cy="25400"/>
          </a:xfrm>
          <a:prstGeom prst="rect">
            <a:avLst/>
          </a:prstGeom>
          <a:solidFill>
            <a:srgbClr val="C9A227"/>
          </a:solidFill>
          <a:ln/>
        </p:spPr>
      </p:sp>
      <p:sp>
        <p:nvSpPr>
          <p:cNvPr id="12" name="Shape 9"/>
          <p:cNvSpPr/>
          <p:nvPr/>
        </p:nvSpPr>
        <p:spPr>
          <a:xfrm>
            <a:off x="8445500" y="1270000"/>
            <a:ext cx="3429000" cy="1016000"/>
          </a:xfrm>
          <a:prstGeom prst="rect">
            <a:avLst/>
          </a:prstGeom>
          <a:solidFill>
            <a:srgbClr val="FFFFFF">
              <a:alpha val="8235"/>
            </a:srgbClr>
          </a:solidFill>
          <a:ln/>
        </p:spPr>
      </p:sp>
      <p:sp>
        <p:nvSpPr>
          <p:cNvPr id="13" name="Shape 10"/>
          <p:cNvSpPr/>
          <p:nvPr/>
        </p:nvSpPr>
        <p:spPr>
          <a:xfrm>
            <a:off x="8699500" y="1524000"/>
            <a:ext cx="355600" cy="355600"/>
          </a:xfrm>
          <a:custGeom>
            <a:avLst/>
            <a:gdLst/>
            <a:ahLst/>
            <a:cxnLst/>
            <a:rect l="l" t="t" r="r" b="b"/>
            <a:pathLst>
              <a:path w="355600" h="355600">
                <a:moveTo>
                  <a:pt x="231084" y="146199"/>
                </a:moveTo>
                <a:cubicBezTo>
                  <a:pt x="237863" y="143907"/>
                  <a:pt x="244975" y="147935"/>
                  <a:pt x="248031" y="155783"/>
                </a:cubicBezTo>
                <a:lnTo>
                  <a:pt x="258366" y="181898"/>
                </a:lnTo>
                <a:cubicBezTo>
                  <a:pt x="264089" y="182870"/>
                  <a:pt x="269700" y="184815"/>
                  <a:pt x="274979" y="187523"/>
                </a:cubicBezTo>
                <a:lnTo>
                  <a:pt x="294426" y="171341"/>
                </a:lnTo>
                <a:cubicBezTo>
                  <a:pt x="300260" y="166479"/>
                  <a:pt x="307983" y="167451"/>
                  <a:pt x="312928" y="173633"/>
                </a:cubicBezTo>
                <a:lnTo>
                  <a:pt x="323596" y="186968"/>
                </a:lnTo>
                <a:cubicBezTo>
                  <a:pt x="328541" y="193149"/>
                  <a:pt x="329319" y="202873"/>
                  <a:pt x="325430" y="210096"/>
                </a:cubicBezTo>
                <a:lnTo>
                  <a:pt x="312483" y="234335"/>
                </a:lnTo>
                <a:cubicBezTo>
                  <a:pt x="313539" y="237599"/>
                  <a:pt x="314484" y="241002"/>
                  <a:pt x="315262" y="244544"/>
                </a:cubicBezTo>
                <a:cubicBezTo>
                  <a:pt x="316039" y="248087"/>
                  <a:pt x="316540" y="251559"/>
                  <a:pt x="316928" y="255101"/>
                </a:cubicBezTo>
                <a:lnTo>
                  <a:pt x="337876" y="268020"/>
                </a:lnTo>
                <a:cubicBezTo>
                  <a:pt x="344154" y="271909"/>
                  <a:pt x="347377" y="280799"/>
                  <a:pt x="345543" y="289203"/>
                </a:cubicBezTo>
                <a:lnTo>
                  <a:pt x="341654" y="307400"/>
                </a:lnTo>
                <a:cubicBezTo>
                  <a:pt x="339820" y="315803"/>
                  <a:pt x="333542" y="321499"/>
                  <a:pt x="326541" y="320943"/>
                </a:cubicBezTo>
                <a:lnTo>
                  <a:pt x="303205" y="319068"/>
                </a:lnTo>
                <a:cubicBezTo>
                  <a:pt x="299704" y="324693"/>
                  <a:pt x="295648" y="329902"/>
                  <a:pt x="291036" y="334347"/>
                </a:cubicBezTo>
                <a:lnTo>
                  <a:pt x="292537" y="363448"/>
                </a:lnTo>
                <a:cubicBezTo>
                  <a:pt x="292981" y="372199"/>
                  <a:pt x="288425" y="380117"/>
                  <a:pt x="281702" y="382339"/>
                </a:cubicBezTo>
                <a:lnTo>
                  <a:pt x="267145" y="387201"/>
                </a:lnTo>
                <a:cubicBezTo>
                  <a:pt x="260366" y="389493"/>
                  <a:pt x="253309" y="385465"/>
                  <a:pt x="250198" y="377617"/>
                </a:cubicBezTo>
                <a:lnTo>
                  <a:pt x="239863" y="351502"/>
                </a:lnTo>
                <a:cubicBezTo>
                  <a:pt x="234140" y="350530"/>
                  <a:pt x="228529" y="348585"/>
                  <a:pt x="223250" y="345877"/>
                </a:cubicBezTo>
                <a:lnTo>
                  <a:pt x="203803" y="362059"/>
                </a:lnTo>
                <a:cubicBezTo>
                  <a:pt x="197969" y="366921"/>
                  <a:pt x="190246" y="365949"/>
                  <a:pt x="185301" y="359767"/>
                </a:cubicBezTo>
                <a:lnTo>
                  <a:pt x="174633" y="346432"/>
                </a:lnTo>
                <a:cubicBezTo>
                  <a:pt x="169688" y="340251"/>
                  <a:pt x="168910" y="330597"/>
                  <a:pt x="172799" y="323304"/>
                </a:cubicBezTo>
                <a:lnTo>
                  <a:pt x="185745" y="298996"/>
                </a:lnTo>
                <a:cubicBezTo>
                  <a:pt x="184690" y="295731"/>
                  <a:pt x="183745" y="292328"/>
                  <a:pt x="182967" y="288786"/>
                </a:cubicBezTo>
                <a:cubicBezTo>
                  <a:pt x="182189" y="285244"/>
                  <a:pt x="181689" y="281702"/>
                  <a:pt x="181300" y="278229"/>
                </a:cubicBezTo>
                <a:lnTo>
                  <a:pt x="160353" y="265311"/>
                </a:lnTo>
                <a:cubicBezTo>
                  <a:pt x="154075" y="261422"/>
                  <a:pt x="150908" y="252532"/>
                  <a:pt x="152686" y="244128"/>
                </a:cubicBezTo>
                <a:lnTo>
                  <a:pt x="156575" y="225931"/>
                </a:lnTo>
                <a:cubicBezTo>
                  <a:pt x="158409" y="217527"/>
                  <a:pt x="164687" y="211832"/>
                  <a:pt x="171688" y="212388"/>
                </a:cubicBezTo>
                <a:lnTo>
                  <a:pt x="194969" y="214263"/>
                </a:lnTo>
                <a:cubicBezTo>
                  <a:pt x="198469" y="208637"/>
                  <a:pt x="202525" y="203428"/>
                  <a:pt x="207137" y="198983"/>
                </a:cubicBezTo>
                <a:lnTo>
                  <a:pt x="205637" y="169952"/>
                </a:lnTo>
                <a:cubicBezTo>
                  <a:pt x="205192" y="161201"/>
                  <a:pt x="209748" y="153283"/>
                  <a:pt x="216471" y="151061"/>
                </a:cubicBezTo>
                <a:lnTo>
                  <a:pt x="231029" y="146199"/>
                </a:lnTo>
                <a:close/>
                <a:moveTo>
                  <a:pt x="249142" y="236141"/>
                </a:moveTo>
                <a:cubicBezTo>
                  <a:pt x="235649" y="236160"/>
                  <a:pt x="224707" y="249869"/>
                  <a:pt x="224723" y="266735"/>
                </a:cubicBezTo>
                <a:cubicBezTo>
                  <a:pt x="224738" y="283601"/>
                  <a:pt x="235705" y="297279"/>
                  <a:pt x="249198" y="297259"/>
                </a:cubicBezTo>
                <a:cubicBezTo>
                  <a:pt x="262691" y="297240"/>
                  <a:pt x="273633" y="283531"/>
                  <a:pt x="273618" y="266665"/>
                </a:cubicBezTo>
                <a:cubicBezTo>
                  <a:pt x="273602" y="249799"/>
                  <a:pt x="262635" y="236121"/>
                  <a:pt x="249142" y="236141"/>
                </a:cubicBezTo>
                <a:close/>
                <a:moveTo>
                  <a:pt x="124960" y="-31601"/>
                </a:moveTo>
                <a:lnTo>
                  <a:pt x="139517" y="-26739"/>
                </a:lnTo>
                <a:cubicBezTo>
                  <a:pt x="146241" y="-24448"/>
                  <a:pt x="150797" y="-16530"/>
                  <a:pt x="150352" y="-7848"/>
                </a:cubicBezTo>
                <a:lnTo>
                  <a:pt x="148852" y="21183"/>
                </a:lnTo>
                <a:cubicBezTo>
                  <a:pt x="153464" y="25628"/>
                  <a:pt x="157520" y="30768"/>
                  <a:pt x="161020" y="36463"/>
                </a:cubicBezTo>
                <a:lnTo>
                  <a:pt x="184356" y="34588"/>
                </a:lnTo>
                <a:cubicBezTo>
                  <a:pt x="191302" y="34032"/>
                  <a:pt x="197636" y="39727"/>
                  <a:pt x="199469" y="48131"/>
                </a:cubicBezTo>
                <a:lnTo>
                  <a:pt x="203359" y="66328"/>
                </a:lnTo>
                <a:cubicBezTo>
                  <a:pt x="205137" y="74732"/>
                  <a:pt x="201970" y="83622"/>
                  <a:pt x="195691" y="87511"/>
                </a:cubicBezTo>
                <a:lnTo>
                  <a:pt x="174744" y="100429"/>
                </a:lnTo>
                <a:cubicBezTo>
                  <a:pt x="174355" y="103971"/>
                  <a:pt x="173800" y="107513"/>
                  <a:pt x="173077" y="110986"/>
                </a:cubicBezTo>
                <a:cubicBezTo>
                  <a:pt x="172355" y="114459"/>
                  <a:pt x="171355" y="117931"/>
                  <a:pt x="170299" y="121196"/>
                </a:cubicBezTo>
                <a:lnTo>
                  <a:pt x="183245" y="145504"/>
                </a:lnTo>
                <a:cubicBezTo>
                  <a:pt x="187135" y="152797"/>
                  <a:pt x="186357" y="162451"/>
                  <a:pt x="181412" y="168632"/>
                </a:cubicBezTo>
                <a:lnTo>
                  <a:pt x="170744" y="181967"/>
                </a:lnTo>
                <a:cubicBezTo>
                  <a:pt x="165799" y="188149"/>
                  <a:pt x="158075" y="189121"/>
                  <a:pt x="152241" y="184259"/>
                </a:cubicBezTo>
                <a:lnTo>
                  <a:pt x="132794" y="168077"/>
                </a:lnTo>
                <a:cubicBezTo>
                  <a:pt x="127516" y="170785"/>
                  <a:pt x="121904" y="172730"/>
                  <a:pt x="116181" y="173702"/>
                </a:cubicBezTo>
                <a:lnTo>
                  <a:pt x="105847" y="199817"/>
                </a:lnTo>
                <a:cubicBezTo>
                  <a:pt x="102735" y="207665"/>
                  <a:pt x="95623" y="211624"/>
                  <a:pt x="88900" y="209401"/>
                </a:cubicBezTo>
                <a:lnTo>
                  <a:pt x="74343" y="204539"/>
                </a:lnTo>
                <a:cubicBezTo>
                  <a:pt x="67564" y="202248"/>
                  <a:pt x="63063" y="194330"/>
                  <a:pt x="63508" y="185648"/>
                </a:cubicBezTo>
                <a:lnTo>
                  <a:pt x="65008" y="156547"/>
                </a:lnTo>
                <a:cubicBezTo>
                  <a:pt x="60396" y="152102"/>
                  <a:pt x="56340" y="146963"/>
                  <a:pt x="52840" y="141268"/>
                </a:cubicBezTo>
                <a:lnTo>
                  <a:pt x="29504" y="143143"/>
                </a:lnTo>
                <a:cubicBezTo>
                  <a:pt x="22558" y="143699"/>
                  <a:pt x="16224" y="138003"/>
                  <a:pt x="14391" y="129600"/>
                </a:cubicBezTo>
                <a:lnTo>
                  <a:pt x="10501" y="111403"/>
                </a:lnTo>
                <a:cubicBezTo>
                  <a:pt x="8723" y="102999"/>
                  <a:pt x="11890" y="94109"/>
                  <a:pt x="18169" y="90220"/>
                </a:cubicBezTo>
                <a:lnTo>
                  <a:pt x="39116" y="77301"/>
                </a:lnTo>
                <a:cubicBezTo>
                  <a:pt x="39505" y="73759"/>
                  <a:pt x="40061" y="70287"/>
                  <a:pt x="40783" y="66744"/>
                </a:cubicBezTo>
                <a:cubicBezTo>
                  <a:pt x="41561" y="63202"/>
                  <a:pt x="42450" y="59799"/>
                  <a:pt x="43561" y="56535"/>
                </a:cubicBezTo>
                <a:lnTo>
                  <a:pt x="30615" y="32296"/>
                </a:lnTo>
                <a:cubicBezTo>
                  <a:pt x="26726" y="25003"/>
                  <a:pt x="27503" y="15349"/>
                  <a:pt x="32448" y="9168"/>
                </a:cubicBezTo>
                <a:lnTo>
                  <a:pt x="43116" y="-4167"/>
                </a:lnTo>
                <a:cubicBezTo>
                  <a:pt x="48062" y="-10349"/>
                  <a:pt x="55785" y="-11321"/>
                  <a:pt x="61619" y="-6459"/>
                </a:cubicBezTo>
                <a:lnTo>
                  <a:pt x="81066" y="9723"/>
                </a:lnTo>
                <a:cubicBezTo>
                  <a:pt x="86344" y="7015"/>
                  <a:pt x="91956" y="5070"/>
                  <a:pt x="97679" y="4098"/>
                </a:cubicBezTo>
                <a:lnTo>
                  <a:pt x="108013" y="-22017"/>
                </a:lnTo>
                <a:cubicBezTo>
                  <a:pt x="111125" y="-29865"/>
                  <a:pt x="118181" y="-33824"/>
                  <a:pt x="124960" y="-31601"/>
                </a:cubicBezTo>
                <a:close/>
                <a:moveTo>
                  <a:pt x="106902" y="58341"/>
                </a:moveTo>
                <a:cubicBezTo>
                  <a:pt x="93409" y="58341"/>
                  <a:pt x="82455" y="72034"/>
                  <a:pt x="82455" y="88900"/>
                </a:cubicBezTo>
                <a:cubicBezTo>
                  <a:pt x="82455" y="105766"/>
                  <a:pt x="93409" y="119459"/>
                  <a:pt x="106902" y="119459"/>
                </a:cubicBezTo>
                <a:cubicBezTo>
                  <a:pt x="120395" y="119459"/>
                  <a:pt x="131350" y="105766"/>
                  <a:pt x="131350" y="88900"/>
                </a:cubicBezTo>
                <a:cubicBezTo>
                  <a:pt x="131350" y="72034"/>
                  <a:pt x="120395" y="58341"/>
                  <a:pt x="106902" y="58341"/>
                </a:cubicBezTo>
                <a:close/>
              </a:path>
            </a:pathLst>
          </a:custGeom>
          <a:solidFill>
            <a:srgbClr val="C9A227"/>
          </a:solidFill>
          <a:ln/>
        </p:spPr>
      </p:sp>
      <p:sp>
        <p:nvSpPr>
          <p:cNvPr id="14" name="Text 11"/>
          <p:cNvSpPr/>
          <p:nvPr/>
        </p:nvSpPr>
        <p:spPr>
          <a:xfrm>
            <a:off x="9169400" y="1270000"/>
            <a:ext cx="2540000" cy="1016000"/>
          </a:xfrm>
          <a:prstGeom prst="rect">
            <a:avLst/>
          </a:prstGeom>
          <a:noFill/>
          <a:ln/>
        </p:spPr>
        <p:txBody>
          <a:bodyPr wrap="square" lIns="0" tIns="0" rIns="0" bIns="0" rtlCol="0" anchor="ctr"/>
          <a:lstStyle/>
          <a:p>
            <a:pPr algn="l">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Automated</a:t>
            </a:r>
            <a:pPr algn="l">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 analytics workflow</a:t>
            </a:r>
            <a:endParaRPr lang="en-US" sz="1500" dirty="0"/>
          </a:p>
        </p:txBody>
      </p:sp>
      <p:sp>
        <p:nvSpPr>
          <p:cNvPr id="15" name="Shape 12"/>
          <p:cNvSpPr/>
          <p:nvPr/>
        </p:nvSpPr>
        <p:spPr>
          <a:xfrm>
            <a:off x="12065000" y="1270000"/>
            <a:ext cx="3429000" cy="1016000"/>
          </a:xfrm>
          <a:prstGeom prst="rect">
            <a:avLst/>
          </a:prstGeom>
          <a:solidFill>
            <a:srgbClr val="FFFFFF">
              <a:alpha val="8235"/>
            </a:srgbClr>
          </a:solidFill>
          <a:ln/>
        </p:spPr>
      </p:sp>
      <p:sp>
        <p:nvSpPr>
          <p:cNvPr id="16" name="Shape 13"/>
          <p:cNvSpPr/>
          <p:nvPr/>
        </p:nvSpPr>
        <p:spPr>
          <a:xfrm>
            <a:off x="12319000" y="1524000"/>
            <a:ext cx="355600" cy="355600"/>
          </a:xfrm>
          <a:custGeom>
            <a:avLst/>
            <a:gdLst/>
            <a:ahLst/>
            <a:cxnLst/>
            <a:rect l="l" t="t" r="r" b="b"/>
            <a:pathLst>
              <a:path w="355600" h="355600">
                <a:moveTo>
                  <a:pt x="316336" y="166688"/>
                </a:moveTo>
                <a:lnTo>
                  <a:pt x="207680" y="166688"/>
                </a:lnTo>
                <a:cubicBezTo>
                  <a:pt x="196753" y="166688"/>
                  <a:pt x="187925" y="156756"/>
                  <a:pt x="187925" y="144463"/>
                </a:cubicBezTo>
                <a:lnTo>
                  <a:pt x="187925" y="22225"/>
                </a:lnTo>
                <a:cubicBezTo>
                  <a:pt x="187925" y="9932"/>
                  <a:pt x="196815" y="-139"/>
                  <a:pt x="207619" y="1459"/>
                </a:cubicBezTo>
                <a:cubicBezTo>
                  <a:pt x="273676" y="11321"/>
                  <a:pt x="326028" y="70217"/>
                  <a:pt x="334795" y="144532"/>
                </a:cubicBezTo>
                <a:cubicBezTo>
                  <a:pt x="336215" y="156686"/>
                  <a:pt x="327263" y="166688"/>
                  <a:pt x="316336" y="166688"/>
                </a:cubicBezTo>
                <a:close/>
                <a:moveTo>
                  <a:pt x="137425" y="25837"/>
                </a:moveTo>
                <a:cubicBezTo>
                  <a:pt x="148599" y="23197"/>
                  <a:pt x="158291" y="33476"/>
                  <a:pt x="158291" y="46325"/>
                </a:cubicBezTo>
                <a:lnTo>
                  <a:pt x="158291" y="183356"/>
                </a:lnTo>
                <a:cubicBezTo>
                  <a:pt x="158291" y="187246"/>
                  <a:pt x="159526" y="190996"/>
                  <a:pt x="161687" y="193983"/>
                </a:cubicBezTo>
                <a:lnTo>
                  <a:pt x="243240" y="304691"/>
                </a:lnTo>
                <a:cubicBezTo>
                  <a:pt x="250463" y="314484"/>
                  <a:pt x="248920" y="329277"/>
                  <a:pt x="238980" y="335320"/>
                </a:cubicBezTo>
                <a:cubicBezTo>
                  <a:pt x="217928" y="348238"/>
                  <a:pt x="193790" y="355600"/>
                  <a:pt x="168169" y="355600"/>
                </a:cubicBezTo>
                <a:cubicBezTo>
                  <a:pt x="86369" y="355600"/>
                  <a:pt x="20003" y="280938"/>
                  <a:pt x="20003" y="188913"/>
                </a:cubicBezTo>
                <a:cubicBezTo>
                  <a:pt x="20003" y="108694"/>
                  <a:pt x="70317" y="41741"/>
                  <a:pt x="137425" y="25837"/>
                </a:cubicBezTo>
                <a:close/>
                <a:moveTo>
                  <a:pt x="294975" y="200025"/>
                </a:moveTo>
                <a:lnTo>
                  <a:pt x="334486" y="200025"/>
                </a:lnTo>
                <a:cubicBezTo>
                  <a:pt x="345907" y="200025"/>
                  <a:pt x="355044" y="210929"/>
                  <a:pt x="352698" y="223500"/>
                </a:cubicBezTo>
                <a:cubicBezTo>
                  <a:pt x="346401" y="257115"/>
                  <a:pt x="331091" y="286980"/>
                  <a:pt x="309730" y="309761"/>
                </a:cubicBezTo>
                <a:cubicBezTo>
                  <a:pt x="302137" y="317887"/>
                  <a:pt x="290221" y="316151"/>
                  <a:pt x="283554" y="307052"/>
                </a:cubicBezTo>
                <a:lnTo>
                  <a:pt x="231449" y="236418"/>
                </a:lnTo>
                <a:cubicBezTo>
                  <a:pt x="220768" y="221903"/>
                  <a:pt x="229967" y="200025"/>
                  <a:pt x="246636" y="200025"/>
                </a:cubicBezTo>
                <a:lnTo>
                  <a:pt x="294913" y="200025"/>
                </a:lnTo>
                <a:close/>
              </a:path>
            </a:pathLst>
          </a:custGeom>
          <a:solidFill>
            <a:srgbClr val="C9A227"/>
          </a:solidFill>
          <a:ln/>
        </p:spPr>
      </p:sp>
      <p:sp>
        <p:nvSpPr>
          <p:cNvPr id="17" name="Text 14"/>
          <p:cNvSpPr/>
          <p:nvPr/>
        </p:nvSpPr>
        <p:spPr>
          <a:xfrm>
            <a:off x="12788900" y="1270000"/>
            <a:ext cx="2540000" cy="1016000"/>
          </a:xfrm>
          <a:prstGeom prst="rect">
            <a:avLst/>
          </a:prstGeom>
          <a:noFill/>
          <a:ln/>
        </p:spPr>
        <p:txBody>
          <a:bodyPr wrap="square" lIns="0" tIns="0" rIns="0" bIns="0" rtlCol="0" anchor="ctr"/>
          <a:lstStyle/>
          <a:p>
            <a:pPr algn="l">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Interactive</a:t>
            </a:r>
            <a:pPr algn="l">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 Power BI dashboard</a:t>
            </a:r>
            <a:endParaRPr lang="en-US" sz="1500" dirty="0"/>
          </a:p>
        </p:txBody>
      </p:sp>
      <p:sp>
        <p:nvSpPr>
          <p:cNvPr id="18" name="Shape 15"/>
          <p:cNvSpPr/>
          <p:nvPr/>
        </p:nvSpPr>
        <p:spPr>
          <a:xfrm>
            <a:off x="8445500" y="2540000"/>
            <a:ext cx="3429000" cy="1016000"/>
          </a:xfrm>
          <a:prstGeom prst="rect">
            <a:avLst/>
          </a:prstGeom>
          <a:solidFill>
            <a:srgbClr val="FFFFFF">
              <a:alpha val="8235"/>
            </a:srgbClr>
          </a:solidFill>
          <a:ln/>
        </p:spPr>
      </p:sp>
      <p:sp>
        <p:nvSpPr>
          <p:cNvPr id="19" name="Shape 16"/>
          <p:cNvSpPr/>
          <p:nvPr/>
        </p:nvSpPr>
        <p:spPr>
          <a:xfrm>
            <a:off x="8699500" y="27940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C9A227"/>
          </a:solidFill>
          <a:ln/>
        </p:spPr>
      </p:sp>
      <p:sp>
        <p:nvSpPr>
          <p:cNvPr id="20" name="Text 17"/>
          <p:cNvSpPr/>
          <p:nvPr/>
        </p:nvSpPr>
        <p:spPr>
          <a:xfrm>
            <a:off x="9169400" y="2540000"/>
            <a:ext cx="2540000" cy="1016000"/>
          </a:xfrm>
          <a:prstGeom prst="rect">
            <a:avLst/>
          </a:prstGeom>
          <a:noFill/>
          <a:ln/>
        </p:spPr>
        <p:txBody>
          <a:bodyPr wrap="square" lIns="0" tIns="0" rIns="0" bIns="0" rtlCol="0" anchor="ctr"/>
          <a:lstStyle/>
          <a:p>
            <a:pPr algn="l">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Risk &amp; performance</a:t>
            </a:r>
            <a:pPr algn="l">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 evaluation</a:t>
            </a:r>
            <a:endParaRPr lang="en-US" sz="1500" dirty="0"/>
          </a:p>
        </p:txBody>
      </p:sp>
      <p:sp>
        <p:nvSpPr>
          <p:cNvPr id="21" name="Shape 18"/>
          <p:cNvSpPr/>
          <p:nvPr/>
        </p:nvSpPr>
        <p:spPr>
          <a:xfrm>
            <a:off x="12065000" y="2540000"/>
            <a:ext cx="3429000" cy="1016000"/>
          </a:xfrm>
          <a:prstGeom prst="rect">
            <a:avLst/>
          </a:prstGeom>
          <a:solidFill>
            <a:srgbClr val="FFFFFF">
              <a:alpha val="8235"/>
            </a:srgbClr>
          </a:solidFill>
          <a:ln/>
        </p:spPr>
      </p:sp>
      <p:sp>
        <p:nvSpPr>
          <p:cNvPr id="22" name="Shape 19"/>
          <p:cNvSpPr/>
          <p:nvPr/>
        </p:nvSpPr>
        <p:spPr>
          <a:xfrm>
            <a:off x="12319000" y="2794000"/>
            <a:ext cx="355600" cy="355600"/>
          </a:xfrm>
          <a:custGeom>
            <a:avLst/>
            <a:gdLst/>
            <a:ahLst/>
            <a:cxnLst/>
            <a:rect l="l" t="t" r="r" b="b"/>
            <a:pathLst>
              <a:path w="355600" h="355600">
                <a:moveTo>
                  <a:pt x="271238" y="266700"/>
                </a:moveTo>
                <a:cubicBezTo>
                  <a:pt x="277998" y="251212"/>
                  <a:pt x="291518" y="237182"/>
                  <a:pt x="306798" y="225098"/>
                </a:cubicBezTo>
                <a:cubicBezTo>
                  <a:pt x="337079" y="201206"/>
                  <a:pt x="355600" y="168910"/>
                  <a:pt x="355600" y="133350"/>
                </a:cubicBezTo>
                <a:cubicBezTo>
                  <a:pt x="355600" y="59730"/>
                  <a:pt x="275960" y="0"/>
                  <a:pt x="177800" y="0"/>
                </a:cubicBezTo>
                <a:cubicBezTo>
                  <a:pt x="79640" y="0"/>
                  <a:pt x="0" y="59730"/>
                  <a:pt x="0" y="133350"/>
                </a:cubicBezTo>
                <a:cubicBezTo>
                  <a:pt x="0" y="168910"/>
                  <a:pt x="18521" y="201206"/>
                  <a:pt x="48802" y="225098"/>
                </a:cubicBezTo>
                <a:cubicBezTo>
                  <a:pt x="64082" y="237182"/>
                  <a:pt x="77695" y="251212"/>
                  <a:pt x="84362" y="266700"/>
                </a:cubicBezTo>
                <a:lnTo>
                  <a:pt x="271145" y="266700"/>
                </a:lnTo>
                <a:close/>
                <a:moveTo>
                  <a:pt x="266700" y="300038"/>
                </a:moveTo>
                <a:lnTo>
                  <a:pt x="88900" y="300038"/>
                </a:lnTo>
                <a:lnTo>
                  <a:pt x="88900" y="311150"/>
                </a:lnTo>
                <a:cubicBezTo>
                  <a:pt x="88900" y="341848"/>
                  <a:pt x="122052" y="366712"/>
                  <a:pt x="162983" y="366712"/>
                </a:cubicBezTo>
                <a:lnTo>
                  <a:pt x="192617" y="366712"/>
                </a:lnTo>
                <a:cubicBezTo>
                  <a:pt x="233548" y="366712"/>
                  <a:pt x="266700" y="341848"/>
                  <a:pt x="266700" y="311150"/>
                </a:cubicBezTo>
                <a:lnTo>
                  <a:pt x="266700" y="300038"/>
                </a:lnTo>
                <a:close/>
                <a:moveTo>
                  <a:pt x="170392" y="77788"/>
                </a:moveTo>
                <a:cubicBezTo>
                  <a:pt x="133535" y="77788"/>
                  <a:pt x="103717" y="100151"/>
                  <a:pt x="103717" y="127794"/>
                </a:cubicBezTo>
                <a:cubicBezTo>
                  <a:pt x="103717" y="137031"/>
                  <a:pt x="93808" y="144463"/>
                  <a:pt x="81492" y="144463"/>
                </a:cubicBezTo>
                <a:cubicBezTo>
                  <a:pt x="69175" y="144463"/>
                  <a:pt x="59267" y="137031"/>
                  <a:pt x="59267" y="127794"/>
                </a:cubicBezTo>
                <a:cubicBezTo>
                  <a:pt x="59267" y="81746"/>
                  <a:pt x="108995" y="44450"/>
                  <a:pt x="170392" y="44450"/>
                </a:cubicBezTo>
                <a:cubicBezTo>
                  <a:pt x="182708" y="44450"/>
                  <a:pt x="192617" y="51881"/>
                  <a:pt x="192617" y="61119"/>
                </a:cubicBezTo>
                <a:cubicBezTo>
                  <a:pt x="192617" y="70356"/>
                  <a:pt x="182708" y="77788"/>
                  <a:pt x="170392" y="77788"/>
                </a:cubicBezTo>
                <a:close/>
              </a:path>
            </a:pathLst>
          </a:custGeom>
          <a:solidFill>
            <a:srgbClr val="C9A227"/>
          </a:solidFill>
          <a:ln/>
        </p:spPr>
      </p:sp>
      <p:sp>
        <p:nvSpPr>
          <p:cNvPr id="23" name="Text 20"/>
          <p:cNvSpPr/>
          <p:nvPr/>
        </p:nvSpPr>
        <p:spPr>
          <a:xfrm>
            <a:off x="12788900" y="2540000"/>
            <a:ext cx="2540000" cy="1016000"/>
          </a:xfrm>
          <a:prstGeom prst="rect">
            <a:avLst/>
          </a:prstGeom>
          <a:noFill/>
          <a:ln/>
        </p:spPr>
        <p:txBody>
          <a:bodyPr wrap="square" lIns="0" tIns="0" rIns="0" bIns="0" rtlCol="0" anchor="ctr"/>
          <a:lstStyle/>
          <a:p>
            <a:pPr algn="l">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Advanced</a:t>
            </a:r>
            <a:pPr algn="l">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 investment insights</a:t>
            </a:r>
            <a:endParaRPr lang="en-US" sz="1500" dirty="0"/>
          </a:p>
        </p:txBody>
      </p:sp>
      <p:sp>
        <p:nvSpPr>
          <p:cNvPr id="24" name="Shape 21"/>
          <p:cNvSpPr/>
          <p:nvPr/>
        </p:nvSpPr>
        <p:spPr>
          <a:xfrm>
            <a:off x="6858000" y="5334000"/>
            <a:ext cx="2540000" cy="25400"/>
          </a:xfrm>
          <a:prstGeom prst="rect">
            <a:avLst/>
          </a:prstGeom>
          <a:solidFill>
            <a:srgbClr val="C9A227"/>
          </a:solidFill>
          <a:ln/>
        </p:spPr>
      </p:sp>
      <p:sp>
        <p:nvSpPr>
          <p:cNvPr id="25" name="Text 22"/>
          <p:cNvSpPr/>
          <p:nvPr/>
        </p:nvSpPr>
        <p:spPr>
          <a:xfrm>
            <a:off x="3048000" y="5651500"/>
            <a:ext cx="10160000" cy="889000"/>
          </a:xfrm>
          <a:prstGeom prst="rect">
            <a:avLst/>
          </a:prstGeom>
          <a:noFill/>
          <a:ln/>
        </p:spPr>
        <p:txBody>
          <a:bodyPr wrap="none" lIns="0" tIns="0" rIns="0" bIns="0" rtlCol="0" anchor="ctr"/>
          <a:lstStyle/>
          <a:p>
            <a:pPr algn="ctr">
              <a:lnSpc>
                <a:spcPct val="120000"/>
              </a:lnSpc>
            </a:pPr>
            <a:r>
              <a:rPr lang="en-US" sz="4800" spc="600" kern="0" dirty="0">
                <a:solidFill>
                  <a:srgbClr val="FFFFFF"/>
                </a:solidFill>
                <a:latin typeface="Liter" pitchFamily="34" charset="0"/>
                <a:ea typeface="Liter" pitchFamily="34" charset="-122"/>
                <a:cs typeface="Liter" pitchFamily="34" charset="-120"/>
              </a:rPr>
              <a:t>THANK YOU</a:t>
            </a:r>
            <a:endParaRPr lang="en-US" sz="4800" dirty="0"/>
          </a:p>
        </p:txBody>
      </p:sp>
      <p:sp>
        <p:nvSpPr>
          <p:cNvPr id="26" name="Shape 23"/>
          <p:cNvSpPr/>
          <p:nvPr/>
        </p:nvSpPr>
        <p:spPr>
          <a:xfrm>
            <a:off x="7493000" y="6667500"/>
            <a:ext cx="1270000" cy="38100"/>
          </a:xfrm>
          <a:prstGeom prst="rect">
            <a:avLst/>
          </a:prstGeom>
          <a:solidFill>
            <a:srgbClr val="C9A227"/>
          </a:solidFill>
          <a:ln/>
        </p:spPr>
      </p:sp>
      <p:sp>
        <p:nvSpPr>
          <p:cNvPr id="27" name="Text 24"/>
          <p:cNvSpPr/>
          <p:nvPr/>
        </p:nvSpPr>
        <p:spPr>
          <a:xfrm>
            <a:off x="4318000" y="6921500"/>
            <a:ext cx="7620000" cy="4445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Quattrocento Sans" pitchFamily="34" charset="0"/>
                <a:ea typeface="Quattrocento Sans" pitchFamily="34" charset="-122"/>
                <a:cs typeface="Quattrocento Sans" pitchFamily="34" charset="-120"/>
              </a:rPr>
              <a:t>Questions &amp; Discussion</a:t>
            </a:r>
            <a:endParaRPr lang="en-US" sz="2000" dirty="0"/>
          </a:p>
        </p:txBody>
      </p:sp>
      <p:sp>
        <p:nvSpPr>
          <p:cNvPr id="28" name="Text 25"/>
          <p:cNvSpPr/>
          <p:nvPr/>
        </p:nvSpPr>
        <p:spPr>
          <a:xfrm>
            <a:off x="4953000" y="7620000"/>
            <a:ext cx="6350000" cy="762000"/>
          </a:xfrm>
          <a:prstGeom prst="rect">
            <a:avLst/>
          </a:prstGeom>
          <a:noFill/>
          <a:ln/>
        </p:spPr>
        <p:txBody>
          <a:bodyPr wrap="square" lIns="0" tIns="0" rIns="0" bIns="0" rtlCol="0" anchor="ctr"/>
          <a:lstStyle/>
          <a:p>
            <a:pPr algn="ct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Shivji Yadav  |  Data Analyst Intern  |  June 2026</a:t>
            </a:r>
            <a:endParaRPr lang="en-US" sz="1600" dirty="0"/>
          </a:p>
          <a:p>
            <a:pPr algn="ct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Bluestock Mutual Fund Analytics Platform</a:t>
            </a:r>
            <a:endParaRPr lang="en-US" sz="1600" dirty="0"/>
          </a:p>
        </p:txBody>
      </p:sp>
      <p:sp>
        <p:nvSpPr>
          <p:cNvPr id="29" name="Text 26"/>
          <p:cNvSpPr/>
          <p:nvPr/>
        </p:nvSpPr>
        <p:spPr>
          <a:xfrm>
            <a:off x="14986000" y="8699500"/>
            <a:ext cx="762000" cy="254000"/>
          </a:xfrm>
          <a:prstGeom prst="rect">
            <a:avLst/>
          </a:prstGeom>
          <a:noFill/>
          <a:ln/>
        </p:spPr>
        <p:txBody>
          <a:bodyPr wrap="none" lIns="0" tIns="0" rIns="0" bIns="0" rtlCol="0" anchor="ctr"/>
          <a:lstStyle/>
          <a:p>
            <a:pPr algn="r">
              <a:lnSpc>
                <a:spcPct val="120000"/>
              </a:lnSpc>
            </a:pPr>
            <a:r>
              <a:rPr lang="en-US" sz="1300" dirty="0">
                <a:solidFill>
                  <a:srgbClr val="FFFFFF"/>
                </a:solidFill>
                <a:latin typeface="Quattrocento Sans" pitchFamily="34" charset="0"/>
                <a:ea typeface="Quattrocento Sans" pitchFamily="34" charset="-122"/>
                <a:cs typeface="Quattrocento Sans" pitchFamily="34" charset="-120"/>
              </a:rPr>
              <a:t>12</a:t>
            </a:r>
            <a:endParaRPr lang="en-US" sz="130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Bluestock Mutual Fund Capstone Project</dc:title>
  <dc:subject>Bluestock Mutual Fund Capstone Project</dc:subject>
  <dc:creator>Kimi</dc:creator>
  <cp:lastModifiedBy>Kimi</cp:lastModifiedBy>
  <cp:revision>1</cp:revision>
  <dcterms:created xsi:type="dcterms:W3CDTF">2026-06-12T05:19:37Z</dcterms:created>
  <dcterms:modified xsi:type="dcterms:W3CDTF">2026-06-12T05:19:37Z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{"Label":"Bluestock Mutual Fund Capstone Project","ContentProducer":"001191110108MACG2KBH8F10000","ProduceID":"19eba387-1752-898a-8000-0000da940d6e","ReservedCode1":"","ContentPropagator":"001191110108MACG2KBH8F20000","PropagateID":"19eba36f-bf12-8264-8000-090c4b3eb202","ReservedCode2":""}</vt:lpwstr>
  </property>
</Properties>
</file>